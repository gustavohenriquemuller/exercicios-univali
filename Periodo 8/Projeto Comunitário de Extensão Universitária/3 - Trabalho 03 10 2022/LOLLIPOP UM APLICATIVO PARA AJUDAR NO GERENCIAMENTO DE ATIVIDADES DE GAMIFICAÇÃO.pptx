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9144000" cy="51435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7" roundtripDataSignature="AMtx7mifFpFXU2mzJjzey0pHW/q39e6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98B86-CF12-49B1-B64E-B3A9B4A259D2}">
  <a:tblStyle styleId="{43798B86-CF12-49B1-B64E-B3A9B4A259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24d8db2236_2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82e90c179_0_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1382e90c179_0_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5d655a9345_0_1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15d655a9345_0_1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5d655a9345_0_1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15d655a9345_0_1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5e1e31a7d1_0_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15e1e31a7d1_0_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d655a9345_0_3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15d655a9345_0_3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d655a9345_0_4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15d655a9345_0_4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d655a9345_0_4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15d655a9345_0_4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d655a9345_0_5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5d655a9345_0_5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5d655a9345_0_5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15d655a9345_0_5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5e1e31a7d1_0_1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15e1e31a7d1_0_1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5d655a9345_0_6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15d655a9345_0_6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5d655a9345_0_6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15d655a9345_0_6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bb1196c3d_2_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13bb1196c3d_2_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d655a9345_0_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15d655a9345_0_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5d655a9345_0_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15d655a9345_0_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rect b="b" l="l" r="r" t="t"/>
            <a:pathLst>
              <a:path extrusionOk="0" h="192404" w="691007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rect b="b" l="l" r="r" t="t"/>
            <a:pathLst>
              <a:path extrusionOk="0" h="3809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78383" y="1084383"/>
            <a:ext cx="8387100" cy="3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rect b="b" l="l" r="r" t="t"/>
            <a:pathLst>
              <a:path extrusionOk="0" h="386080" w="914400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rect b="b" l="l" r="r" t="t"/>
            <a:pathLst>
              <a:path extrusionOk="0" h="386079" w="40385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rect b="b" l="l" r="r" t="t"/>
            <a:pathLst>
              <a:path extrusionOk="0" h="386079" w="40259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rect b="b" l="l" r="r" t="t"/>
            <a:pathLst>
              <a:path extrusionOk="0" h="386079" w="8338184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rect b="b" l="l" r="r" t="t"/>
            <a:pathLst>
              <a:path extrusionOk="0" h="1012190" w="9740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743763"/>
            <a:ext cx="6946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24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LOLLIPOP</a:t>
            </a:r>
            <a:r>
              <a:rPr b="1" lang="pt-BR" sz="24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1" lang="pt-BR" sz="24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APLICATIVO PARA AJUDAR NO GERENCIAMENTO DE ATIVIDADES DE GAMIFICAÇÃO</a:t>
            </a:r>
            <a:endParaRPr b="1" i="0" sz="24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25" y="36672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82e90c179_0_8"/>
          <p:cNvSpPr txBox="1"/>
          <p:nvPr>
            <p:ph idx="1" type="body"/>
          </p:nvPr>
        </p:nvSpPr>
        <p:spPr>
          <a:xfrm>
            <a:off x="378375" y="1162775"/>
            <a:ext cx="8373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Gamificação no ambiente educacional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Dificuldades de implantação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Políticas públicas existentes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Iniciativas existentes em Santa Catarina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Projetos semelhantes na Univali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ODS envolvidas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g1382e90c179_0_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Sumário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g1382e90c179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4700" y="2886575"/>
            <a:ext cx="4376678" cy="17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5d655a9345_0_13"/>
          <p:cNvSpPr txBox="1"/>
          <p:nvPr>
            <p:ph idx="1" type="body"/>
          </p:nvPr>
        </p:nvSpPr>
        <p:spPr>
          <a:xfrm>
            <a:off x="378375" y="1162775"/>
            <a:ext cx="8373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No ensino tradicional, os alunos se mostram desinteressados nas aulas;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Gamificação como ferramenta de engajamento;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Falta de um processo metodológico para criação de atividades gamificadas;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Demanda por suporte tecnológico para planejar e gerenciar atividades gamificadas;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Desenvolvimento de um aplicativo para suprir esta demanda.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g15d655a9345_0_1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" name="Google Shape;75;g15d655a9345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087" y="3375900"/>
            <a:ext cx="3335825" cy="8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5d655a9345_0_19"/>
          <p:cNvSpPr txBox="1"/>
          <p:nvPr>
            <p:ph idx="1" type="body"/>
          </p:nvPr>
        </p:nvSpPr>
        <p:spPr>
          <a:xfrm>
            <a:off x="378375" y="1162775"/>
            <a:ext cx="8373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educação de qualidade ganha destaque no problemático cenário brasileiro;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Os ambientes de aprendizagem requerem dos estudantes brasileiros um certo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nível motivacional que não se mostra presente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(OLIVEIRA, 2020);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desmotivação dos alunos é consequência de diferentes fatores, tais como a didática do professor, a falta de confiança e até mesmo o bullying (FROTA, 2020);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engajamento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, segundo Raguze (2016), é uma das principais chaves para o sucesso motivacional de qualquer processo de aprendizagem;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Neste trabalho, destaca-se a gamificação como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mecanismo motivacional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de engajamento.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g15d655a9345_0_19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Gamificação no ambiente educacional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5e1e31a7d1_0_4"/>
          <p:cNvSpPr txBox="1"/>
          <p:nvPr>
            <p:ph idx="1" type="body"/>
          </p:nvPr>
        </p:nvSpPr>
        <p:spPr>
          <a:xfrm>
            <a:off x="378375" y="1162775"/>
            <a:ext cx="8373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Frota (2020) define o processo de gamificação como sendo a utilização de elementos de jogos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fora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do contexto de jogos;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É um método que pode ser utilizado para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aumentar o engajamento em ambientes de aprendizagem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Para Caponetto, Earp e Ott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(2014), o jogo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é uma atividade que utiliza 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desafio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como motivador. Um de seus elementos que contribui para o engajamento é 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feedback constante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15e1e31a7d1_0_4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Gamificação no ambiente educacional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d655a9345_0_35"/>
          <p:cNvSpPr txBox="1"/>
          <p:nvPr>
            <p:ph idx="1" type="body"/>
          </p:nvPr>
        </p:nvSpPr>
        <p:spPr>
          <a:xfrm>
            <a:off x="378375" y="1162775"/>
            <a:ext cx="8373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Sua implantação traz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diversos desafios de planejamento e controle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Falta de métodos adequados de planejamento de atividades gamificadas (TODA, SILVA e ISOTANI, 2022);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Toda, Silva e Isotani (2022) apontam como problema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carência de suporte tecnológico para planejar e gerenciar estas atividades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15d655a9345_0_3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Dificuldades de implantação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5d655a9345_0_40"/>
          <p:cNvSpPr txBox="1"/>
          <p:nvPr>
            <p:ph idx="1" type="body"/>
          </p:nvPr>
        </p:nvSpPr>
        <p:spPr>
          <a:xfrm>
            <a:off x="378375" y="1162775"/>
            <a:ext cx="8373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Projeto de Lei 1324/2021;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Institui a Política Nacional de Gamificação da Educação (PNGE);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Objetivo de estabelecer o uso de jogos eletrônicos como prática pedagógica docente e aprimorar o processo de aprendizagem na rede de educação básica brasileira.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15d655a9345_0_40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Políticas públicas existentes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d655a9345_0_45"/>
          <p:cNvSpPr txBox="1"/>
          <p:nvPr>
            <p:ph idx="1" type="body"/>
          </p:nvPr>
        </p:nvSpPr>
        <p:spPr>
          <a:xfrm>
            <a:off x="378375" y="1162775"/>
            <a:ext cx="8373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1ª Temporada de Gamificação em Cibersegurança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Realizado pelo TJSC entre 17 de janeiro a 8 de abril de 2022;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Objetivo de promover uma campanha institucional que visa fortalecer a educação e a cultura no tema da cibersegurança;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Contou com 1500 participantes e usou técnicas de gamificação.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15d655a9345_0_4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Iniciativas existentes em SC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5d655a9345_0_50"/>
          <p:cNvSpPr txBox="1"/>
          <p:nvPr>
            <p:ph idx="1" type="body"/>
          </p:nvPr>
        </p:nvSpPr>
        <p:spPr>
          <a:xfrm>
            <a:off x="378375" y="1162775"/>
            <a:ext cx="8373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Dois artigos relacionados a gamificação foram encontrados: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356B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Aplicação de Conceitos de Gamificação para Seleção de Alunos em Projetos de Pesquisa e Extensão</a:t>
            </a:r>
            <a:b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356B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Gamificação: Agente Motivador na Aprendizagem de Engenharia de Software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356B"/>
              </a:buClr>
              <a:buSzPts val="1600"/>
              <a:buAutoNum type="alphaLcPeriod"/>
            </a:pPr>
            <a:r>
              <a:rPr lang="pt-BR" sz="1600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80,70% dos alunos concordam que o design do ambiente criado é motivador;</a:t>
            </a:r>
            <a:endParaRPr sz="1600">
              <a:solidFill>
                <a:srgbClr val="0535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356B"/>
              </a:buClr>
              <a:buSzPts val="1600"/>
              <a:buAutoNum type="alphaLcPeriod"/>
            </a:pPr>
            <a:r>
              <a:rPr lang="pt-BR" sz="1600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71,93% dos alunos concordam que o conteúdo ensinado é relevante;</a:t>
            </a:r>
            <a:endParaRPr sz="1600">
              <a:solidFill>
                <a:srgbClr val="0535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356B"/>
              </a:buClr>
              <a:buSzPts val="1600"/>
              <a:buAutoNum type="alphaLcPeriod"/>
            </a:pPr>
            <a:r>
              <a:rPr lang="pt-BR" sz="1600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71,93% dos alunos afirmam que sentiram confiança daquilo que estavam aprendendo.</a:t>
            </a:r>
            <a:endParaRPr sz="1600">
              <a:solidFill>
                <a:srgbClr val="05356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15d655a9345_0_50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Projetos semelhantes da Univali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5d655a9345_0_55"/>
          <p:cNvSpPr txBox="1"/>
          <p:nvPr>
            <p:ph idx="1" type="body"/>
          </p:nvPr>
        </p:nvSpPr>
        <p:spPr>
          <a:xfrm>
            <a:off x="378375" y="1162775"/>
            <a:ext cx="8373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Entre os 17 objetivos propostos pel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Organização das Nações Unidas, este projeto busca contribuir para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educação de qualidade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Tem como objetivo assegurar a educação inclusiva, equitativa e de qualidade, além de promover oportunidades de aprendizagem ao longo da vida para todos (IPEA, 2022);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Uma das principais metas até 2030 é garantir que todos os jovens e uma substancial proporção dos adultos, homens e mulheres estejam alfabetizados e tenham adquirido o conhecimento básico necessário (IPEA, 2022). 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g15d655a9345_0_5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ODS: Educação de qualidade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e1e31a7d1_0_18"/>
          <p:cNvSpPr txBox="1"/>
          <p:nvPr>
            <p:ph idx="1" type="body"/>
          </p:nvPr>
        </p:nvSpPr>
        <p:spPr>
          <a:xfrm>
            <a:off x="378375" y="1162775"/>
            <a:ext cx="8373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acordo com Oliveira (2020), para que uma educação de qualidade seja alcançada, são necessários processos coerentes que sejam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planejados, gerenciados e executados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com foco em garantir a qualidade no sistema de ensino.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15e1e31a7d1_0_18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ODS: Educação de qualidade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5d655a9345_0_60"/>
          <p:cNvSpPr txBox="1"/>
          <p:nvPr>
            <p:ph idx="1" type="body"/>
          </p:nvPr>
        </p:nvSpPr>
        <p:spPr>
          <a:xfrm>
            <a:off x="378375" y="1162775"/>
            <a:ext cx="8373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Com esta pesquisa, pode-se concluir que: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gamificação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é um método válido para combater a falta de interesse;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Está sendo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bastante discutido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no meio acadêmico, pois enfrenta vários problemas;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Chama a atenção o fato de que 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planejamento e a gestão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destas atividades têm sido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empecilho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para os profissionais da área.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Existe uma carência de ferramentas tecnológicas que facilitem este trabalho, o que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justifica a demanda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que este trabalho se propõe a atender.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15d655a9345_0_60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Considerações finais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d655a9345_0_6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Tabela de participação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35" name="Google Shape;135;g15d655a9345_0_65"/>
          <p:cNvGraphicFramePr/>
          <p:nvPr/>
        </p:nvGraphicFramePr>
        <p:xfrm>
          <a:off x="245975" y="136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{43798B86-CF12-49B1-B64E-B3A9B4A259D2}</a:tableStyleId>
              </a:tblPr>
              <a:tblGrid>
                <a:gridCol w="1366100"/>
                <a:gridCol w="1214325"/>
                <a:gridCol w="1214325"/>
                <a:gridCol w="1214325"/>
                <a:gridCol w="1214325"/>
                <a:gridCol w="1214325"/>
                <a:gridCol w="121432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Participantes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Escolha do tema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Elaboração temática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Elaboração da pesquisa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Análise de dados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Referências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Estruturação do trabalho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Gustavo Henrique Stahl Müller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Paulo Henrique Rohling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X</a:t>
                      </a:r>
                      <a:endParaRPr sz="12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bb1196c3d_2_4"/>
          <p:cNvSpPr txBox="1"/>
          <p:nvPr>
            <p:ph idx="1" type="body"/>
          </p:nvPr>
        </p:nvSpPr>
        <p:spPr>
          <a:xfrm>
            <a:off x="313125" y="1084375"/>
            <a:ext cx="87378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CÂMARA DOS DEPUTADOS.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 1324/2021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&lt;https://www.camara.leg.br/proposicoesWeb/prop_mostrarintegra;jsessionid=node0pscapbos1jyt13en6vihoz7sb4558666.node0?codteor=2014400&amp;filename=Avulso+-PL+1324/2021&gt;.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CAPONETTO, I.; EARP, J.; OTT, M.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Gamification and Education: A Literature Review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1. ed. Berlim: University of Applied Sciences, 2014.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FIGUEIREDO, V.; MOURA, F. L.; BARROS, A. F. V.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 de Conceitos de Gamificação para Seleção de Alunos em Projetos de Pesquisa e Extensão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&lt;https://periodicos.univali.br/index.php/acotb/article/view/14333&gt;.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FROTA, G. L. L.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Gamificação: análise do uso do kahoot como alternativa a avaliação da aprendizagem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2020. Disponível em: &lt;https://cietenped.ufscar.br/submissao/index.php/2020/article/download/1767/1402&gt;. Acesso em 01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IPEA.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de Desenvolvimento Sustentável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&lt;https://www.ipea.gov.br/ods/ods4.html&gt;. Acesso em 02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13bb1196c3d_2_4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5d655a9345_0_1"/>
          <p:cNvSpPr txBox="1"/>
          <p:nvPr>
            <p:ph idx="1" type="body"/>
          </p:nvPr>
        </p:nvSpPr>
        <p:spPr>
          <a:xfrm>
            <a:off x="313125" y="1084375"/>
            <a:ext cx="87378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OLIVEIRA, J. F.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 4 e Agenda 2030: avanços e entraves na promoção da educação de qualidade na América Latina e no Brasil.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2020. 51 f. Trabalho de Conclusão de Curso (Bacharelado em Relações Internacionais) - Universidade de Brasília, Brasília, 2020.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POFFO, M.; THIRY, M.; FERNANDES, A.; HEEMANN, C.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Gamificação: Agente Motivador na Aprendizagem de Engenharia de Software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&lt;https://periodicos.univali.br/index.php/acotb/article/view/10572&gt;.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RAGUZE, T.; SILVA, R. P.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 aplicada a ambientes de aprendizagem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Gamepad, Novo Hamburgo, 10 jun. 2016.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TODA, A. M.; SILVA, A. P.; ISOTANI, S.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Desafios para o Planejamento e Implantação da Gamificação no Contexto Educacional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&lt;https://seer.ufrgs.br/renote/article/viewFile/79263/46157&gt;.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TRIBUNAL DE JUSTIÇA DE SANTA CATARINA.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 em cibersegurança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&lt;https://www.tjsc.jus.br/web/tecnologia-da-informacao/gamificacao-em-ciberseguranca&gt;.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15d655a9345_0_1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d655a9345_0_6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15d655a9345_0_6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5d655a9345_0_6"/>
          <p:cNvSpPr txBox="1"/>
          <p:nvPr/>
        </p:nvSpPr>
        <p:spPr>
          <a:xfrm>
            <a:off x="1080516" y="1743763"/>
            <a:ext cx="6946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24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LOLLIPOP: UM APLICATIVO PARA AJUDAR NO GERENCIAMENTO DE ATIVIDADES DE GAMIFICAÇÃO</a:t>
            </a:r>
            <a:endParaRPr b="1" i="0" sz="24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g15d655a9345_0_6"/>
          <p:cNvSpPr txBox="1"/>
          <p:nvPr/>
        </p:nvSpPr>
        <p:spPr>
          <a:xfrm>
            <a:off x="1080525" y="36672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2019-04-07T19:13:44Z</dcterms:created>
  <dc:creator>Paulo Henrique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
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9144000" cy="5143500"/>
  <p:embeddedFontLst>
    <p:embeddedFont>
      <p:font typeface="Helvetica Neu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gR4YYXsHDV7nCsaBl7czHBphRj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992CC2-7AEE-456E-956D-ABC5B26A29E3}">
  <a:tblStyle styleId="{99992CC2-7AEE-456E-956D-ABC5B26A29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6846045-8CE5-4810-A317-312935AF3A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.fntdata"/><Relationship Id="rId25" Type="http://schemas.openxmlformats.org/officeDocument/2006/relationships/font" Target="fonts/HelveticaNeue-regular.fntdata"/><Relationship Id="rId28" Type="http://schemas.openxmlformats.org/officeDocument/2006/relationships/font" Target="fonts/HelveticaNeue-boldItalic.fntdata"/><Relationship Id="rId27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82e90c179_0_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1382e90c179_0_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e56e5eae0_1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4e56e5eae0_1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7a181370aa_0_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17a181370aa_0_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7a181370aa_0_4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17a181370aa_0_4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7a181370aa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17a181370aa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7a181370aa_0_5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17a181370aa_0_5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7a181370aa_0_5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7a181370aa_0_5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7a181370aa_0_1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7a181370aa_0_1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7a181370aa_0_2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17a181370aa_0_2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7a181370aa_0_2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17a181370aa_0_2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7a181370aa_0_3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17a181370aa_0_3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7a181370aa_0_7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17a181370aa_0_7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7a181370aa_0_3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17a181370aa_0_3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3bb1196c3d_2_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13bb1196c3d_2_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5d655a9345_0_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15d655a9345_0_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73607b27e8_0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173607b27e8_0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d655a9345_0_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15d655a9345_0_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100" cy="31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743763"/>
            <a:ext cx="694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24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LOLLIPOP: UM APLICATIVO PARA AJUDAR NO GERENCIAMENTO DE ATIVIDADES DE GAMIFICAÇÃO</a:t>
            </a:r>
            <a:endParaRPr b="1" i="0" sz="24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25" y="36672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82e90c179_0_8"/>
          <p:cNvSpPr txBox="1"/>
          <p:nvPr>
            <p:ph idx="1" type="body"/>
          </p:nvPr>
        </p:nvSpPr>
        <p:spPr>
          <a:xfrm>
            <a:off x="378375" y="1162775"/>
            <a:ext cx="83730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Diagnóstico da realidade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Público beneficiado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Justificativa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Indicadores de avaliação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Cronograma de execução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Orçamento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Protótipo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g1382e90c179_0_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g1382e90c179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4700" y="2886575"/>
            <a:ext cx="4376678" cy="17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4e56e5eae0_1_0"/>
          <p:cNvSpPr txBox="1"/>
          <p:nvPr>
            <p:ph idx="1" type="body"/>
          </p:nvPr>
        </p:nvSpPr>
        <p:spPr>
          <a:xfrm>
            <a:off x="378375" y="1162775"/>
            <a:ext cx="8373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Uma plataforma que tem como objetivo auxiliar os profissionais de educação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gerenciar atividades gamificadas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através de um processo simplificado e centralizado.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Realizar 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controle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atividades de uma instituição de ensino;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Gerar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métricas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aproveitamento e participação;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Possibilitar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tratamento individual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de alunos com mais dificuldades.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g14e56e5eae0_1_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Introdução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" name="Google Shape;75;g14e56e5eae0_1_0"/>
          <p:cNvPicPr preferRelativeResize="0"/>
          <p:nvPr/>
        </p:nvPicPr>
        <p:blipFill rotWithShape="1">
          <a:blip r:embed="rId3">
            <a:alphaModFix/>
          </a:blip>
          <a:srcRect b="36992" l="16356" r="14687" t="37784"/>
          <a:stretch/>
        </p:blipFill>
        <p:spPr>
          <a:xfrm>
            <a:off x="2734363" y="3266675"/>
            <a:ext cx="3661025" cy="94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7a181370aa_0_5"/>
          <p:cNvSpPr txBox="1"/>
          <p:nvPr>
            <p:ph idx="1" type="body"/>
          </p:nvPr>
        </p:nvSpPr>
        <p:spPr>
          <a:xfrm>
            <a:off x="378375" y="1162775"/>
            <a:ext cx="8373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educação de qualidade ganha destaque no problemático cenário brasileiro;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Os ambientes de aprendizagem requerem dos estudantes brasileiros um certo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nível motivacional que não se mostra presente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(OLIVEIRA, 2020);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desmotivação dos alunos é consequência de diferentes fatores, tais como a didática do professor, a falta de confiança e até mesmo o bullying (FROTA, 2020);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gamificação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é um método que pode ser utilizado para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aumentar o engajamento em ambientes de aprendizagem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g17a181370aa_0_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Diagnóstico da realidade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7a181370aa_0_46"/>
          <p:cNvSpPr txBox="1"/>
          <p:nvPr>
            <p:ph idx="1" type="body"/>
          </p:nvPr>
        </p:nvSpPr>
        <p:spPr>
          <a:xfrm>
            <a:off x="378375" y="1162775"/>
            <a:ext cx="8373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Sua implantação traz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diversos desafios de planejamento e controle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Falta de métodos adequados de planejamento de atividades gamificadas (TODA, SILVA e ISOTANI, 2022);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Toda, Silva e Isotani (2022) apontam como problema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carência de suporte tecnológico para planejar e gerenciar estas atividades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g17a181370aa_0_46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Diagnóstico da realidade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7a181370aa_0_0"/>
          <p:cNvSpPr txBox="1"/>
          <p:nvPr>
            <p:ph idx="1" type="body"/>
          </p:nvPr>
        </p:nvSpPr>
        <p:spPr>
          <a:xfrm>
            <a:off x="378375" y="1162775"/>
            <a:ext cx="8373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proposta deste trabalho é de inicialmente atuar sobre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os anos iniciais do ensino fundamental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, onde estão presentes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crianças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de 7 a 11 anos de idade.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Segundo Knüppe (2006), é um grande desafio fazer com que as crianças nesta faixa etária compreendam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importância da educação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, uma vez que estas estão rodeadas de tecnologias e brinquedos que se tornam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muito mais atrativos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do que o aprendizado.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17a181370aa_0_0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Público beneficiado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7a181370aa_0_51"/>
          <p:cNvSpPr txBox="1"/>
          <p:nvPr>
            <p:ph idx="1" type="body"/>
          </p:nvPr>
        </p:nvSpPr>
        <p:spPr>
          <a:xfrm>
            <a:off x="378375" y="1162775"/>
            <a:ext cx="8373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gamificação é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método válido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para combater a falta de interesse e que está sendo bastante discutido no meio acadêmico;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planejamento e a gestão de atividades gamificadas têm sido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empecilho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para os profissionais da área;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 falta de interesse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ganha destaque no público infantil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, os anos iniciais do ensino fundamental, onde as metodologias de ensino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não conseguem competir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com os atrativos de entretenimento que se fazem presentes na vida das crianças.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g17a181370aa_0_51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Justificativa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7a181370aa_0_57"/>
          <p:cNvSpPr txBox="1"/>
          <p:nvPr>
            <p:ph idx="1" type="body"/>
          </p:nvPr>
        </p:nvSpPr>
        <p:spPr>
          <a:xfrm>
            <a:off x="378375" y="1162775"/>
            <a:ext cx="8373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xiste uma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carência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de ferramentas tecnológicas que facilitem este trabalho;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Espera-se que esta aplicação de gerenciamento ajude os profissionais de educação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controlar melhor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a execução de cada atividade, de forma que seja possível garantir um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tratamento individual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 para cada aluno através da medição de participação e desempenho.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17a181370aa_0_57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Justificativa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7a181370aa_0_15"/>
          <p:cNvSpPr txBox="1"/>
          <p:nvPr>
            <p:ph idx="1" type="body"/>
          </p:nvPr>
        </p:nvSpPr>
        <p:spPr>
          <a:xfrm>
            <a:off x="378375" y="1547063"/>
            <a:ext cx="8373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Char char="•"/>
            </a:pPr>
            <a:r>
              <a:rPr lang="pt-BR" sz="1400">
                <a:latin typeface="Helvetica Neue"/>
                <a:ea typeface="Helvetica Neue"/>
                <a:cs typeface="Helvetica Neue"/>
                <a:sym typeface="Helvetica Neue"/>
              </a:rPr>
              <a:t>Criar uma plataforma de gerenciamento de atividades que auxilie os profissionais de educação a organizar tarefas gamificadas.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17a181370aa_0_1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g17a181370aa_0_15"/>
          <p:cNvSpPr txBox="1"/>
          <p:nvPr>
            <p:ph idx="1" type="body"/>
          </p:nvPr>
        </p:nvSpPr>
        <p:spPr>
          <a:xfrm>
            <a:off x="385500" y="1198863"/>
            <a:ext cx="837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OBJETIVO GERAL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17a181370aa_0_15"/>
          <p:cNvSpPr txBox="1"/>
          <p:nvPr>
            <p:ph idx="1" type="body"/>
          </p:nvPr>
        </p:nvSpPr>
        <p:spPr>
          <a:xfrm>
            <a:off x="385500" y="2740200"/>
            <a:ext cx="83730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Char char="•"/>
            </a:pPr>
            <a:r>
              <a:rPr lang="pt-BR" sz="1400">
                <a:latin typeface="Helvetica Neue"/>
                <a:ea typeface="Helvetica Neue"/>
                <a:cs typeface="Helvetica Neue"/>
                <a:sym typeface="Helvetica Neue"/>
              </a:rPr>
              <a:t>Realizar o levantamento de requisitos funcionais e não-funcionais para especificar as necessidades dos usuários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Char char="•"/>
            </a:pPr>
            <a:r>
              <a:rPr lang="pt-BR" sz="1400">
                <a:latin typeface="Helvetica Neue"/>
                <a:ea typeface="Helvetica Neue"/>
                <a:cs typeface="Helvetica Neue"/>
                <a:sym typeface="Helvetica Neue"/>
              </a:rPr>
              <a:t>Projetar um aplicativo móvel de acesso à plataforma para que os profissionais de educação utilizem;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Char char="•"/>
            </a:pPr>
            <a:r>
              <a:rPr lang="pt-BR" sz="1400">
                <a:latin typeface="Helvetica Neue"/>
                <a:ea typeface="Helvetica Neue"/>
                <a:cs typeface="Helvetica Neue"/>
                <a:sym typeface="Helvetica Neue"/>
              </a:rPr>
              <a:t>Criar um protótipo de alto nível da interface da plataforma e do aplicativo para realizar testes de usabilidade.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g17a181370aa_0_15"/>
          <p:cNvSpPr txBox="1"/>
          <p:nvPr>
            <p:ph idx="1" type="body"/>
          </p:nvPr>
        </p:nvSpPr>
        <p:spPr>
          <a:xfrm>
            <a:off x="385500" y="2351950"/>
            <a:ext cx="837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OBJETIVOS ESPECÍFICOS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7a181370aa_0_20"/>
          <p:cNvSpPr txBox="1"/>
          <p:nvPr>
            <p:ph idx="1" type="body"/>
          </p:nvPr>
        </p:nvSpPr>
        <p:spPr>
          <a:xfrm>
            <a:off x="378375" y="1162775"/>
            <a:ext cx="83730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processo de desenvolvimento deste projeto será dividido em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três grandes etapas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conceitualização, desenvolvimento e testes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Conceitualização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serão realizados o levantamento de requisitos da aplicação e a criação e revisão do protótipo de interface.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Desenvolvimento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serão realizados a modelagem do software, a criação da infraestrutura em nuvem e a codificação da aplicação. 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Testes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: o conjunto de atividades passará por uma etapa de testes funcionais e de usabilidade.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g17a181370aa_0_20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Metodologia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7a181370aa_0_25"/>
          <p:cNvSpPr txBox="1"/>
          <p:nvPr>
            <p:ph idx="1" type="body"/>
          </p:nvPr>
        </p:nvSpPr>
        <p:spPr>
          <a:xfrm>
            <a:off x="378375" y="1162775"/>
            <a:ext cx="83730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sucesso deste projeto de extensão pode ser medido através do correto atingimento dos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objetivos expostos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O terceiro objetivo específico indica que um protótipo será utilizado para avaliar não somente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viabilidade da aplicação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, mas também a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qualidade da interação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humano-computador;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Char char="•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As etapas de testes também serão utilizadas para realizar a avaliação do desenvolvimento da aplicação.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g17a181370aa_0_2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Indicadores de avaliação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7a181370aa_0_30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Cronograma de execução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32" name="Google Shape;132;g17a181370aa_0_30"/>
          <p:cNvGraphicFramePr/>
          <p:nvPr/>
        </p:nvGraphicFramePr>
        <p:xfrm>
          <a:off x="313125" y="11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{99992CC2-7AEE-456E-956D-ABC5B26A29E3}</a:tableStyleId>
              </a:tblPr>
              <a:tblGrid>
                <a:gridCol w="3211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  <a:gridCol w="3956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/>
                        <a:t>Atividade</a:t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Nov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Dez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Jan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Fev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Mar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Abr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Mai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Jun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Jul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Ago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Set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Out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Nov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Desenvolvimento do documento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Levantamento de requisitos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Criação e revisão de protótipo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Testes de usabilidade do protótipo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Modelagem do software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Criação da infraestrutura em nuvem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Codificação da aplicação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Testes de usabilidade da aplicação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Criação de planos e licenciamentos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/>
                        <a:t>X</a:t>
                      </a:r>
                      <a:endParaRPr sz="1100"/>
                    </a:p>
                  </a:txBody>
                  <a:tcPr marT="63500" marB="63500" marR="63500" marL="63500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7a181370aa_0_73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Cronograma de execução (2022)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38" name="Google Shape;138;g17a181370aa_0_73"/>
          <p:cNvGraphicFramePr/>
          <p:nvPr/>
        </p:nvGraphicFramePr>
        <p:xfrm>
          <a:off x="402675" y="125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{E6846045-8CE5-4810-A317-312935AF3A9B}</a:tableStyleId>
              </a:tblPr>
              <a:tblGrid>
                <a:gridCol w="3377550"/>
                <a:gridCol w="2421275"/>
                <a:gridCol w="2421275"/>
              </a:tblGrid>
              <a:tr h="5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Atividade</a:t>
                      </a:r>
                      <a:endParaRPr b="1" sz="16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Novembro</a:t>
                      </a:r>
                      <a:endParaRPr b="1" sz="16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600"/>
                        <a:t>Dezembro</a:t>
                      </a:r>
                      <a:endParaRPr b="1" sz="16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Desenvolvimento do documento</a:t>
                      </a:r>
                      <a:endParaRPr sz="16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Em andamento</a:t>
                      </a:r>
                      <a:endParaRPr sz="16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Em revisão</a:t>
                      </a:r>
                      <a:endParaRPr sz="1600"/>
                    </a:p>
                  </a:txBody>
                  <a:tcPr marT="63500" marB="63500" marR="63500" marL="63500" anchor="ctr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Levantamento de requisitos</a:t>
                      </a:r>
                      <a:endParaRPr sz="16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Em andamento</a:t>
                      </a:r>
                      <a:endParaRPr sz="16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Em andamento</a:t>
                      </a:r>
                      <a:endParaRPr sz="1600"/>
                    </a:p>
                  </a:txBody>
                  <a:tcPr marT="63500" marB="63500" marR="63500" marL="63500" anchor="ctr"/>
                </a:tc>
              </a:tr>
              <a:tr h="53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Criação e revisão de protótipo</a:t>
                      </a:r>
                      <a:endParaRPr sz="16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Em andamento</a:t>
                      </a:r>
                      <a:endParaRPr sz="16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Em andamento</a:t>
                      </a:r>
                      <a:endParaRPr sz="16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7a181370aa_0_35"/>
          <p:cNvSpPr txBox="1"/>
          <p:nvPr>
            <p:ph idx="1" type="body"/>
          </p:nvPr>
        </p:nvSpPr>
        <p:spPr>
          <a:xfrm>
            <a:off x="378375" y="3415400"/>
            <a:ext cx="837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r>
              <a:rPr lang="pt-BR" sz="1400">
                <a:latin typeface="Helvetica Neue"/>
                <a:ea typeface="Helvetica Neue"/>
                <a:cs typeface="Helvetica Neue"/>
                <a:sym typeface="Helvetica Neue"/>
              </a:rPr>
              <a:t> A hospedagem da aplicação na AWS só poderá ser orçada após a conclusão da </a:t>
            </a:r>
            <a:r>
              <a:rPr b="1" lang="pt-BR" sz="1400">
                <a:latin typeface="Helvetica Neue"/>
                <a:ea typeface="Helvetica Neue"/>
                <a:cs typeface="Helvetica Neue"/>
                <a:sym typeface="Helvetica Neue"/>
              </a:rPr>
              <a:t>etapa de prototipação</a:t>
            </a:r>
            <a:r>
              <a:rPr lang="pt-BR" sz="1400">
                <a:latin typeface="Helvetica Neue"/>
                <a:ea typeface="Helvetica Neue"/>
                <a:cs typeface="Helvetica Neue"/>
                <a:sym typeface="Helvetica Neue"/>
              </a:rPr>
              <a:t>. As funcionalidades precisam ser melhor especificadas para que sejam selecionados os serviços de nuvem necessários para a aplicação.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g17a181370aa_0_35"/>
          <p:cNvSpPr txBox="1"/>
          <p:nvPr>
            <p:ph type="title"/>
          </p:nvPr>
        </p:nvSpPr>
        <p:spPr>
          <a:xfrm>
            <a:off x="313119" y="440175"/>
            <a:ext cx="746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200">
                <a:latin typeface="Helvetica Neue"/>
                <a:ea typeface="Helvetica Neue"/>
                <a:cs typeface="Helvetica Neue"/>
                <a:sym typeface="Helvetica Neue"/>
              </a:rPr>
              <a:t>Orçamento</a:t>
            </a:r>
            <a:endParaRPr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45" name="Google Shape;145;g17a181370aa_0_35"/>
          <p:cNvGraphicFramePr/>
          <p:nvPr/>
        </p:nvGraphicFramePr>
        <p:xfrm>
          <a:off x="1707375" y="116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{E6846045-8CE5-4810-A317-312935AF3A9B}</a:tableStyleId>
              </a:tblPr>
              <a:tblGrid>
                <a:gridCol w="3943350"/>
                <a:gridCol w="177165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Despesas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Preço total (R$)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Hospedagem da aplicação (AWS)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0,00*</a:t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Publicação do aplicativo na Google Play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133,25</a:t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Publicação do aplicativo na Apple Store</a:t>
                      </a:r>
                      <a:endParaRPr sz="12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/>
                        <a:t>527,67 / ano</a:t>
                      </a:r>
                      <a:endParaRPr sz="1200"/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TOTAL DE DÍVIDAS RECORRENTES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527,67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TOTAL DE DÍVIDAS ÚNICAS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/>
                        <a:t>133,25</a:t>
                      </a:r>
                      <a:endParaRPr b="1" sz="1200"/>
                    </a:p>
                  </a:txBody>
                  <a:tcPr marT="63500" marB="63500" marR="63500" marL="63500"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3bb1196c3d_2_4"/>
          <p:cNvSpPr txBox="1"/>
          <p:nvPr>
            <p:ph idx="1" type="body"/>
          </p:nvPr>
        </p:nvSpPr>
        <p:spPr>
          <a:xfrm>
            <a:off x="313125" y="1084375"/>
            <a:ext cx="8737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CÂMARA DOS DEPUTADOS.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 1324/2021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&lt;https://www.camara.leg.br/proposicoesWeb/prop_mostrarintegra;jsessionid=node0pscapbos1jyt13en6vihoz7sb4558666.node0?codteor=2014400&amp;filename=Avulso+-PL+1324/2021&gt;.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CAPONETTO, I.; EARP, J.; OTT, M.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Gamification and Education: A Literature Review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1. ed. Berlim: University of Applied Sciences, 2014.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FIGUEIREDO, V.; MOURA, F. L.; BARROS, A. F. V.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Aplicação de Conceitos de Gamificação para Seleção de Alunos em Projetos de Pesquisa e Extensão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&lt;https://periodicos.univali.br/index.php/acotb/article/view/14333&gt;.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FROTA, G. L. L.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Gamificação: análise do uso do kahoot como alternativa a avaliação da aprendizagem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2020. Disponível em: &lt;https://cietenped.ufscar.br/submissao/index.php/2020/article/download/1767/1402&gt;. Acesso em 01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13bb1196c3d_2_4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5d655a9345_0_1"/>
          <p:cNvSpPr txBox="1"/>
          <p:nvPr>
            <p:ph idx="1" type="body"/>
          </p:nvPr>
        </p:nvSpPr>
        <p:spPr>
          <a:xfrm>
            <a:off x="313125" y="1084375"/>
            <a:ext cx="8737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IPEA.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de Desenvolvimento Sustentável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&lt;https://www.ipea.gov.br/ods/ods4.html&gt;.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KNÜPPE, L.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Motivação e desmotivação: desafio para as professoras do Ensino Fundamental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Educar em revista, p. 277-290, 2006. Disponível em: &lt;https://www.scielo.br/j/er/a/Q9KqTZnczCwRKMcgTFpm3jN/abstract/?lang=pt&gt;. Acesso em 22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OLIVEIRA, J. F.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 4 e Agenda 2030: avanços e entraves na promoção da educação de qualidade na América Latina e no Brasil.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2020. 51 f. Trabalho de Conclusão de Curso (Bacharelado em Relações Internacionais) - Universidade de Brasília, Brasília, 2020.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POFFO, M.; THIRY, M.; FERNANDES, A.; HEEMANN, C.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Gamificação: Agente Motivador na Aprendizagem de Engenharia de Software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&lt;https://periodicos.univali.br/index.php/acotb/article/view/10572&gt;. Acesso em 02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15d655a9345_0_1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73607b27e8_0_0"/>
          <p:cNvSpPr txBox="1"/>
          <p:nvPr>
            <p:ph idx="1" type="body"/>
          </p:nvPr>
        </p:nvSpPr>
        <p:spPr>
          <a:xfrm>
            <a:off x="313125" y="1084375"/>
            <a:ext cx="87378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RAGUZE, T.; SILVA, R. P.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 aplicada a ambientes de aprendizagem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Gamepad, Novo Hamburgo, 10 jun. 2016.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TODA, A. M.; SILVA, A. P.; ISOTANI, S.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Desafios para o Planejamento e Implantação da Gamificação no Contexto Educacional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&lt;https://seer.ufrgs.br/renote/article/viewFile/79263/46157&gt;. Acesso em 02 out. 2022.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TRIBUNAL DE JUSTIÇA DE SANTA CATARINA.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Gamificação em cibersegurança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Disponível em: &lt;https://www.tjsc.jus.br/web/tecnologia-da-informacao/gamificacao-em-ciberseguranca&gt;. Acesso em 02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173607b27e8_0_0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5d655a9345_0_6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15d655a9345_0_6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15d655a9345_0_6"/>
          <p:cNvSpPr txBox="1"/>
          <p:nvPr/>
        </p:nvSpPr>
        <p:spPr>
          <a:xfrm>
            <a:off x="1080516" y="1743763"/>
            <a:ext cx="694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pt-BR" sz="24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LOLLIPOP: UM APLICATIVO PARA AJUDAR NO GERENCIAMENTO DE ATIVIDADES DE GAMIFICAÇÃO</a:t>
            </a:r>
            <a:endParaRPr b="1" i="0" sz="24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g15d655a9345_0_6"/>
          <p:cNvSpPr txBox="1"/>
          <p:nvPr/>
        </p:nvSpPr>
        <p:spPr>
          <a:xfrm>
            <a:off x="1080525" y="3667225"/>
            <a:ext cx="69468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
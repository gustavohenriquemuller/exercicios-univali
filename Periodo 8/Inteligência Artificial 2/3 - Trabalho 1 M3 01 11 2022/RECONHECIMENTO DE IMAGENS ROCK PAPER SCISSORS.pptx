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9144000" cy="5143500"/>
  <p:embeddedFontLst>
    <p:embeddedFont>
      <p:font typeface="Helvetica Neue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http://customooxmlschemas.google.com/">
      <go:slidesCustomData xmlns:go="http://customooxmlschemas.google.com/" r:id="rId24" roundtripDataSignature="AMtx7mgvAZqt5DgQgj2RQa7bXZ07IZiJt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HelveticaNeue-regular.fntdata"/><Relationship Id="rId11" Type="http://schemas.openxmlformats.org/officeDocument/2006/relationships/slide" Target="slides/slide6.xml"/><Relationship Id="rId22" Type="http://schemas.openxmlformats.org/officeDocument/2006/relationships/font" Target="fonts/HelveticaNeue-italic.fntdata"/><Relationship Id="rId10" Type="http://schemas.openxmlformats.org/officeDocument/2006/relationships/slide" Target="slides/slide5.xml"/><Relationship Id="rId21" Type="http://schemas.openxmlformats.org/officeDocument/2006/relationships/font" Target="fonts/HelveticaNeue-bold.fntdata"/><Relationship Id="rId13" Type="http://schemas.openxmlformats.org/officeDocument/2006/relationships/slide" Target="slides/slide8.xml"/><Relationship Id="rId24" Type="http://customschemas.google.com/relationships/presentationmetadata" Target="metadata"/><Relationship Id="rId12" Type="http://schemas.openxmlformats.org/officeDocument/2006/relationships/slide" Target="slides/slide7.xml"/><Relationship Id="rId23" Type="http://schemas.openxmlformats.org/officeDocument/2006/relationships/font" Target="fonts/HelveticaNeue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9624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5180013" y="0"/>
            <a:ext cx="39624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028950" y="642938"/>
            <a:ext cx="3086100" cy="1736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4886325"/>
            <a:ext cx="39624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124d8db2236_2_0:notes"/>
          <p:cNvSpPr txBox="1"/>
          <p:nvPr>
            <p:ph idx="1" type="body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6" name="Google Shape;56;g124d8db2236_2_0:notes"/>
          <p:cNvSpPr/>
          <p:nvPr>
            <p:ph idx="2" type="sldImg"/>
          </p:nvPr>
        </p:nvSpPr>
        <p:spPr>
          <a:xfrm>
            <a:off x="3028950" y="642938"/>
            <a:ext cx="3086100" cy="1736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:notes"/>
          <p:cNvSpPr txBox="1"/>
          <p:nvPr>
            <p:ph idx="1" type="body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4" name="Google Shape;64;p2:notes"/>
          <p:cNvSpPr/>
          <p:nvPr>
            <p:ph idx="2" type="sldImg"/>
          </p:nvPr>
        </p:nvSpPr>
        <p:spPr>
          <a:xfrm>
            <a:off x="3028950" y="642938"/>
            <a:ext cx="3086100" cy="1736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4b3f04f266_1_13:notes"/>
          <p:cNvSpPr txBox="1"/>
          <p:nvPr>
            <p:ph idx="1" type="body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0" name="Google Shape;70;g14b3f04f266_1_13:notes"/>
          <p:cNvSpPr/>
          <p:nvPr>
            <p:ph idx="2" type="sldImg"/>
          </p:nvPr>
        </p:nvSpPr>
        <p:spPr>
          <a:xfrm>
            <a:off x="3028950" y="642938"/>
            <a:ext cx="3086100" cy="1736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14b3f04f266_1_21:notes"/>
          <p:cNvSpPr txBox="1"/>
          <p:nvPr>
            <p:ph idx="1" type="body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6" name="Google Shape;76;g14b3f04f266_1_21:notes"/>
          <p:cNvSpPr/>
          <p:nvPr>
            <p:ph idx="2" type="sldImg"/>
          </p:nvPr>
        </p:nvSpPr>
        <p:spPr>
          <a:xfrm>
            <a:off x="3028950" y="642938"/>
            <a:ext cx="3086100" cy="1736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17af0ecd6e4_0_25:notes"/>
          <p:cNvSpPr txBox="1"/>
          <p:nvPr>
            <p:ph idx="1" type="body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2" name="Google Shape;82;g17af0ecd6e4_0_25:notes"/>
          <p:cNvSpPr/>
          <p:nvPr>
            <p:ph idx="2" type="sldImg"/>
          </p:nvPr>
        </p:nvSpPr>
        <p:spPr>
          <a:xfrm>
            <a:off x="3028950" y="642938"/>
            <a:ext cx="3086100" cy="1736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17af0ecd6e4_0_10:notes"/>
          <p:cNvSpPr txBox="1"/>
          <p:nvPr>
            <p:ph idx="1" type="body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8" name="Google Shape;88;g17af0ecd6e4_0_10:notes"/>
          <p:cNvSpPr/>
          <p:nvPr>
            <p:ph idx="2" type="sldImg"/>
          </p:nvPr>
        </p:nvSpPr>
        <p:spPr>
          <a:xfrm>
            <a:off x="3028950" y="642938"/>
            <a:ext cx="3086100" cy="1736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17af0ecd6e4_0_33:notes"/>
          <p:cNvSpPr txBox="1"/>
          <p:nvPr>
            <p:ph idx="1" type="body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4" name="Google Shape;94;g17af0ecd6e4_0_33:notes"/>
          <p:cNvSpPr/>
          <p:nvPr>
            <p:ph idx="2" type="sldImg"/>
          </p:nvPr>
        </p:nvSpPr>
        <p:spPr>
          <a:xfrm>
            <a:off x="3028950" y="642938"/>
            <a:ext cx="3086100" cy="1736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17af0ecd6e4_0_15:notes"/>
          <p:cNvSpPr txBox="1"/>
          <p:nvPr>
            <p:ph idx="1" type="body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0" name="Google Shape;100;g17af0ecd6e4_0_15:notes"/>
          <p:cNvSpPr/>
          <p:nvPr>
            <p:ph idx="2" type="sldImg"/>
          </p:nvPr>
        </p:nvSpPr>
        <p:spPr>
          <a:xfrm>
            <a:off x="3028950" y="642938"/>
            <a:ext cx="3086100" cy="1736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7af0ecd6e4_0_38:notes"/>
          <p:cNvSpPr txBox="1"/>
          <p:nvPr>
            <p:ph idx="1" type="body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9" name="Google Shape;109;g17af0ecd6e4_0_38:notes"/>
          <p:cNvSpPr/>
          <p:nvPr>
            <p:ph idx="2" type="sldImg"/>
          </p:nvPr>
        </p:nvSpPr>
        <p:spPr>
          <a:xfrm>
            <a:off x="3028950" y="642938"/>
            <a:ext cx="3086100" cy="1736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17af0ecd6e4_0_46:notes"/>
          <p:cNvSpPr txBox="1"/>
          <p:nvPr>
            <p:ph idx="1" type="body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6" name="Google Shape;116;g17af0ecd6e4_0_46:notes"/>
          <p:cNvSpPr/>
          <p:nvPr>
            <p:ph idx="2" type="sldImg"/>
          </p:nvPr>
        </p:nvSpPr>
        <p:spPr>
          <a:xfrm>
            <a:off x="3028950" y="642938"/>
            <a:ext cx="3086100" cy="1736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17af0ecd6e4_0_57:notes"/>
          <p:cNvSpPr txBox="1"/>
          <p:nvPr>
            <p:ph idx="1" type="body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6" name="Google Shape;126;g17af0ecd6e4_0_57:notes"/>
          <p:cNvSpPr/>
          <p:nvPr>
            <p:ph idx="2" type="sldImg"/>
          </p:nvPr>
        </p:nvSpPr>
        <p:spPr>
          <a:xfrm>
            <a:off x="3028950" y="642938"/>
            <a:ext cx="3086100" cy="1736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17af0ecd6e4_0_67:notes"/>
          <p:cNvSpPr txBox="1"/>
          <p:nvPr>
            <p:ph idx="1" type="body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2" name="Google Shape;132;g17af0ecd6e4_0_67:notes"/>
          <p:cNvSpPr/>
          <p:nvPr>
            <p:ph idx="2" type="sldImg"/>
          </p:nvPr>
        </p:nvSpPr>
        <p:spPr>
          <a:xfrm>
            <a:off x="3028950" y="642938"/>
            <a:ext cx="3086100" cy="1736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13a301ddb93_0_7:notes"/>
          <p:cNvSpPr txBox="1"/>
          <p:nvPr>
            <p:ph idx="1" type="body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8" name="Google Shape;138;g13a301ddb93_0_7:notes"/>
          <p:cNvSpPr/>
          <p:nvPr>
            <p:ph idx="2" type="sldImg"/>
          </p:nvPr>
        </p:nvSpPr>
        <p:spPr>
          <a:xfrm>
            <a:off x="3028950" y="642938"/>
            <a:ext cx="3086100" cy="1736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17af0ecd6e4_0_0:notes"/>
          <p:cNvSpPr txBox="1"/>
          <p:nvPr>
            <p:ph idx="1" type="body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4" name="Google Shape;144;g17af0ecd6e4_0_0:notes"/>
          <p:cNvSpPr/>
          <p:nvPr>
            <p:ph idx="2" type="sldImg"/>
          </p:nvPr>
        </p:nvSpPr>
        <p:spPr>
          <a:xfrm>
            <a:off x="3028950" y="642938"/>
            <a:ext cx="3086100" cy="1736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obj">
  <p:cSld name="OBJECT">
    <p:bg>
      <p:bgPr>
        <a:solidFill>
          <a:schemeClr val="lt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/>
          <p:nvPr/>
        </p:nvSpPr>
        <p:spPr>
          <a:xfrm>
            <a:off x="1117091" y="541019"/>
            <a:ext cx="6910070" cy="192405"/>
          </a:xfrm>
          <a:custGeom>
            <a:rect b="b" l="l" r="r" t="t"/>
            <a:pathLst>
              <a:path extrusionOk="0" h="192404" w="6910070">
                <a:moveTo>
                  <a:pt x="0" y="192024"/>
                </a:moveTo>
                <a:lnTo>
                  <a:pt x="6909816" y="192024"/>
                </a:lnTo>
                <a:lnTo>
                  <a:pt x="6909816" y="0"/>
                </a:lnTo>
                <a:lnTo>
                  <a:pt x="0" y="0"/>
                </a:lnTo>
                <a:lnTo>
                  <a:pt x="0" y="192024"/>
                </a:lnTo>
                <a:close/>
              </a:path>
            </a:pathLst>
          </a:custGeom>
          <a:solidFill>
            <a:srgbClr val="07477C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9"/>
          <p:cNvSpPr/>
          <p:nvPr/>
        </p:nvSpPr>
        <p:spPr>
          <a:xfrm>
            <a:off x="1081277" y="1319022"/>
            <a:ext cx="6898005" cy="3810"/>
          </a:xfrm>
          <a:custGeom>
            <a:rect b="b" l="l" r="r" t="t"/>
            <a:pathLst>
              <a:path extrusionOk="0" h="3809" w="6898005">
                <a:moveTo>
                  <a:pt x="6897878" y="3301"/>
                </a:moveTo>
                <a:lnTo>
                  <a:pt x="0" y="0"/>
                </a:lnTo>
              </a:path>
            </a:pathLst>
          </a:custGeom>
          <a:noFill/>
          <a:ln cap="flat" cmpd="sng" w="19800">
            <a:solidFill>
              <a:srgbClr val="07477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9"/>
          <p:cNvSpPr/>
          <p:nvPr/>
        </p:nvSpPr>
        <p:spPr>
          <a:xfrm>
            <a:off x="1081277" y="4671821"/>
            <a:ext cx="6898005" cy="3810"/>
          </a:xfrm>
          <a:custGeom>
            <a:rect b="b" l="l" r="r" t="t"/>
            <a:pathLst>
              <a:path extrusionOk="0" h="3810" w="6898005">
                <a:moveTo>
                  <a:pt x="6897878" y="3301"/>
                </a:moveTo>
                <a:lnTo>
                  <a:pt x="0" y="0"/>
                </a:lnTo>
              </a:path>
            </a:pathLst>
          </a:custGeom>
          <a:noFill/>
          <a:ln cap="flat" cmpd="sng" w="19800">
            <a:solidFill>
              <a:srgbClr val="07477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9"/>
          <p:cNvSpPr/>
          <p:nvPr/>
        </p:nvSpPr>
        <p:spPr>
          <a:xfrm>
            <a:off x="1081277" y="3300221"/>
            <a:ext cx="6898005" cy="3810"/>
          </a:xfrm>
          <a:custGeom>
            <a:rect b="b" l="l" r="r" t="t"/>
            <a:pathLst>
              <a:path extrusionOk="0" h="3810" w="6898005">
                <a:moveTo>
                  <a:pt x="6897878" y="3301"/>
                </a:moveTo>
                <a:lnTo>
                  <a:pt x="0" y="0"/>
                </a:lnTo>
              </a:path>
            </a:pathLst>
          </a:custGeom>
          <a:noFill/>
          <a:ln cap="flat" cmpd="sng" w="19800">
            <a:solidFill>
              <a:srgbClr val="07477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9"/>
          <p:cNvSpPr/>
          <p:nvPr/>
        </p:nvSpPr>
        <p:spPr>
          <a:xfrm>
            <a:off x="4066032" y="0"/>
            <a:ext cx="1011936" cy="830579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9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9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9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0"/>
          <p:cNvSpPr txBox="1"/>
          <p:nvPr>
            <p:ph type="title"/>
          </p:nvPr>
        </p:nvSpPr>
        <p:spPr>
          <a:xfrm>
            <a:off x="313131" y="440182"/>
            <a:ext cx="3684904" cy="574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rgbClr val="07477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" type="body"/>
          </p:nvPr>
        </p:nvSpPr>
        <p:spPr>
          <a:xfrm>
            <a:off x="378383" y="1084383"/>
            <a:ext cx="8387232" cy="31819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7477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0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0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0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/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" type="subTitle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1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1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2"/>
          <p:cNvSpPr txBox="1"/>
          <p:nvPr>
            <p:ph type="title"/>
          </p:nvPr>
        </p:nvSpPr>
        <p:spPr>
          <a:xfrm>
            <a:off x="313131" y="440182"/>
            <a:ext cx="3684904" cy="574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rgbClr val="07477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1" type="body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2"/>
          <p:cNvSpPr txBox="1"/>
          <p:nvPr>
            <p:ph idx="2" type="body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2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313131" y="440182"/>
            <a:ext cx="3684904" cy="574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rgbClr val="07477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/>
          <p:nvPr/>
        </p:nvSpPr>
        <p:spPr>
          <a:xfrm>
            <a:off x="0" y="0"/>
            <a:ext cx="9144000" cy="386080"/>
          </a:xfrm>
          <a:custGeom>
            <a:rect b="b" l="l" r="r" t="t"/>
            <a:pathLst>
              <a:path extrusionOk="0" h="386080" w="9144000">
                <a:moveTo>
                  <a:pt x="0" y="385572"/>
                </a:moveTo>
                <a:lnTo>
                  <a:pt x="9144000" y="385572"/>
                </a:lnTo>
                <a:lnTo>
                  <a:pt x="9144000" y="0"/>
                </a:lnTo>
                <a:lnTo>
                  <a:pt x="0" y="0"/>
                </a:lnTo>
                <a:lnTo>
                  <a:pt x="0" y="385572"/>
                </a:lnTo>
                <a:close/>
              </a:path>
            </a:pathLst>
          </a:custGeom>
          <a:solidFill>
            <a:srgbClr val="07477C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8"/>
          <p:cNvSpPr/>
          <p:nvPr/>
        </p:nvSpPr>
        <p:spPr>
          <a:xfrm>
            <a:off x="8740140" y="4757927"/>
            <a:ext cx="403860" cy="386080"/>
          </a:xfrm>
          <a:custGeom>
            <a:rect b="b" l="l" r="r" t="t"/>
            <a:pathLst>
              <a:path extrusionOk="0" h="386079" w="403859">
                <a:moveTo>
                  <a:pt x="0" y="385571"/>
                </a:moveTo>
                <a:lnTo>
                  <a:pt x="403860" y="385571"/>
                </a:lnTo>
                <a:lnTo>
                  <a:pt x="403860" y="0"/>
                </a:lnTo>
                <a:lnTo>
                  <a:pt x="0" y="0"/>
                </a:lnTo>
                <a:lnTo>
                  <a:pt x="0" y="385571"/>
                </a:lnTo>
                <a:close/>
              </a:path>
            </a:pathLst>
          </a:custGeom>
          <a:solidFill>
            <a:srgbClr val="07477C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8"/>
          <p:cNvSpPr/>
          <p:nvPr/>
        </p:nvSpPr>
        <p:spPr>
          <a:xfrm>
            <a:off x="0" y="4757927"/>
            <a:ext cx="402590" cy="386080"/>
          </a:xfrm>
          <a:custGeom>
            <a:rect b="b" l="l" r="r" t="t"/>
            <a:pathLst>
              <a:path extrusionOk="0" h="386079" w="402590">
                <a:moveTo>
                  <a:pt x="0" y="385571"/>
                </a:moveTo>
                <a:lnTo>
                  <a:pt x="402336" y="385571"/>
                </a:lnTo>
                <a:lnTo>
                  <a:pt x="402336" y="0"/>
                </a:lnTo>
                <a:lnTo>
                  <a:pt x="0" y="0"/>
                </a:lnTo>
                <a:lnTo>
                  <a:pt x="0" y="385571"/>
                </a:lnTo>
                <a:close/>
              </a:path>
            </a:pathLst>
          </a:custGeom>
          <a:solidFill>
            <a:srgbClr val="07477C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8"/>
          <p:cNvSpPr/>
          <p:nvPr/>
        </p:nvSpPr>
        <p:spPr>
          <a:xfrm>
            <a:off x="402336" y="4757927"/>
            <a:ext cx="8338184" cy="386080"/>
          </a:xfrm>
          <a:custGeom>
            <a:rect b="b" l="l" r="r" t="t"/>
            <a:pathLst>
              <a:path extrusionOk="0" h="386079" w="8338184">
                <a:moveTo>
                  <a:pt x="0" y="385571"/>
                </a:moveTo>
                <a:lnTo>
                  <a:pt x="8337804" y="385571"/>
                </a:lnTo>
                <a:lnTo>
                  <a:pt x="8337804" y="0"/>
                </a:lnTo>
                <a:lnTo>
                  <a:pt x="0" y="0"/>
                </a:lnTo>
                <a:lnTo>
                  <a:pt x="0" y="385571"/>
                </a:lnTo>
                <a:close/>
              </a:path>
            </a:pathLst>
          </a:custGeom>
          <a:solidFill>
            <a:srgbClr val="07477C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8"/>
          <p:cNvSpPr/>
          <p:nvPr/>
        </p:nvSpPr>
        <p:spPr>
          <a:xfrm>
            <a:off x="8170164" y="45719"/>
            <a:ext cx="974090" cy="1012190"/>
          </a:xfrm>
          <a:custGeom>
            <a:rect b="b" l="l" r="r" t="t"/>
            <a:pathLst>
              <a:path extrusionOk="0" h="1012190" w="974090">
                <a:moveTo>
                  <a:pt x="811529" y="0"/>
                </a:moveTo>
                <a:lnTo>
                  <a:pt x="162305" y="0"/>
                </a:lnTo>
                <a:lnTo>
                  <a:pt x="119150" y="5796"/>
                </a:lnTo>
                <a:lnTo>
                  <a:pt x="80376" y="22154"/>
                </a:lnTo>
                <a:lnTo>
                  <a:pt x="47529" y="47529"/>
                </a:lnTo>
                <a:lnTo>
                  <a:pt x="22154" y="80376"/>
                </a:lnTo>
                <a:lnTo>
                  <a:pt x="5796" y="119150"/>
                </a:lnTo>
                <a:lnTo>
                  <a:pt x="0" y="162305"/>
                </a:lnTo>
                <a:lnTo>
                  <a:pt x="0" y="849629"/>
                </a:lnTo>
                <a:lnTo>
                  <a:pt x="5796" y="892785"/>
                </a:lnTo>
                <a:lnTo>
                  <a:pt x="22154" y="931559"/>
                </a:lnTo>
                <a:lnTo>
                  <a:pt x="47529" y="964406"/>
                </a:lnTo>
                <a:lnTo>
                  <a:pt x="80376" y="989781"/>
                </a:lnTo>
                <a:lnTo>
                  <a:pt x="119150" y="1006139"/>
                </a:lnTo>
                <a:lnTo>
                  <a:pt x="162305" y="1011935"/>
                </a:lnTo>
                <a:lnTo>
                  <a:pt x="811529" y="1011935"/>
                </a:lnTo>
                <a:lnTo>
                  <a:pt x="854685" y="1006139"/>
                </a:lnTo>
                <a:lnTo>
                  <a:pt x="893459" y="989781"/>
                </a:lnTo>
                <a:lnTo>
                  <a:pt x="926306" y="964406"/>
                </a:lnTo>
                <a:lnTo>
                  <a:pt x="951681" y="931559"/>
                </a:lnTo>
                <a:lnTo>
                  <a:pt x="968039" y="892785"/>
                </a:lnTo>
                <a:lnTo>
                  <a:pt x="973835" y="849629"/>
                </a:lnTo>
                <a:lnTo>
                  <a:pt x="973835" y="162305"/>
                </a:lnTo>
                <a:lnTo>
                  <a:pt x="968039" y="119150"/>
                </a:lnTo>
                <a:lnTo>
                  <a:pt x="951681" y="80376"/>
                </a:lnTo>
                <a:lnTo>
                  <a:pt x="926306" y="47529"/>
                </a:lnTo>
                <a:lnTo>
                  <a:pt x="893459" y="22154"/>
                </a:lnTo>
                <a:lnTo>
                  <a:pt x="854685" y="5796"/>
                </a:lnTo>
                <a:lnTo>
                  <a:pt x="811529" y="0"/>
                </a:lnTo>
                <a:close/>
              </a:path>
            </a:pathLst>
          </a:custGeom>
          <a:solidFill>
            <a:srgbClr val="07477C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8"/>
          <p:cNvSpPr/>
          <p:nvPr/>
        </p:nvSpPr>
        <p:spPr>
          <a:xfrm>
            <a:off x="8261604" y="385572"/>
            <a:ext cx="792479" cy="541020"/>
          </a:xfrm>
          <a:prstGeom prst="rect">
            <a:avLst/>
          </a:prstGeom>
          <a:blipFill rotWithShape="1">
            <a:blip r:embed="rId1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8"/>
          <p:cNvSpPr txBox="1"/>
          <p:nvPr>
            <p:ph type="title"/>
          </p:nvPr>
        </p:nvSpPr>
        <p:spPr>
          <a:xfrm>
            <a:off x="313131" y="440182"/>
            <a:ext cx="3684904" cy="574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rgbClr val="07477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8"/>
          <p:cNvSpPr txBox="1"/>
          <p:nvPr>
            <p:ph idx="1" type="body"/>
          </p:nvPr>
        </p:nvSpPr>
        <p:spPr>
          <a:xfrm>
            <a:off x="378383" y="1084383"/>
            <a:ext cx="8387232" cy="31819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rgbClr val="07477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8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4d8db2236_2_0"/>
          <p:cNvSpPr txBox="1"/>
          <p:nvPr/>
        </p:nvSpPr>
        <p:spPr>
          <a:xfrm>
            <a:off x="1965425" y="787975"/>
            <a:ext cx="51771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rgbClr val="05356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Universidade do Vale do Itajaí</a:t>
            </a:r>
            <a:endParaRPr b="0" i="0" sz="10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rgbClr val="05356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Escola do Mar, Ciência e Tecnologia - EMCT</a:t>
            </a:r>
            <a:endParaRPr b="0" i="0" sz="10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rgbClr val="05356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Ciência da Computação</a:t>
            </a:r>
            <a:endParaRPr b="0" i="0" sz="10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9" name="Google Shape;59;g124d8db2236_2_0"/>
          <p:cNvSpPr/>
          <p:nvPr/>
        </p:nvSpPr>
        <p:spPr>
          <a:xfrm>
            <a:off x="1080516" y="4788408"/>
            <a:ext cx="6946900" cy="192404"/>
          </a:xfrm>
          <a:custGeom>
            <a:rect b="b" l="l" r="r" t="t"/>
            <a:pathLst>
              <a:path extrusionOk="0" h="192404" w="6946900">
                <a:moveTo>
                  <a:pt x="0" y="192023"/>
                </a:moveTo>
                <a:lnTo>
                  <a:pt x="6946392" y="192023"/>
                </a:lnTo>
                <a:lnTo>
                  <a:pt x="6946392" y="0"/>
                </a:lnTo>
                <a:lnTo>
                  <a:pt x="0" y="0"/>
                </a:lnTo>
                <a:lnTo>
                  <a:pt x="0" y="192023"/>
                </a:lnTo>
                <a:close/>
              </a:path>
            </a:pathLst>
          </a:custGeom>
          <a:solidFill>
            <a:srgbClr val="07477C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g124d8db2236_2_0"/>
          <p:cNvSpPr txBox="1"/>
          <p:nvPr/>
        </p:nvSpPr>
        <p:spPr>
          <a:xfrm>
            <a:off x="1080516" y="1841700"/>
            <a:ext cx="6946800" cy="9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lang="pt-BR" sz="2800">
                <a:solidFill>
                  <a:srgbClr val="07477C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RECONHECIMENTO DE IMAGENS:</a:t>
            </a:r>
            <a:endParaRPr b="1" sz="2800">
              <a:solidFill>
                <a:srgbClr val="07477C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lang="pt-BR" sz="2800">
                <a:solidFill>
                  <a:srgbClr val="07477C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ROCK PAPER SCISSORS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g124d8db2236_2_0"/>
          <p:cNvSpPr txBox="1"/>
          <p:nvPr/>
        </p:nvSpPr>
        <p:spPr>
          <a:xfrm>
            <a:off x="1080516" y="3562350"/>
            <a:ext cx="6946800" cy="8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rgbClr val="07477C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Caio Gonzaga Bernils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2700" marR="0" rt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rgbClr val="07477C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Gustavo Henrique Stahl Müller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2700" marR="0" rt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rgbClr val="07477C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Paulo Henrique Rohling</a:t>
            </a:r>
            <a:endParaRPr b="0" i="0" sz="1800" u="none" cap="none" strike="noStrike">
              <a:solidFill>
                <a:srgbClr val="07477C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"/>
          <p:cNvSpPr txBox="1"/>
          <p:nvPr>
            <p:ph type="title"/>
          </p:nvPr>
        </p:nvSpPr>
        <p:spPr>
          <a:xfrm>
            <a:off x="313119" y="440175"/>
            <a:ext cx="7466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Sumário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7" name="Google Shape;67;p2"/>
          <p:cNvSpPr txBox="1"/>
          <p:nvPr>
            <p:ph idx="1" type="body"/>
          </p:nvPr>
        </p:nvSpPr>
        <p:spPr>
          <a:xfrm>
            <a:off x="378375" y="1159450"/>
            <a:ext cx="64848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683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22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Apresentação do tema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683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22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Aplicação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683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22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Treinamento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683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22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Pipeline de pré-processamento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683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22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Classificador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14b3f04f266_1_13"/>
          <p:cNvSpPr txBox="1"/>
          <p:nvPr>
            <p:ph type="title"/>
          </p:nvPr>
        </p:nvSpPr>
        <p:spPr>
          <a:xfrm>
            <a:off x="313119" y="440175"/>
            <a:ext cx="7466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Apresentação do tema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3" name="Google Shape;73;g14b3f04f266_1_13"/>
          <p:cNvSpPr txBox="1"/>
          <p:nvPr>
            <p:ph idx="1" type="body"/>
          </p:nvPr>
        </p:nvSpPr>
        <p:spPr>
          <a:xfrm>
            <a:off x="378375" y="1088825"/>
            <a:ext cx="85044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pt-BR" sz="2200">
                <a:latin typeface="Helvetica Neue"/>
                <a:ea typeface="Helvetica Neue"/>
                <a:cs typeface="Helvetica Neue"/>
                <a:sym typeface="Helvetica Neue"/>
              </a:rPr>
              <a:t>Reconhecimento de imagens</a:t>
            </a:r>
            <a:endParaRPr b="1"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683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22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É o processo de identificação de objetos e características em uma imagem ou vídeo;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683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22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Pode acelerar tarefas de maneira mais rápida e precisa do que inspeção manual.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14b3f04f266_1_21"/>
          <p:cNvSpPr txBox="1"/>
          <p:nvPr>
            <p:ph type="title"/>
          </p:nvPr>
        </p:nvSpPr>
        <p:spPr>
          <a:xfrm>
            <a:off x="313119" y="440175"/>
            <a:ext cx="7466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Aplicação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9" name="Google Shape;79;g14b3f04f266_1_21"/>
          <p:cNvSpPr txBox="1"/>
          <p:nvPr>
            <p:ph idx="1" type="body"/>
          </p:nvPr>
        </p:nvSpPr>
        <p:spPr>
          <a:xfrm>
            <a:off x="378375" y="1177025"/>
            <a:ext cx="8504400" cy="186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A aplicação escolhida é um </a:t>
            </a:r>
            <a:r>
              <a:rPr b="1" lang="pt-BR" sz="2200">
                <a:latin typeface="Helvetica Neue"/>
                <a:ea typeface="Helvetica Neue"/>
                <a:cs typeface="Helvetica Neue"/>
                <a:sym typeface="Helvetica Neue"/>
              </a:rPr>
              <a:t>jogo de pedra, papel e tesoura</a:t>
            </a: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 que utiliza reconhecimento de imagem para identificar os </a:t>
            </a:r>
            <a:r>
              <a:rPr b="1" lang="pt-BR" sz="2200">
                <a:latin typeface="Helvetica Neue"/>
                <a:ea typeface="Helvetica Neue"/>
                <a:cs typeface="Helvetica Neue"/>
                <a:sym typeface="Helvetica Neue"/>
              </a:rPr>
              <a:t>gestos </a:t>
            </a: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presentes no jogo, que é executado em um </a:t>
            </a:r>
            <a:r>
              <a:rPr b="1" lang="pt-BR" sz="2200">
                <a:latin typeface="Helvetica Neue"/>
                <a:ea typeface="Helvetica Neue"/>
                <a:cs typeface="Helvetica Neue"/>
                <a:sym typeface="Helvetica Neue"/>
              </a:rPr>
              <a:t>Raspberry Pi</a:t>
            </a: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17af0ecd6e4_0_25"/>
          <p:cNvSpPr txBox="1"/>
          <p:nvPr>
            <p:ph type="title"/>
          </p:nvPr>
        </p:nvSpPr>
        <p:spPr>
          <a:xfrm>
            <a:off x="313119" y="440175"/>
            <a:ext cx="7466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Aplicação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85" name="Google Shape;85;g17af0ecd6e4_0_25"/>
          <p:cNvPicPr preferRelativeResize="0"/>
          <p:nvPr/>
        </p:nvPicPr>
        <p:blipFill rotWithShape="1">
          <a:blip r:embed="rId3">
            <a:alphaModFix/>
          </a:blip>
          <a:srcRect b="1302" l="0" r="0" t="0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7af0ecd6e4_0_10"/>
          <p:cNvSpPr txBox="1"/>
          <p:nvPr>
            <p:ph type="title"/>
          </p:nvPr>
        </p:nvSpPr>
        <p:spPr>
          <a:xfrm>
            <a:off x="313119" y="440175"/>
            <a:ext cx="7466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Aplicação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1" name="Google Shape;91;g17af0ecd6e4_0_10"/>
          <p:cNvSpPr txBox="1"/>
          <p:nvPr>
            <p:ph idx="1" type="body"/>
          </p:nvPr>
        </p:nvSpPr>
        <p:spPr>
          <a:xfrm>
            <a:off x="378375" y="1177025"/>
            <a:ext cx="8504400" cy="33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pt-BR" sz="1800">
                <a:latin typeface="Helvetica Neue"/>
                <a:ea typeface="Helvetica Neue"/>
                <a:cs typeface="Helvetica Neue"/>
                <a:sym typeface="Helvetica Neue"/>
              </a:rPr>
              <a:t>OBJETIVO</a:t>
            </a:r>
            <a:endParaRPr b="1" sz="18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Seu </a:t>
            </a:r>
            <a:r>
              <a:rPr b="1" lang="pt-BR" sz="2200">
                <a:latin typeface="Helvetica Neue"/>
                <a:ea typeface="Helvetica Neue"/>
                <a:cs typeface="Helvetica Neue"/>
                <a:sym typeface="Helvetica Neue"/>
              </a:rPr>
              <a:t>objetivo </a:t>
            </a: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é realizar uma </a:t>
            </a:r>
            <a:r>
              <a:rPr b="1" lang="pt-BR" sz="2200">
                <a:latin typeface="Helvetica Neue"/>
                <a:ea typeface="Helvetica Neue"/>
                <a:cs typeface="Helvetica Neue"/>
                <a:sym typeface="Helvetica Neue"/>
              </a:rPr>
              <a:t>aplicação primordial de identificação de gestos</a:t>
            </a: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 com base em um </a:t>
            </a:r>
            <a:r>
              <a:rPr b="1" lang="pt-BR" sz="2200">
                <a:latin typeface="Helvetica Neue"/>
                <a:ea typeface="Helvetica Neue"/>
                <a:cs typeface="Helvetica Neue"/>
                <a:sym typeface="Helvetica Neue"/>
              </a:rPr>
              <a:t>treinamento prévio.</a:t>
            </a:r>
            <a:endParaRPr b="1"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1" sz="5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pt-BR" sz="1800">
                <a:latin typeface="Helvetica Neue"/>
                <a:ea typeface="Helvetica Neue"/>
                <a:cs typeface="Helvetica Neue"/>
                <a:sym typeface="Helvetica Neue"/>
              </a:rPr>
              <a:t>BENEFÍCIO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A construção deste </a:t>
            </a:r>
            <a:r>
              <a:rPr b="1" lang="pt-BR" sz="2200">
                <a:latin typeface="Helvetica Neue"/>
                <a:ea typeface="Helvetica Neue"/>
                <a:cs typeface="Helvetica Neue"/>
                <a:sym typeface="Helvetica Neue"/>
              </a:rPr>
              <a:t>classificador</a:t>
            </a: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, apesar de ser simples, é um bom primeiro passo para desenvolver classificadores mais complexos, como </a:t>
            </a:r>
            <a:r>
              <a:rPr b="1" lang="pt-BR" sz="2200">
                <a:latin typeface="Helvetica Neue"/>
                <a:ea typeface="Helvetica Neue"/>
                <a:cs typeface="Helvetica Neue"/>
                <a:sym typeface="Helvetica Neue"/>
              </a:rPr>
              <a:t>reconhecedores de gestos de libras</a:t>
            </a: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7af0ecd6e4_0_33"/>
          <p:cNvSpPr txBox="1"/>
          <p:nvPr>
            <p:ph idx="1" type="body"/>
          </p:nvPr>
        </p:nvSpPr>
        <p:spPr>
          <a:xfrm>
            <a:off x="378375" y="1177025"/>
            <a:ext cx="85044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16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Foram registradas </a:t>
            </a:r>
            <a:r>
              <a:rPr b="1" lang="pt-BR" sz="2200">
                <a:latin typeface="Helvetica Neue"/>
                <a:ea typeface="Helvetica Neue"/>
                <a:cs typeface="Helvetica Neue"/>
                <a:sym typeface="Helvetica Neue"/>
              </a:rPr>
              <a:t>2188 imagens</a:t>
            </a: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 (726 pedras, 710 papéis e 752 tesouras);</a:t>
            </a:r>
            <a:endParaRPr b="1" sz="5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16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As imagens foram registradas no formato 300x200 com um </a:t>
            </a:r>
            <a:r>
              <a:rPr b="1" lang="pt-BR" sz="2200">
                <a:latin typeface="Helvetica Neue"/>
                <a:ea typeface="Helvetica Neue"/>
                <a:cs typeface="Helvetica Neue"/>
                <a:sym typeface="Helvetica Neue"/>
              </a:rPr>
              <a:t>fundo verde</a:t>
            </a: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 e iluminação consistente;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16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As imagens foram anotadas através do </a:t>
            </a:r>
            <a:r>
              <a:rPr b="1" lang="pt-BR" sz="2200">
                <a:latin typeface="Helvetica Neue"/>
                <a:ea typeface="Helvetica Neue"/>
                <a:cs typeface="Helvetica Neue"/>
                <a:sym typeface="Helvetica Neue"/>
              </a:rPr>
              <a:t>LabelMe</a:t>
            </a: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7" name="Google Shape;97;g17af0ecd6e4_0_33"/>
          <p:cNvSpPr txBox="1"/>
          <p:nvPr>
            <p:ph type="title"/>
          </p:nvPr>
        </p:nvSpPr>
        <p:spPr>
          <a:xfrm>
            <a:off x="313119" y="440175"/>
            <a:ext cx="7466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Treinamento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17af0ecd6e4_0_15"/>
          <p:cNvSpPr txBox="1"/>
          <p:nvPr>
            <p:ph type="title"/>
          </p:nvPr>
        </p:nvSpPr>
        <p:spPr>
          <a:xfrm>
            <a:off x="313119" y="440175"/>
            <a:ext cx="7466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Treinamento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03" name="Google Shape;103;g17af0ecd6e4_0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3125" y="1102900"/>
            <a:ext cx="2199400" cy="346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g17af0ecd6e4_0_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12604" y="1102900"/>
            <a:ext cx="1907997" cy="346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g17af0ecd6e4_0_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20670" y="1102900"/>
            <a:ext cx="1817805" cy="346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g17af0ecd6e4_0_15"/>
          <p:cNvPicPr preferRelativeResize="0"/>
          <p:nvPr/>
        </p:nvPicPr>
        <p:blipFill rotWithShape="1">
          <a:blip r:embed="rId6">
            <a:alphaModFix/>
          </a:blip>
          <a:srcRect b="11559" l="0" r="0" t="0"/>
          <a:stretch/>
        </p:blipFill>
        <p:spPr>
          <a:xfrm rot="5400000">
            <a:off x="6127525" y="1813925"/>
            <a:ext cx="3465250" cy="204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17af0ecd6e4_0_38"/>
          <p:cNvSpPr txBox="1"/>
          <p:nvPr>
            <p:ph idx="1" type="body"/>
          </p:nvPr>
        </p:nvSpPr>
        <p:spPr>
          <a:xfrm>
            <a:off x="378375" y="1177025"/>
            <a:ext cx="8504400" cy="287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16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OpenCV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16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Python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16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Numpy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16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Scikit-Learn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16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Scikit-Image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16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Pygame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2" name="Google Shape;112;g17af0ecd6e4_0_38"/>
          <p:cNvSpPr txBox="1"/>
          <p:nvPr>
            <p:ph type="title"/>
          </p:nvPr>
        </p:nvSpPr>
        <p:spPr>
          <a:xfrm>
            <a:off x="313119" y="440175"/>
            <a:ext cx="7466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Treinamento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13" name="Google Shape;113;g17af0ecd6e4_0_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49575" y="994275"/>
            <a:ext cx="4336300" cy="3447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7af0ecd6e4_0_46"/>
          <p:cNvSpPr txBox="1"/>
          <p:nvPr>
            <p:ph type="title"/>
          </p:nvPr>
        </p:nvSpPr>
        <p:spPr>
          <a:xfrm>
            <a:off x="313119" y="440175"/>
            <a:ext cx="7466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Pipeline de pré-processamento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19" name="Google Shape;119;g17af0ecd6e4_0_46"/>
          <p:cNvPicPr preferRelativeResize="0"/>
          <p:nvPr/>
        </p:nvPicPr>
        <p:blipFill rotWithShape="1">
          <a:blip r:embed="rId3">
            <a:alphaModFix/>
          </a:blip>
          <a:srcRect b="33692" l="30039" r="61639" t="19005"/>
          <a:stretch/>
        </p:blipFill>
        <p:spPr>
          <a:xfrm flipH="1" rot="-5400000">
            <a:off x="3169087" y="-1677137"/>
            <a:ext cx="2611450" cy="832337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g17af0ecd6e4_0_46"/>
          <p:cNvSpPr txBox="1"/>
          <p:nvPr>
            <p:ph idx="1" type="body"/>
          </p:nvPr>
        </p:nvSpPr>
        <p:spPr>
          <a:xfrm>
            <a:off x="378375" y="3891650"/>
            <a:ext cx="1724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Original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1" name="Google Shape;121;g17af0ecd6e4_0_46"/>
          <p:cNvSpPr txBox="1"/>
          <p:nvPr>
            <p:ph idx="1" type="body"/>
          </p:nvPr>
        </p:nvSpPr>
        <p:spPr>
          <a:xfrm>
            <a:off x="2382000" y="3891650"/>
            <a:ext cx="1998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Color distance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2" name="Google Shape;122;g17af0ecd6e4_0_46"/>
          <p:cNvSpPr txBox="1"/>
          <p:nvPr>
            <p:ph idx="1" type="body"/>
          </p:nvPr>
        </p:nvSpPr>
        <p:spPr>
          <a:xfrm>
            <a:off x="4566425" y="3891650"/>
            <a:ext cx="1998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Thresholding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3" name="Google Shape;123;g17af0ecd6e4_0_46"/>
          <p:cNvSpPr txBox="1"/>
          <p:nvPr>
            <p:ph idx="1" type="body"/>
          </p:nvPr>
        </p:nvSpPr>
        <p:spPr>
          <a:xfrm>
            <a:off x="6750850" y="3891650"/>
            <a:ext cx="1998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Grayscale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7af0ecd6e4_0_57"/>
          <p:cNvSpPr txBox="1"/>
          <p:nvPr>
            <p:ph type="title"/>
          </p:nvPr>
        </p:nvSpPr>
        <p:spPr>
          <a:xfrm>
            <a:off x="313119" y="440175"/>
            <a:ext cx="7466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Classificador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9" name="Google Shape;129;g17af0ecd6e4_0_57"/>
          <p:cNvSpPr txBox="1"/>
          <p:nvPr>
            <p:ph idx="1" type="body"/>
          </p:nvPr>
        </p:nvSpPr>
        <p:spPr>
          <a:xfrm>
            <a:off x="378375" y="1177025"/>
            <a:ext cx="8504400" cy="287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16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O classificador utiliza uma </a:t>
            </a:r>
            <a:r>
              <a:rPr b="1" lang="pt-BR" sz="2200">
                <a:latin typeface="Helvetica Neue"/>
                <a:ea typeface="Helvetica Neue"/>
                <a:cs typeface="Helvetica Neue"/>
                <a:sym typeface="Helvetica Neue"/>
              </a:rPr>
              <a:t>Support Vector Machine (SVM)</a:t>
            </a: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, que é um modelo supervisionado de aprendizado de máquina;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16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O treinamento é feito sobre um conjunto de imagens pertencentes a </a:t>
            </a:r>
            <a:r>
              <a:rPr b="1" lang="pt-BR" sz="2200">
                <a:latin typeface="Helvetica Neue"/>
                <a:ea typeface="Helvetica Neue"/>
                <a:cs typeface="Helvetica Neue"/>
                <a:sym typeface="Helvetica Neue"/>
              </a:rPr>
              <a:t>categorias bem definidas</a:t>
            </a: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;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7477C"/>
              </a:buClr>
              <a:buSzPts val="1600"/>
              <a:buChar char="•"/>
            </a:pPr>
            <a:r>
              <a:rPr lang="pt-BR" sz="2200">
                <a:latin typeface="Helvetica Neue"/>
                <a:ea typeface="Helvetica Neue"/>
                <a:cs typeface="Helvetica Neue"/>
                <a:sym typeface="Helvetica Neue"/>
              </a:rPr>
              <a:t>O algoritmo constrói um modelo a partir do treinamento e passa a conseguir categorizar novas imagens.</a:t>
            </a:r>
            <a:endParaRPr sz="220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17af0ecd6e4_0_67"/>
          <p:cNvSpPr txBox="1"/>
          <p:nvPr>
            <p:ph type="title"/>
          </p:nvPr>
        </p:nvSpPr>
        <p:spPr>
          <a:xfrm>
            <a:off x="313119" y="440175"/>
            <a:ext cx="7466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Classificador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35" name="Google Shape;135;g17af0ecd6e4_0_67"/>
          <p:cNvPicPr preferRelativeResize="0"/>
          <p:nvPr/>
        </p:nvPicPr>
        <p:blipFill rotWithShape="1">
          <a:blip r:embed="rId3">
            <a:alphaModFix/>
          </a:blip>
          <a:srcRect b="32574" l="70655" r="8516" t="41486"/>
          <a:stretch/>
        </p:blipFill>
        <p:spPr>
          <a:xfrm>
            <a:off x="1999875" y="1028000"/>
            <a:ext cx="5144251" cy="360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13a301ddb93_0_7"/>
          <p:cNvSpPr txBox="1"/>
          <p:nvPr>
            <p:ph type="title"/>
          </p:nvPr>
        </p:nvSpPr>
        <p:spPr>
          <a:xfrm>
            <a:off x="313119" y="440175"/>
            <a:ext cx="7529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>
                <a:latin typeface="Helvetica Neue"/>
                <a:ea typeface="Helvetica Neue"/>
                <a:cs typeface="Helvetica Neue"/>
                <a:sym typeface="Helvetica Neue"/>
              </a:rPr>
              <a:t>Referências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1" name="Google Shape;141;g13a301ddb93_0_7"/>
          <p:cNvSpPr txBox="1"/>
          <p:nvPr>
            <p:ph idx="1" type="body"/>
          </p:nvPr>
        </p:nvSpPr>
        <p:spPr>
          <a:xfrm>
            <a:off x="378458" y="1080908"/>
            <a:ext cx="8387100" cy="321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HU, M-K. </a:t>
            </a:r>
            <a:r>
              <a:rPr b="1"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Visual Pattern Recognition by Moment Invariants</a:t>
            </a:r>
            <a:r>
              <a:rPr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. Tese (Mestrado em Engenharia Elétrica). Disponível em: &lt;http://www.sci.utah.edu/~gerig/CS7960-S2010/handouts/Hu.pdf&gt;. Acesso em 30 out. 2022.</a:t>
            </a:r>
            <a:endParaRPr sz="13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MALLICK, S. </a:t>
            </a:r>
            <a:r>
              <a:rPr b="1"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Image Recognition and Object Detection</a:t>
            </a:r>
            <a:r>
              <a:rPr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. 2016. Disponível em: &lt;https://learnopencv.com/image-recognition-and-object-detection-part1/&gt;. Acesso em 30 out. 2022.</a:t>
            </a:r>
            <a:endParaRPr sz="13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PEER, P., KOVAC, J., SOLINA, F. </a:t>
            </a:r>
            <a:r>
              <a:rPr b="1"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Human Skin Colour Clustering for Face Detection</a:t>
            </a:r>
            <a:r>
              <a:rPr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. Disponível em: &lt;https://tinyurl.com/46zhh7j7/&gt;. Acesso em 30 out. 2022.</a:t>
            </a:r>
            <a:endParaRPr sz="13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RIBEIRO, H. L. </a:t>
            </a:r>
            <a:r>
              <a:rPr b="1"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Reconhecimento de gestos usando segmentação de imagens dinâmicas de mãos baseada no modelo de mistura de gaussianas e cor de pele</a:t>
            </a:r>
            <a:r>
              <a:rPr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. Tese (Mestrado em Engenharia Elétrica) – Escola de Engenharia de São Carlos, Universidade de São Paulo. São Carlos, 2006.</a:t>
            </a:r>
            <a:endParaRPr sz="13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TERREAULT, J. B. </a:t>
            </a:r>
            <a:r>
              <a:rPr b="1"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RPS-CV</a:t>
            </a:r>
            <a:r>
              <a:rPr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. Disponível em: &lt;https://github.com/DrGFreeman/rps-cv&gt;. Acesso em 30 out. 2022.</a:t>
            </a:r>
            <a:br>
              <a:rPr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MATHWORKS. </a:t>
            </a:r>
            <a:r>
              <a:rPr b="1"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What Is Image Recognition? 3 things you need to know</a:t>
            </a:r>
            <a:r>
              <a:rPr lang="pt-BR" sz="13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. Disponível em: &lt;https://www.mathworks.com/discovery/image-recognition-matlab.html&gt;. Acesso em 1 nov. 2022.</a:t>
            </a:r>
            <a:endParaRPr sz="13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17af0ecd6e4_0_0"/>
          <p:cNvSpPr txBox="1"/>
          <p:nvPr/>
        </p:nvSpPr>
        <p:spPr>
          <a:xfrm>
            <a:off x="1965425" y="787975"/>
            <a:ext cx="51771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rgbClr val="05356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Universidade do Vale do Itajaí</a:t>
            </a:r>
            <a:endParaRPr b="0" i="0" sz="10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rgbClr val="05356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Escola do Mar, Ciência e Tecnologia - EMCT</a:t>
            </a:r>
            <a:endParaRPr b="0" i="0" sz="10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rgbClr val="05356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Ciência da Computação</a:t>
            </a:r>
            <a:endParaRPr b="0" i="0" sz="10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7" name="Google Shape;147;g17af0ecd6e4_0_0"/>
          <p:cNvSpPr/>
          <p:nvPr/>
        </p:nvSpPr>
        <p:spPr>
          <a:xfrm>
            <a:off x="1080516" y="4788408"/>
            <a:ext cx="6946900" cy="192404"/>
          </a:xfrm>
          <a:custGeom>
            <a:rect b="b" l="l" r="r" t="t"/>
            <a:pathLst>
              <a:path extrusionOk="0" h="192404" w="6946900">
                <a:moveTo>
                  <a:pt x="0" y="192023"/>
                </a:moveTo>
                <a:lnTo>
                  <a:pt x="6946392" y="192023"/>
                </a:lnTo>
                <a:lnTo>
                  <a:pt x="6946392" y="0"/>
                </a:lnTo>
                <a:lnTo>
                  <a:pt x="0" y="0"/>
                </a:lnTo>
                <a:lnTo>
                  <a:pt x="0" y="192023"/>
                </a:lnTo>
                <a:close/>
              </a:path>
            </a:pathLst>
          </a:custGeom>
          <a:solidFill>
            <a:srgbClr val="07477C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g17af0ecd6e4_0_0"/>
          <p:cNvSpPr txBox="1"/>
          <p:nvPr/>
        </p:nvSpPr>
        <p:spPr>
          <a:xfrm>
            <a:off x="1080516" y="1841700"/>
            <a:ext cx="6946800" cy="9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lang="pt-BR" sz="2800">
                <a:solidFill>
                  <a:srgbClr val="07477C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RECONHECIMENTO DE IMAGENS:</a:t>
            </a:r>
            <a:endParaRPr b="1" sz="2800">
              <a:solidFill>
                <a:srgbClr val="07477C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lang="pt-BR" sz="2800">
                <a:solidFill>
                  <a:srgbClr val="07477C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ROCK PAPER SCISSORS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g17af0ecd6e4_0_0"/>
          <p:cNvSpPr txBox="1"/>
          <p:nvPr/>
        </p:nvSpPr>
        <p:spPr>
          <a:xfrm>
            <a:off x="1080516" y="3562350"/>
            <a:ext cx="6946800" cy="8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rgbClr val="07477C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Caio Gonzaga Bernils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2700" marR="0" rt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rgbClr val="07477C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Gustavo Henrique Stahl Müller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2700" marR="0" rt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rgbClr val="07477C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Paulo Henrique Rohling</a:t>
            </a:r>
            <a:endParaRPr b="0" i="0" sz="1800" u="none" cap="none" strike="noStrike">
              <a:solidFill>
                <a:srgbClr val="07477C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2019-04-07T19:13:44Z</dcterms:created>
  <dc:creator>Paulo Henrique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2019-04-01T00:00:00Z</vt:filetime>
  </property>
  <property fmtid="{D5CDD505-2E9C-101B-9397-08002B2CF9AE}" pid="3" name="Creator">
    <vt:lpwstr>Microsoft® PowerPoint® para Office 365</vt:lpwstr>
  </property>
  <property fmtid="{D5CDD505-2E9C-101B-9397-08002B2CF9AE}" pid="4" name="LastSaved">
    <vt:filetime>2019-04-07T00:00:00Z</vt:filetime>
  </property>
</Properties>
</file>
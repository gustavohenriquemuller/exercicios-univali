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9144000" cy="5143500"/>
  <p:embeddedFontLst>
    <p:embeddedFont>
      <p:font typeface="Helvetica Neue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vAZqt5DgQgj2RQa7bXZ07IZiJ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12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50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4d8db2236_2_0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124d8db223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6722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6602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4b3f04f266_1_13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g14b3f04f266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9472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b3f04f266_1_21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g14b3f04f266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2372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7af0ecd6e4_0_25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g17af0ecd6e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7232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7af0ecd6e4_0_10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g17af0ecd6e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0355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7af0ecd6e4_0_33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17af0ecd6e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6468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7af0ecd6e4_0_15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17af0ecd6e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141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7af0ecd6e4_0_38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g17af0ecd6e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826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7af0ecd6e4_0_46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17af0ecd6e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7721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7af0ecd6e4_0_57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7af0ecd6e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45038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7af0ecd6e4_0_67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g17af0ecd6e4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0355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a301ddb93_0_7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13a301ddb9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1795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7af0ecd6e4_0_0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17af0ecd6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880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 extrusionOk="0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 extrusionOk="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w="19800" cap="flat" cmpd="sng">
            <a:solidFill>
              <a:srgbClr val="0747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 extrusionOk="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w="19800" cap="flat" cmpd="sng">
            <a:solidFill>
              <a:srgbClr val="0747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 extrusionOk="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w="19800" cap="flat" cmpd="sng">
            <a:solidFill>
              <a:srgbClr val="0747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 extrusionOk="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 extrusionOk="0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 extrusionOk="0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 extrusionOk="0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 extrusionOk="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4d8db2236_2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sz="1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sz="1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sz="1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g124d8db2236_2_0"/>
          <p:cNvSpPr/>
          <p:nvPr/>
        </p:nvSpPr>
        <p:spPr>
          <a:xfrm>
            <a:off x="1080516" y="4788408"/>
            <a:ext cx="6946900" cy="192404"/>
          </a:xfrm>
          <a:custGeom>
            <a:avLst/>
            <a:gdLst/>
            <a:ahLst/>
            <a:cxnLst/>
            <a:rect l="l" t="t" r="r" b="b"/>
            <a:pathLst>
              <a:path w="6946900" h="192404" extrusionOk="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24d8db2236_2_0"/>
          <p:cNvSpPr txBox="1"/>
          <p:nvPr/>
        </p:nvSpPr>
        <p:spPr>
          <a:xfrm>
            <a:off x="1080516" y="1841700"/>
            <a:ext cx="69468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2800" b="1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RECONHECIMENTO DE IMAGENS:</a:t>
            </a:r>
            <a:endParaRPr sz="2800" b="1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2800" b="1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ROCK PAPER SCISSORS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124d8db2236_2_0"/>
          <p:cNvSpPr txBox="1"/>
          <p:nvPr/>
        </p:nvSpPr>
        <p:spPr>
          <a:xfrm>
            <a:off x="1080516" y="3562350"/>
            <a:ext cx="69468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Caio Gonzaga Bernils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sz="1800" b="0" i="0" u="none" strike="noStrike" cap="non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Sumário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2"/>
          <p:cNvSpPr txBox="1">
            <a:spLocks noGrp="1"/>
          </p:cNvSpPr>
          <p:nvPr>
            <p:ph type="body" idx="1"/>
          </p:nvPr>
        </p:nvSpPr>
        <p:spPr>
          <a:xfrm>
            <a:off x="378375" y="1159450"/>
            <a:ext cx="64848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Apresentação do tema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Aplicação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Pipeline de pré-processamento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Classificador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b3f04f266_1_13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Apresentação do tema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g14b3f04f266_1_13"/>
          <p:cNvSpPr txBox="1">
            <a:spLocks noGrp="1"/>
          </p:cNvSpPr>
          <p:nvPr>
            <p:ph type="body" idx="1"/>
          </p:nvPr>
        </p:nvSpPr>
        <p:spPr>
          <a:xfrm>
            <a:off x="378375" y="1088825"/>
            <a:ext cx="85044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Reconhecimento de imagens</a:t>
            </a:r>
            <a:endParaRPr sz="22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É o processo de identificação de objetos e características em uma imagem ou vídeo;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Pode acelerar tarefas de maneira mais rápida e precisa do que inspeção manual.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b3f04f266_1_21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Aplicação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g14b3f04f266_1_21"/>
          <p:cNvSpPr txBox="1">
            <a:spLocks noGrp="1"/>
          </p:cNvSpPr>
          <p:nvPr>
            <p:ph type="body" idx="1"/>
          </p:nvPr>
        </p:nvSpPr>
        <p:spPr>
          <a:xfrm>
            <a:off x="378375" y="1177025"/>
            <a:ext cx="85044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A aplicação escolhida é um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jogo de pedra, papel e tesoura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 que utiliza reconhecimento de imagem para identificar os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gestos 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presentes no jogo, que é executado em um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Raspberry Pi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7af0ecd6e4_0_25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Aplicação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5" name="Google Shape;85;g17af0ecd6e4_0_25"/>
          <p:cNvPicPr preferRelativeResize="0"/>
          <p:nvPr/>
        </p:nvPicPr>
        <p:blipFill rotWithShape="1">
          <a:blip r:embed="rId3">
            <a:alphaModFix/>
          </a:blip>
          <a:srcRect b="1302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7af0ecd6e4_0_10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Aplicação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17af0ecd6e4_0_10"/>
          <p:cNvSpPr txBox="1">
            <a:spLocks noGrp="1"/>
          </p:cNvSpPr>
          <p:nvPr>
            <p:ph type="body" idx="1"/>
          </p:nvPr>
        </p:nvSpPr>
        <p:spPr>
          <a:xfrm>
            <a:off x="378375" y="1177025"/>
            <a:ext cx="85044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b="1" dirty="0">
                <a:latin typeface="Helvetica Neue"/>
                <a:ea typeface="Helvetica Neue"/>
                <a:cs typeface="Helvetica Neue"/>
                <a:sym typeface="Helvetica Neue"/>
              </a:rPr>
              <a:t>OBJETIVO</a:t>
            </a:r>
            <a:endParaRPr sz="18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Seu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objetivo 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é realizar uma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aplicação primordial de identificação de gestos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 com base em um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treinamento prévio.</a:t>
            </a:r>
            <a:endParaRPr sz="22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5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800" b="1" dirty="0">
                <a:latin typeface="Helvetica Neue"/>
                <a:ea typeface="Helvetica Neue"/>
                <a:cs typeface="Helvetica Neue"/>
                <a:sym typeface="Helvetica Neue"/>
              </a:rPr>
              <a:t>BENEFÍCIO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A construção deste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classificador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, apesar de ser simples, é um bom primeiro passo para desenvolver classificadores mais complexos, como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reconhecedores de gestos de libras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7af0ecd6e4_0_33"/>
          <p:cNvSpPr txBox="1">
            <a:spLocks noGrp="1"/>
          </p:cNvSpPr>
          <p:nvPr>
            <p:ph type="body" idx="1"/>
          </p:nvPr>
        </p:nvSpPr>
        <p:spPr>
          <a:xfrm>
            <a:off x="378375" y="1177025"/>
            <a:ext cx="85044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Foram registradas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2188 imagens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 (726 pedras, 710 papéis e 752 tesouras);</a:t>
            </a:r>
            <a:endParaRPr sz="5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As imagens foram registradas no formato 300x200 com um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fundo verde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 e iluminação consistente;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As imagens foram anotadas através do </a:t>
            </a:r>
            <a:r>
              <a:rPr lang="pt-BR" sz="2200" b="1" dirty="0">
                <a:latin typeface="Helvetica Neue"/>
                <a:ea typeface="Helvetica Neue"/>
                <a:cs typeface="Helvetica Neue"/>
                <a:sym typeface="Helvetica Neue"/>
              </a:rPr>
              <a:t>LabelMe</a:t>
            </a:r>
            <a:r>
              <a:rPr lang="pt-BR" sz="2200" dirty="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17af0ecd6e4_0_33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7af0ecd6e4_0_15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3" name="Google Shape;103;g17af0ecd6e4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25" y="1102900"/>
            <a:ext cx="2199400" cy="34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17af0ecd6e4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2604" y="1102900"/>
            <a:ext cx="1907997" cy="34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17af0ecd6e4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0670" y="1102900"/>
            <a:ext cx="1817805" cy="34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17af0ecd6e4_0_15"/>
          <p:cNvPicPr preferRelativeResize="0"/>
          <p:nvPr/>
        </p:nvPicPr>
        <p:blipFill rotWithShape="1">
          <a:blip r:embed="rId6">
            <a:alphaModFix/>
          </a:blip>
          <a:srcRect b="11559"/>
          <a:stretch/>
        </p:blipFill>
        <p:spPr>
          <a:xfrm rot="5400000">
            <a:off x="6127525" y="1813925"/>
            <a:ext cx="3465250" cy="20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7af0ecd6e4_0_38"/>
          <p:cNvSpPr txBox="1">
            <a:spLocks noGrp="1"/>
          </p:cNvSpPr>
          <p:nvPr>
            <p:ph type="body" idx="1"/>
          </p:nvPr>
        </p:nvSpPr>
        <p:spPr>
          <a:xfrm>
            <a:off x="378375" y="1177025"/>
            <a:ext cx="8504400" cy="28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OpenCV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Python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Numpy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Scikit-Learn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Scikit-Image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Pygame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g17af0ecd6e4_0_38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3" name="Google Shape;113;g17af0ecd6e4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575" y="994275"/>
            <a:ext cx="4336300" cy="34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7af0ecd6e4_0_46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Pipeline de pré-processamento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9" name="Google Shape;119;g17af0ecd6e4_0_46"/>
          <p:cNvPicPr preferRelativeResize="0"/>
          <p:nvPr/>
        </p:nvPicPr>
        <p:blipFill rotWithShape="1">
          <a:blip r:embed="rId3">
            <a:alphaModFix/>
          </a:blip>
          <a:srcRect l="30039" t="19005" r="61639" b="33692"/>
          <a:stretch/>
        </p:blipFill>
        <p:spPr>
          <a:xfrm rot="-5400000" flipH="1">
            <a:off x="3169087" y="-1677137"/>
            <a:ext cx="2611450" cy="83233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17af0ecd6e4_0_46"/>
          <p:cNvSpPr txBox="1">
            <a:spLocks noGrp="1"/>
          </p:cNvSpPr>
          <p:nvPr>
            <p:ph type="body" idx="1"/>
          </p:nvPr>
        </p:nvSpPr>
        <p:spPr>
          <a:xfrm>
            <a:off x="378375" y="3891650"/>
            <a:ext cx="172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Original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17af0ecd6e4_0_46"/>
          <p:cNvSpPr txBox="1">
            <a:spLocks noGrp="1"/>
          </p:cNvSpPr>
          <p:nvPr>
            <p:ph type="body" idx="1"/>
          </p:nvPr>
        </p:nvSpPr>
        <p:spPr>
          <a:xfrm>
            <a:off x="2382000" y="3891650"/>
            <a:ext cx="199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Color distance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g17af0ecd6e4_0_46"/>
          <p:cNvSpPr txBox="1">
            <a:spLocks noGrp="1"/>
          </p:cNvSpPr>
          <p:nvPr>
            <p:ph type="body" idx="1"/>
          </p:nvPr>
        </p:nvSpPr>
        <p:spPr>
          <a:xfrm>
            <a:off x="4566425" y="3891650"/>
            <a:ext cx="199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Thresholding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g17af0ecd6e4_0_46"/>
          <p:cNvSpPr txBox="1">
            <a:spLocks noGrp="1"/>
          </p:cNvSpPr>
          <p:nvPr>
            <p:ph type="body" idx="1"/>
          </p:nvPr>
        </p:nvSpPr>
        <p:spPr>
          <a:xfrm>
            <a:off x="6750850" y="3891650"/>
            <a:ext cx="199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Grayscale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7af0ecd6e4_0_57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Classificador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17af0ecd6e4_0_57"/>
          <p:cNvSpPr txBox="1">
            <a:spLocks noGrp="1"/>
          </p:cNvSpPr>
          <p:nvPr>
            <p:ph type="body" idx="1"/>
          </p:nvPr>
        </p:nvSpPr>
        <p:spPr>
          <a:xfrm>
            <a:off x="378375" y="1177025"/>
            <a:ext cx="8504400" cy="28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classificador utiliza uma </a:t>
            </a:r>
            <a:r>
              <a:rPr lang="pt-BR" sz="2200" b="1">
                <a:latin typeface="Helvetica Neue"/>
                <a:ea typeface="Helvetica Neue"/>
                <a:cs typeface="Helvetica Neue"/>
                <a:sym typeface="Helvetica Neue"/>
              </a:rPr>
              <a:t>Support Vector Machine (SVM)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, que é um modelo supervisionado de aprendizado de máquina;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treinamento é feito sobre um conjunto de imagens pertencentes a </a:t>
            </a:r>
            <a:r>
              <a:rPr lang="pt-BR" sz="2200" b="1">
                <a:latin typeface="Helvetica Neue"/>
                <a:ea typeface="Helvetica Neue"/>
                <a:cs typeface="Helvetica Neue"/>
                <a:sym typeface="Helvetica Neue"/>
              </a:rPr>
              <a:t>categorias bem definidas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algoritmo constrói um modelo a partir do treinamento e passa a conseguir categorizar novas imagens.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7af0ecd6e4_0_67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Classificador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5" name="Google Shape;135;g17af0ecd6e4_0_67"/>
          <p:cNvPicPr preferRelativeResize="0"/>
          <p:nvPr/>
        </p:nvPicPr>
        <p:blipFill rotWithShape="1">
          <a:blip r:embed="rId3">
            <a:alphaModFix/>
          </a:blip>
          <a:srcRect l="70655" t="41486" r="8516" b="32574"/>
          <a:stretch/>
        </p:blipFill>
        <p:spPr>
          <a:xfrm>
            <a:off x="1999875" y="1028000"/>
            <a:ext cx="5144251" cy="36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3a301ddb93_0_7"/>
          <p:cNvSpPr txBox="1">
            <a:spLocks noGrp="1"/>
          </p:cNvSpPr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13a301ddb93_0_7"/>
          <p:cNvSpPr txBox="1">
            <a:spLocks noGrp="1"/>
          </p:cNvSpPr>
          <p:nvPr>
            <p:ph type="body" idx="1"/>
          </p:nvPr>
        </p:nvSpPr>
        <p:spPr>
          <a:xfrm>
            <a:off x="378458" y="1080908"/>
            <a:ext cx="8387100" cy="3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HU, M-K. </a:t>
            </a:r>
            <a:r>
              <a:rPr lang="pt-BR" sz="13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Visual Pattern Recognition by Moment Invariants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Tese (Mestrado em Engenharia Elétrica). Disponível em: &lt;http://www.sci.utah.edu/~gerig/CS7960-S2010/handouts/Hu.pdf&gt;. Acesso em 30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MALLICK, S. </a:t>
            </a:r>
            <a:r>
              <a:rPr lang="pt-BR" sz="13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Image Recognition and Object Detection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2016. Disponível em: &lt;https://learnopencv.com/image-recognition-and-object-detection-part1/&gt;. Acesso em 30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PEER, P., KOVAC, J., SOLINA, F. </a:t>
            </a:r>
            <a:r>
              <a:rPr lang="pt-BR" sz="13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Human Skin Colour Clustering for Face Detection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&lt;https://tinyurl.com/46zhh7j7/&gt;. Acesso em 30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RIBEIRO, H. L. </a:t>
            </a:r>
            <a:r>
              <a:rPr lang="pt-BR" sz="13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Reconhecimento de gestos usando segmentação de imagens dinâmicas de mãos baseada no modelo de mistura de gaussianas e cor de pele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Tese (Mestrado em Engenharia Elétrica) – Escola de Engenharia de São Carlos, Universidade de São Paulo. São Carlos, 2006.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TERREAULT, J. B. </a:t>
            </a:r>
            <a:r>
              <a:rPr lang="pt-BR" sz="13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RPS-CV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&lt;https://github.com/DrGFreeman/rps-cv&gt;. Acesso em 30 out. 2022.</a:t>
            </a:r>
            <a:b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MATHWORKS. </a:t>
            </a:r>
            <a:r>
              <a:rPr lang="pt-BR" sz="13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Image Recognition? 3 things you need to know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&lt;https://www.mathworks.com/discovery/image-recognition-matlab.html&gt;. Acesso em 1 nov.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7af0ecd6e4_0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sz="1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sz="1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sz="1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g17af0ecd6e4_0_0"/>
          <p:cNvSpPr/>
          <p:nvPr/>
        </p:nvSpPr>
        <p:spPr>
          <a:xfrm>
            <a:off x="1080516" y="4788408"/>
            <a:ext cx="6946900" cy="192404"/>
          </a:xfrm>
          <a:custGeom>
            <a:avLst/>
            <a:gdLst/>
            <a:ahLst/>
            <a:cxnLst/>
            <a:rect l="l" t="t" r="r" b="b"/>
            <a:pathLst>
              <a:path w="6946900" h="192404" extrusionOk="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7af0ecd6e4_0_0"/>
          <p:cNvSpPr txBox="1"/>
          <p:nvPr/>
        </p:nvSpPr>
        <p:spPr>
          <a:xfrm>
            <a:off x="1080516" y="1841700"/>
            <a:ext cx="69468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2800" b="1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RECONHECIMENTO DE IMAGENS:</a:t>
            </a:r>
            <a:endParaRPr sz="2800" b="1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2800" b="1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ROCK PAPER SCISSORS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7af0ecd6e4_0_0"/>
          <p:cNvSpPr txBox="1"/>
          <p:nvPr/>
        </p:nvSpPr>
        <p:spPr>
          <a:xfrm>
            <a:off x="1080516" y="3562350"/>
            <a:ext cx="69468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Caio Gonzaga Bernils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sz="1800" b="0" i="0" u="none" strike="noStrike" cap="non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On-screen Show (16:9)</PresentationFormat>
  <Paragraphs>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Helvetica Neue</vt:lpstr>
      <vt:lpstr>Calibri</vt:lpstr>
      <vt:lpstr>Arial</vt:lpstr>
      <vt:lpstr>Office Theme</vt:lpstr>
      <vt:lpstr>PowerPoint Presentation</vt:lpstr>
      <vt:lpstr>Sumário</vt:lpstr>
      <vt:lpstr>Apresentação do tema</vt:lpstr>
      <vt:lpstr>Aplicação</vt:lpstr>
      <vt:lpstr>Aplicação</vt:lpstr>
      <vt:lpstr>Aplicação</vt:lpstr>
      <vt:lpstr>Treinamento</vt:lpstr>
      <vt:lpstr>Treinamento</vt:lpstr>
      <vt:lpstr>Treinamento</vt:lpstr>
      <vt:lpstr>Pipeline de pré-processamento</vt:lpstr>
      <vt:lpstr>Classificador</vt:lpstr>
      <vt:lpstr>Classificador</vt:lpstr>
      <vt:lpstr>Referências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Paulo Henrique</dc:creator>
  <cp:lastModifiedBy>Gustavo Stahl Müller</cp:lastModifiedBy>
  <cp:revision>1</cp:revision>
  <dcterms:created xsi:type="dcterms:W3CDTF">2019-04-07T19:13:44Z</dcterms:created>
  <dcterms:modified xsi:type="dcterms:W3CDTF">2022-12-06T04:16:17Z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
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9144000" cy="5143500"/>
  <p:embeddedFontLst>
    <p:embeddedFont>
      <p:font typeface="Helvetica Neue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1" roundtripDataSignature="AMtx7mjUsHmkeRuofza7Y68zWf672wN3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24d8db2236_2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g124d8db2236_2_0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aa613e99be_4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g1aa613e99be_4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aa5b2524e2_1_14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1aa5b2524e2_1_14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aa5b2524e2_1_14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1aa5b2524e2_1_14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aa5b2524e2_1_15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1aa5b2524e2_1_15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aa5b2524e2_1_164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1aa5b2524e2_1_164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aa5b2524e2_1_99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g1aa5b2524e2_1_99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aa5b2524e2_1_106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1aa5b2524e2_1_106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aa5b2524e2_1_113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1aa5b2524e2_1_113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aa5b2524e2_1_12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1aa5b2524e2_1_12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aa5b2524e2_1_12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1aa5b2524e2_1_12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aa286ceba2_0_2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1aa286ceba2_0_2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aa286ceba2_0_12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1aa286ceba2_0_12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aa286ceba2_0_33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1aa286ceba2_0_33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aa286ceba2_0_4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1aa286ceba2_0_4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aa286ceba2_0_5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g1aa286ceba2_0_5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21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22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/>
          <p:nvPr/>
        </p:nvSpPr>
        <p:spPr>
          <a:xfrm>
            <a:off x="1117091" y="541019"/>
            <a:ext cx="6910070" cy="192405"/>
          </a:xfrm>
          <a:custGeom>
            <a:rect b="b" l="l" r="r" t="t"/>
            <a:pathLst>
              <a:path extrusionOk="0" h="192404" w="6910070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9"/>
          <p:cNvSpPr/>
          <p:nvPr/>
        </p:nvSpPr>
        <p:spPr>
          <a:xfrm>
            <a:off x="1081277" y="1319022"/>
            <a:ext cx="6898005" cy="3810"/>
          </a:xfrm>
          <a:custGeom>
            <a:rect b="b" l="l" r="r" t="t"/>
            <a:pathLst>
              <a:path extrusionOk="0" h="3809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9"/>
          <p:cNvSpPr/>
          <p:nvPr/>
        </p:nvSpPr>
        <p:spPr>
          <a:xfrm>
            <a:off x="1081277" y="4671821"/>
            <a:ext cx="6898005" cy="3810"/>
          </a:xfrm>
          <a:custGeom>
            <a:rect b="b" l="l" r="r" t="t"/>
            <a:pathLst>
              <a:path extrusionOk="0" h="3810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9"/>
          <p:cNvSpPr/>
          <p:nvPr/>
        </p:nvSpPr>
        <p:spPr>
          <a:xfrm>
            <a:off x="1081277" y="3300221"/>
            <a:ext cx="6898005" cy="3810"/>
          </a:xfrm>
          <a:custGeom>
            <a:rect b="b" l="l" r="r" t="t"/>
            <a:pathLst>
              <a:path extrusionOk="0" h="3810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9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9144000" cy="386080"/>
          </a:xfrm>
          <a:custGeom>
            <a:rect b="b" l="l" r="r" t="t"/>
            <a:pathLst>
              <a:path extrusionOk="0" h="386080" w="914400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8740140" y="4757927"/>
            <a:ext cx="403860" cy="386080"/>
          </a:xfrm>
          <a:custGeom>
            <a:rect b="b" l="l" r="r" t="t"/>
            <a:pathLst>
              <a:path extrusionOk="0" h="386079" w="40385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"/>
          <p:cNvSpPr/>
          <p:nvPr/>
        </p:nvSpPr>
        <p:spPr>
          <a:xfrm>
            <a:off x="0" y="4757927"/>
            <a:ext cx="402590" cy="386080"/>
          </a:xfrm>
          <a:custGeom>
            <a:rect b="b" l="l" r="r" t="t"/>
            <a:pathLst>
              <a:path extrusionOk="0" h="386079" w="402590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"/>
          <p:cNvSpPr/>
          <p:nvPr/>
        </p:nvSpPr>
        <p:spPr>
          <a:xfrm>
            <a:off x="402336" y="4757927"/>
            <a:ext cx="8338184" cy="386080"/>
          </a:xfrm>
          <a:custGeom>
            <a:rect b="b" l="l" r="r" t="t"/>
            <a:pathLst>
              <a:path extrusionOk="0" h="386079" w="8338184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8"/>
          <p:cNvSpPr/>
          <p:nvPr/>
        </p:nvSpPr>
        <p:spPr>
          <a:xfrm>
            <a:off x="8170164" y="45719"/>
            <a:ext cx="974090" cy="1012190"/>
          </a:xfrm>
          <a:custGeom>
            <a:rect b="b" l="l" r="r" t="t"/>
            <a:pathLst>
              <a:path extrusionOk="0" h="1012190" w="9740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8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8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8"/>
          <p:cNvSpPr txBox="1"/>
          <p:nvPr>
            <p:ph idx="1" type="body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4d8db2236_2_0"/>
          <p:cNvSpPr txBox="1"/>
          <p:nvPr/>
        </p:nvSpPr>
        <p:spPr>
          <a:xfrm>
            <a:off x="1965425" y="787975"/>
            <a:ext cx="5177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do Mar, Ciência e Tecnologia - EMCT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g124d8db2236_2_0"/>
          <p:cNvSpPr/>
          <p:nvPr/>
        </p:nvSpPr>
        <p:spPr>
          <a:xfrm>
            <a:off x="1080516" y="4788408"/>
            <a:ext cx="6946900" cy="192404"/>
          </a:xfrm>
          <a:custGeom>
            <a:rect b="b" l="l" r="r" t="t"/>
            <a:pathLst>
              <a:path extrusionOk="0" h="192404" w="694690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124d8db2236_2_0"/>
          <p:cNvSpPr txBox="1"/>
          <p:nvPr/>
        </p:nvSpPr>
        <p:spPr>
          <a:xfrm>
            <a:off x="1080516" y="1777341"/>
            <a:ext cx="6946800" cy="1003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RECONHECIMENTO DE IMAGENS: ROCK PAPER SCISSORS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124d8db2236_2_0"/>
          <p:cNvSpPr txBox="1"/>
          <p:nvPr/>
        </p:nvSpPr>
        <p:spPr>
          <a:xfrm>
            <a:off x="1080516" y="3562350"/>
            <a:ext cx="6946800" cy="843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/>
          </a:p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/>
          </a:p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Caio Gonzaga Bernils</a:t>
            </a:r>
            <a:endParaRPr b="0" i="0" sz="12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g124d8db2236_2_0"/>
          <p:cNvSpPr txBox="1"/>
          <p:nvPr>
            <p:ph idx="12" type="sldNum"/>
          </p:nvPr>
        </p:nvSpPr>
        <p:spPr>
          <a:xfrm>
            <a:off x="6616572" y="4812748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Índice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p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9" name="Google Shape;69;p1"/>
          <p:cNvSpPr txBox="1"/>
          <p:nvPr/>
        </p:nvSpPr>
        <p:spPr>
          <a:xfrm>
            <a:off x="313118" y="1137490"/>
            <a:ext cx="73443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00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Aplicação</a:t>
            </a:r>
            <a:endParaRPr b="0" i="0" sz="20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Dataset</a:t>
            </a:r>
            <a:endParaRPr b="0" i="0" sz="20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Helvetica Neue"/>
              <a:buAutoNum type="arabicPeriod"/>
            </a:pP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Pré-processamento</a:t>
            </a:r>
            <a:endParaRPr sz="20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Helvetica Neue"/>
              <a:buAutoNum type="arabicPeriod"/>
            </a:pP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Classificador SVC</a:t>
            </a:r>
            <a:endParaRPr sz="20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000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Treinamento</a:t>
            </a:r>
            <a:endParaRPr sz="2000"/>
          </a:p>
          <a:p>
            <a:pPr indent="-4000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 do treinamento</a:t>
            </a:r>
            <a:endParaRPr sz="2000"/>
          </a:p>
          <a:p>
            <a:pPr indent="-4000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Arial"/>
              <a:buAutoNum type="arabicPeriod"/>
            </a:pPr>
            <a:r>
              <a:rPr b="0"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Demonstração</a:t>
            </a:r>
            <a:endParaRPr sz="2000"/>
          </a:p>
          <a:p>
            <a:pPr indent="-2730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5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Aplicação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313126" y="1137500"/>
            <a:ext cx="8373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•"/>
            </a:pP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aplicação desenvolvida é um jogo de pedra, papel e tesoura que utiliza reconhecimento de imagem para identificar os gestos presentes no jogo.</a:t>
            </a:r>
            <a:endParaRPr sz="16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aa613e99be_4_0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Aplicação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1aa613e99be_4_0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83" name="Google Shape;83;g1aa613e99be_4_0"/>
          <p:cNvSpPr txBox="1"/>
          <p:nvPr/>
        </p:nvSpPr>
        <p:spPr>
          <a:xfrm>
            <a:off x="313126" y="1155175"/>
            <a:ext cx="83736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•"/>
            </a:pP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Foram utilizados:</a:t>
            </a:r>
            <a:endParaRPr sz="20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Helvetica Neue"/>
              <a:buChar char="○"/>
            </a:pP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Python 3.11</a:t>
            </a:r>
            <a:endParaRPr sz="20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Helvetica Neue"/>
              <a:buChar char="○"/>
            </a:pP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Numpy</a:t>
            </a:r>
            <a:endParaRPr sz="20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Helvetica Neue"/>
              <a:buChar char="○"/>
            </a:pP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OpenCV</a:t>
            </a:r>
            <a:endParaRPr sz="20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Helvetica Neue"/>
              <a:buChar char="○"/>
            </a:pP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Pygame</a:t>
            </a:r>
            <a:endParaRPr sz="20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Helvetica Neue"/>
              <a:buChar char="○"/>
            </a:pP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Scikit-learn</a:t>
            </a:r>
            <a:endParaRPr sz="20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4" name="Google Shape;84;g1aa613e99be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2350" y="1155175"/>
            <a:ext cx="4284373" cy="341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Dataset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" name="Google Shape;90;p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313126" y="1137500"/>
            <a:ext cx="8373600" cy="22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700"/>
              <a:buChar char="•"/>
            </a:pPr>
            <a:r>
              <a:rPr b="1"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Rock-Paper-Scissors Images</a:t>
            </a: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disponibilizado no Kaggle;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700"/>
              <a:buChar char="•"/>
            </a:pP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total possui: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163.71 MB de tamanho;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700"/>
              <a:buChar char="○"/>
            </a:pP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2188 imagens (726 pedras, 710 papéis e 752 tesouras);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700"/>
              <a:buChar char="•"/>
            </a:pP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imagens estão em formato </a:t>
            </a:r>
            <a:r>
              <a:rPr b="1"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.png</a:t>
            </a: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com 300x200 de resolução;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700"/>
              <a:buChar char="•"/>
            </a:pP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Todas as imagens possuem um fundo verde com iluminação consistente.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2" name="Google Shape;92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6521" y="3420000"/>
            <a:ext cx="1957717" cy="1305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9700" y="3419997"/>
            <a:ext cx="1957717" cy="1305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9721" y="3420008"/>
            <a:ext cx="1957704" cy="1305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aa5b2524e2_1_141"/>
          <p:cNvSpPr txBox="1"/>
          <p:nvPr>
            <p:ph type="title"/>
          </p:nvPr>
        </p:nvSpPr>
        <p:spPr>
          <a:xfrm>
            <a:off x="313118" y="440175"/>
            <a:ext cx="76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Pré-processamento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g1aa5b2524e2_1_141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1" name="Google Shape;101;g1aa5b2524e2_1_141"/>
          <p:cNvSpPr txBox="1"/>
          <p:nvPr/>
        </p:nvSpPr>
        <p:spPr>
          <a:xfrm>
            <a:off x="313126" y="1137500"/>
            <a:ext cx="8373600" cy="3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Objetivo de melhorar o contraste entre a mão e o fundo da imagem;</a:t>
            </a:r>
            <a:endParaRPr sz="2000"/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Aplicada em cada imagem do dataset;</a:t>
            </a:r>
            <a:endParaRPr sz="2000"/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Dividido em </a:t>
            </a: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0"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etapas:</a:t>
            </a:r>
            <a:endParaRPr b="0" i="0" sz="20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46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Font typeface="Arial"/>
              <a:buAutoNum type="arabicPeriod"/>
            </a:pPr>
            <a:r>
              <a:rPr b="1" i="0" lang="pt-BR" sz="1800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RGB para BGR</a:t>
            </a: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Transforma para BGR (formato usado pelo OpenCV);</a:t>
            </a:r>
            <a:endParaRPr sz="1800"/>
          </a:p>
          <a:p>
            <a:pPr indent="-3746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Font typeface="Arial"/>
              <a:buAutoNum type="arabicPeriod"/>
            </a:pPr>
            <a:r>
              <a:rPr b="1" i="0" lang="pt-BR" sz="1800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Color distance</a:t>
            </a: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Transforma a imagem de BGR para HSV e realiza a diferença entre o canal H e um valor pré-estabelecido (63);</a:t>
            </a:r>
            <a:endParaRPr sz="1800"/>
          </a:p>
          <a:p>
            <a:pPr indent="-3746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Font typeface="Arial"/>
              <a:buAutoNum type="arabicPeriod"/>
            </a:pPr>
            <a:r>
              <a:rPr b="1" i="0" lang="pt-BR" sz="1800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Threshold Simples</a:t>
            </a: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Remove o fundo da imagem;</a:t>
            </a:r>
            <a:endParaRPr sz="1800"/>
          </a:p>
          <a:p>
            <a:pPr indent="-3746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Font typeface="Arial"/>
              <a:buAutoNum type="arabicPeriod"/>
            </a:pPr>
            <a:r>
              <a:rPr b="1" i="0" lang="pt-BR" sz="1800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Grayscale</a:t>
            </a: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Transforma a imagem para escala de cinza.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aa5b2524e2_1_147"/>
          <p:cNvSpPr txBox="1"/>
          <p:nvPr>
            <p:ph type="title"/>
          </p:nvPr>
        </p:nvSpPr>
        <p:spPr>
          <a:xfrm>
            <a:off x="313118" y="440175"/>
            <a:ext cx="76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Color Distance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g1aa5b2524e2_1_147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8" name="Google Shape;108;g1aa5b2524e2_1_147"/>
          <p:cNvSpPr txBox="1"/>
          <p:nvPr/>
        </p:nvSpPr>
        <p:spPr>
          <a:xfrm>
            <a:off x="313126" y="1137500"/>
            <a:ext cx="8373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Arial"/>
              <a:buChar char="•"/>
            </a:pPr>
            <a:r>
              <a:rPr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Objetivo </a:t>
            </a:r>
            <a:r>
              <a:rPr b="0"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identificar o que é mão ou fundo;</a:t>
            </a:r>
            <a:endParaRPr sz="2000"/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Arial"/>
              <a:buChar char="•"/>
            </a:pPr>
            <a:r>
              <a:rPr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 </a:t>
            </a:r>
            <a:r>
              <a:rPr b="0"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imagem com um canal</a:t>
            </a:r>
            <a:r>
              <a:rPr b="0"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será usado na etapa seguinte</a:t>
            </a: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2000"/>
          </a:p>
          <a:p>
            <a:pPr indent="-228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9" name="Google Shape;109;g1aa5b2524e2_1_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5877" y="2072158"/>
            <a:ext cx="6572250" cy="254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1aa5b2524e2_1_1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1727" y="4205758"/>
            <a:ext cx="1905000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aa5b2524e2_1_155"/>
          <p:cNvSpPr txBox="1"/>
          <p:nvPr>
            <p:ph type="title"/>
          </p:nvPr>
        </p:nvSpPr>
        <p:spPr>
          <a:xfrm>
            <a:off x="313118" y="440175"/>
            <a:ext cx="76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Threshold Simples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g1aa5b2524e2_1_155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7" name="Google Shape;117;g1aa5b2524e2_1_155"/>
          <p:cNvSpPr txBox="1"/>
          <p:nvPr/>
        </p:nvSpPr>
        <p:spPr>
          <a:xfrm>
            <a:off x="313118" y="1137490"/>
            <a:ext cx="734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Objetivo de retirar o fundo da imagem</a:t>
            </a:r>
            <a:endParaRPr sz="2000"/>
          </a:p>
        </p:txBody>
      </p:sp>
      <p:pic>
        <p:nvPicPr>
          <p:cNvPr id="118" name="Google Shape;118;g1aa5b2524e2_1_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951" y="1673222"/>
            <a:ext cx="6451599" cy="2845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1aa5b2524e2_1_1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3874" y="1303484"/>
            <a:ext cx="2106724" cy="1618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1aa5b2524e2_1_1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73874" y="3032589"/>
            <a:ext cx="2106723" cy="1618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1aa5b2524e2_1_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5473" y="3028232"/>
            <a:ext cx="2106723" cy="161841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1aa5b2524e2_1_164"/>
          <p:cNvSpPr txBox="1"/>
          <p:nvPr>
            <p:ph type="title"/>
          </p:nvPr>
        </p:nvSpPr>
        <p:spPr>
          <a:xfrm>
            <a:off x="313118" y="440175"/>
            <a:ext cx="763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Grayscale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g1aa5b2524e2_1_164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8" name="Google Shape;128;g1aa5b2524e2_1_164"/>
          <p:cNvSpPr txBox="1"/>
          <p:nvPr/>
        </p:nvSpPr>
        <p:spPr>
          <a:xfrm>
            <a:off x="313118" y="1137490"/>
            <a:ext cx="734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Arial"/>
              <a:buChar char="•"/>
            </a:pPr>
            <a:r>
              <a:rPr b="0" i="0" lang="pt-BR" sz="20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Objetivo de reduzir o impacto de diferenças de cores</a:t>
            </a:r>
            <a:endParaRPr sz="2000"/>
          </a:p>
        </p:txBody>
      </p:sp>
      <p:pic>
        <p:nvPicPr>
          <p:cNvPr id="129" name="Google Shape;129;g1aa5b2524e2_1_1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1824" y="3032584"/>
            <a:ext cx="2106724" cy="1618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1aa5b2524e2_1_1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21825" y="3028227"/>
            <a:ext cx="2106723" cy="1618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1aa5b2524e2_1_1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4852" y="1519088"/>
            <a:ext cx="8628859" cy="143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aa5b2524e2_1_99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Classificador SVC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7" name="Google Shape;137;g1aa5b2524e2_1_99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8" name="Google Shape;138;g1aa5b2524e2_1_99"/>
          <p:cNvSpPr txBox="1"/>
          <p:nvPr/>
        </p:nvSpPr>
        <p:spPr>
          <a:xfrm>
            <a:off x="313118" y="1137490"/>
            <a:ext cx="73443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Font typeface="Helvetica Neue"/>
              <a:buChar char="•"/>
            </a:pPr>
            <a:r>
              <a:rPr lang="pt-BR" sz="1800" u="sng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SVC</a:t>
            </a:r>
            <a:r>
              <a:rPr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Support Vector Classifier;</a:t>
            </a:r>
            <a:endParaRPr sz="18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Font typeface="Helvetica Neue"/>
              <a:buChar char="•"/>
            </a:pPr>
            <a:r>
              <a:rPr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Classificador supervisionado de aprendizado de máquina;</a:t>
            </a:r>
            <a:endParaRPr sz="18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Font typeface="Helvetica Neue"/>
              <a:buChar char="•"/>
            </a:pPr>
            <a:r>
              <a:rPr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Tenta separar o conjunto de dados de treino com um hiperplano;</a:t>
            </a:r>
            <a:endParaRPr sz="18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Foi usado o classificador </a:t>
            </a:r>
            <a:r>
              <a:rPr b="1"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SVC </a:t>
            </a:r>
            <a:r>
              <a:rPr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 kernel </a:t>
            </a:r>
            <a:r>
              <a:rPr b="1"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RBF</a:t>
            </a:r>
            <a:r>
              <a:rPr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18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Font typeface="Helvetica Neue"/>
              <a:buChar char="●"/>
            </a:pPr>
            <a:r>
              <a:rPr lang="pt-BR" sz="1800" u="sng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RBF</a:t>
            </a:r>
            <a:r>
              <a:rPr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Radial Basis Function;</a:t>
            </a:r>
            <a:endParaRPr sz="18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9" name="Google Shape;139;g1aa5b2524e2_1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9075" y="2522950"/>
            <a:ext cx="3484174" cy="188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aa5b2524e2_1_106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Classificador SVC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g1aa5b2524e2_1_106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6" name="Google Shape;146;g1aa5b2524e2_1_106"/>
          <p:cNvSpPr txBox="1"/>
          <p:nvPr/>
        </p:nvSpPr>
        <p:spPr>
          <a:xfrm>
            <a:off x="313126" y="1137500"/>
            <a:ext cx="8373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Helvetica Neue"/>
              <a:buChar char="•"/>
            </a:pP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Inicialmente foi testado o classificador </a:t>
            </a:r>
            <a:r>
              <a:rPr b="1"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SVC </a:t>
            </a: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 kernel </a:t>
            </a:r>
            <a:r>
              <a:rPr b="1"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linear</a:t>
            </a: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20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Helvetica Neue"/>
              <a:buChar char="○"/>
            </a:pP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rendeu bons resultados;</a:t>
            </a:r>
            <a:endParaRPr sz="20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7" name="Google Shape;147;g1aa5b2524e2_1_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8275" y="1547500"/>
            <a:ext cx="3748450" cy="306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aa5b2524e2_1_113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Classificador SVC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1aa5b2524e2_1_11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4" name="Google Shape;154;g1aa5b2524e2_1_113"/>
          <p:cNvSpPr txBox="1"/>
          <p:nvPr/>
        </p:nvSpPr>
        <p:spPr>
          <a:xfrm>
            <a:off x="313126" y="1137500"/>
            <a:ext cx="8438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Helvetica Neue"/>
              <a:buChar char="•"/>
            </a:pP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Inicialmente foi testado o classificador </a:t>
            </a:r>
            <a:r>
              <a:rPr b="1"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SVC </a:t>
            </a: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 kernel </a:t>
            </a:r>
            <a:r>
              <a:rPr b="1"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linear</a:t>
            </a: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20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Font typeface="Helvetica Neue"/>
              <a:buChar char="○"/>
            </a:pPr>
            <a:r>
              <a:rPr lang="pt-BR" sz="20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rendeu bons resultados;</a:t>
            </a:r>
            <a:endParaRPr sz="20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5" name="Google Shape;155;g1aa5b2524e2_1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475" y="2130438"/>
            <a:ext cx="4146601" cy="223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1aa5b2524e2_1_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2650" y="2103363"/>
            <a:ext cx="3468495" cy="229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aa5b2524e2_1_121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Hiperparâmetros do Classificador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2" name="Google Shape;162;g1aa5b2524e2_1_121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3" name="Google Shape;163;g1aa5b2524e2_1_121"/>
          <p:cNvSpPr txBox="1"/>
          <p:nvPr/>
        </p:nvSpPr>
        <p:spPr>
          <a:xfrm>
            <a:off x="313126" y="1137500"/>
            <a:ext cx="8244000" cy="30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700"/>
              <a:buFont typeface="Helvetica Neue"/>
              <a:buChar char="•"/>
            </a:pPr>
            <a:r>
              <a:rPr lang="pt-BR" sz="1700" u="sng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Gamma</a:t>
            </a: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Quanta influência um datapoint tem na criação dos limites;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Valores testados: [.0001, .001, .01];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700"/>
              <a:buFont typeface="Helvetica Neue"/>
              <a:buChar char="•"/>
            </a:pPr>
            <a:r>
              <a:rPr lang="pt-BR" sz="1700" u="sng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O quão penalizado o classificador é por classificar algo de maneira errada;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Valores testados: [1, 10, 100];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700"/>
              <a:buFont typeface="Helvetica Neue"/>
              <a:buChar char="•"/>
            </a:pP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Foi feita uma busca exaustiva de todas as combinações possíveis desses valores para encontrar as melhores combinações (</a:t>
            </a:r>
            <a:r>
              <a:rPr b="1"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GridSearchCV</a:t>
            </a: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);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aa5b2524e2_1_127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Hiperparâmetros do Classificador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9" name="Google Shape;169;g1aa5b2524e2_1_127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0" name="Google Shape;170;g1aa5b2524e2_1_127"/>
          <p:cNvSpPr txBox="1"/>
          <p:nvPr/>
        </p:nvSpPr>
        <p:spPr>
          <a:xfrm>
            <a:off x="313118" y="1137490"/>
            <a:ext cx="734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1" name="Google Shape;171;g1aa5b2524e2_1_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5555" y="1137488"/>
            <a:ext cx="2505167" cy="1655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1aa5b2524e2_1_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3249" y="1137501"/>
            <a:ext cx="2505175" cy="1655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1aa5b2524e2_1_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3249" y="2793418"/>
            <a:ext cx="2505174" cy="1655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1aa5b2524e2_1_1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5561" y="2844042"/>
            <a:ext cx="2505174" cy="165595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1aa5b2524e2_1_127"/>
          <p:cNvSpPr txBox="1"/>
          <p:nvPr/>
        </p:nvSpPr>
        <p:spPr>
          <a:xfrm>
            <a:off x="1179050" y="1187875"/>
            <a:ext cx="34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1.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g1aa5b2524e2_1_127"/>
          <p:cNvSpPr txBox="1"/>
          <p:nvPr/>
        </p:nvSpPr>
        <p:spPr>
          <a:xfrm>
            <a:off x="4398750" y="1187875"/>
            <a:ext cx="34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2.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g1aa5b2524e2_1_127"/>
          <p:cNvSpPr txBox="1"/>
          <p:nvPr/>
        </p:nvSpPr>
        <p:spPr>
          <a:xfrm>
            <a:off x="1179050" y="2844050"/>
            <a:ext cx="34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3.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8" name="Google Shape;178;g1aa5b2524e2_1_127"/>
          <p:cNvSpPr txBox="1"/>
          <p:nvPr/>
        </p:nvSpPr>
        <p:spPr>
          <a:xfrm>
            <a:off x="4398750" y="2844050"/>
            <a:ext cx="34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4.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g1aa286ceba2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000" y="1619413"/>
            <a:ext cx="4402399" cy="220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1aa286ceba2_0_2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Treinamento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g1aa286ceba2_0_2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6" name="Google Shape;186;g1aa286ceba2_0_2"/>
          <p:cNvSpPr txBox="1"/>
          <p:nvPr/>
        </p:nvSpPr>
        <p:spPr>
          <a:xfrm>
            <a:off x="313118" y="1137490"/>
            <a:ext cx="734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Font typeface="Arial"/>
              <a:buChar char="•"/>
            </a:pP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Uso do validador </a:t>
            </a:r>
            <a:r>
              <a:rPr b="1"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StratifiedKFold</a:t>
            </a: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7" name="Google Shape;187;g1aa286ceba2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1825" y="1574499"/>
            <a:ext cx="4582174" cy="229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1aa286ceba2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388" y="3945850"/>
            <a:ext cx="8157224" cy="71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aa286ceba2_0_12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Treinamento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4" name="Google Shape;194;g1aa286ceba2_0_12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5" name="Google Shape;195;g1aa286ceba2_0_12"/>
          <p:cNvSpPr txBox="1"/>
          <p:nvPr/>
        </p:nvSpPr>
        <p:spPr>
          <a:xfrm>
            <a:off x="313118" y="1137490"/>
            <a:ext cx="73443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Font typeface="Arial"/>
              <a:buChar char="•"/>
            </a:pP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Foi usado PCA para reduzir o tamanho dos dados antes do fit do classificador: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Inicialmente testamos compressão de imagens ao invés de PCA;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655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700"/>
              <a:buFont typeface="Helvetica Neue"/>
              <a:buChar char="○"/>
            </a:pP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Não rendeu bons resultados;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96" name="Google Shape;196;g1aa286ceba2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950" y="3156740"/>
            <a:ext cx="6896100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aa286ceba2_0_33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Treinamento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g1aa286ceba2_0_33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3" name="Google Shape;203;g1aa286ceba2_0_33"/>
          <p:cNvSpPr txBox="1"/>
          <p:nvPr/>
        </p:nvSpPr>
        <p:spPr>
          <a:xfrm>
            <a:off x="313118" y="1137490"/>
            <a:ext cx="7344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Font typeface="Arial"/>
              <a:buChar char="•"/>
            </a:pP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otimizar os hiperparâmetros e fazer o fit do classificador, foi usado o </a:t>
            </a:r>
            <a:r>
              <a:rPr b="1"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GridSearchCV</a:t>
            </a: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4" name="Google Shape;204;g1aa286ceba2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525" y="2050213"/>
            <a:ext cx="7694948" cy="268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aa286ceba2_0_41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Treinamento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g1aa286ceba2_0_41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1" name="Google Shape;211;g1aa286ceba2_0_41"/>
          <p:cNvSpPr txBox="1"/>
          <p:nvPr/>
        </p:nvSpPr>
        <p:spPr>
          <a:xfrm>
            <a:off x="313118" y="1137490"/>
            <a:ext cx="7344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Font typeface="Arial"/>
              <a:buChar char="•"/>
            </a:pPr>
            <a:r>
              <a:rPr lang="pt-BR" sz="1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último, é feito o fit do classificador e ele é aplicado no conjunto de testes separado anteriormente:</a:t>
            </a:r>
            <a:endParaRPr sz="17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12" name="Google Shape;212;g1aa286ceba2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138" y="2188463"/>
            <a:ext cx="5879725" cy="14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g1aa286ceba2_0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813" y="3702498"/>
            <a:ext cx="7572375" cy="6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aa286ceba2_0_51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Resultados do treinamento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" name="Google Shape;219;g1aa286ceba2_0_51"/>
          <p:cNvSpPr txBox="1"/>
          <p:nvPr>
            <p:ph idx="12" type="sldNum"/>
          </p:nvPr>
        </p:nvSpPr>
        <p:spPr>
          <a:xfrm>
            <a:off x="6583680" y="4783455"/>
            <a:ext cx="210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20" name="Google Shape;220;g1aa286ceba2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8850" y="1297313"/>
            <a:ext cx="5706275" cy="31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313119" y="440175"/>
            <a:ext cx="7529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Referências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378458" y="1080908"/>
            <a:ext cx="8387100" cy="3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HU, M-K. </a:t>
            </a:r>
            <a:r>
              <a:rPr b="1"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Visual Pattern Recognition by Moment Invariants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Tese (Mestrado em Engenharia Elétrica). Disponível em: &lt;http://www.sci.utah.edu/~gerig/CS7960-S2010/handouts/Hu.pdf&gt;. Acesso em 30 out.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MALLICK, S. </a:t>
            </a:r>
            <a:r>
              <a:rPr b="1"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Image Recognition and Object Detection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2016. Disponível em: &lt;https://learnopencv.com/image-recognition-and-object-detection-part1/&gt;. Acesso em 30 out.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PEER, P., KOVAC, J., SOLINA, F. </a:t>
            </a:r>
            <a:r>
              <a:rPr b="1"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Human Skin Colour Clustering for Face Detection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Disponível em: &lt;https://tinyurl.com/46zhh7j7/&gt;. Acesso em 30 out.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RIBEIRO, H. L. </a:t>
            </a:r>
            <a:r>
              <a:rPr b="1"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Reconhecimento de gestos usando segmentação de imagens dinâmicas de mãos baseada no modelo de mistura de gaussianas e cor de pele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Tese (Mestrado em Engenharia Elétrica) – Escola de Engenharia de São Carlos, Universidade de São Paulo. São Carlos, 2006.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TERREAULT, J. B. </a:t>
            </a:r>
            <a:r>
              <a:rPr b="1"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RPS-CV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Disponível em: &lt;https://github.com/DrGFreeman/rps-cv&gt;. Acesso em 30 out. 2022.</a:t>
            </a:r>
            <a:b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MATHWORKS. </a:t>
            </a:r>
            <a:r>
              <a:rPr b="1"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Is Image Recognition? 3 things you need to know</a:t>
            </a:r>
            <a:r>
              <a:rPr lang="pt-B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Disponível em: &lt;https://www.mathworks.com/discovery/image-recognition-matlab.html&gt;. Acesso em 1 nov. 2022.</a:t>
            </a:r>
            <a:endParaRPr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2"/>
          <p:cNvSpPr txBox="1"/>
          <p:nvPr/>
        </p:nvSpPr>
        <p:spPr>
          <a:xfrm>
            <a:off x="1965425" y="787975"/>
            <a:ext cx="51771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do Mar, Ciência e Tecnologia - EMCT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sz="1000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b="0" i="0" sz="1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1080516" y="4788408"/>
            <a:ext cx="6946900" cy="192404"/>
          </a:xfrm>
          <a:custGeom>
            <a:rect b="b" l="l" r="r" t="t"/>
            <a:pathLst>
              <a:path extrusionOk="0" h="192404" w="694690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1080516" y="1777341"/>
            <a:ext cx="6946800" cy="10038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RECONHECIMENTO DE IMAGENS: ROCK PAPER SCISSORS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1080516" y="3562350"/>
            <a:ext cx="6946800" cy="843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/>
          </a:p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/>
          </a:p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Caio Gonzaga Bernils</a:t>
            </a:r>
            <a:endParaRPr b="0" i="0" sz="12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5" name="Google Shape;235;p22"/>
          <p:cNvSpPr txBox="1"/>
          <p:nvPr>
            <p:ph idx="12" type="sldNum"/>
          </p:nvPr>
        </p:nvSpPr>
        <p:spPr>
          <a:xfrm>
            <a:off x="6616572" y="4812748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2019-04-07T19:13:44Z</dcterms:created>
  <dc:creator>Paulo Henrique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
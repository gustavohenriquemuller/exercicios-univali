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9144000" cy="5143500"/>
  <p:embeddedFontLst>
    <p:embeddedFont>
      <p:font typeface="Helvetica Neu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8" roundtripDataSignature="AMtx7mhp5xZh2Zb33JRMxk9HMR7mgW40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HelveticaNeue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8" Type="http://customschemas.google.com/relationships/presentationmetadata" Target="metadata"/><Relationship Id="rId27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24d8db2236_2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g124d8db2236_2_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4b3f04f266_0_1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g14b3f04f266_0_1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6cb0fc66d3_0_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g16cb0fc66d3_0_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6cb0fc66d3_0_9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16cb0fc66d3_0_9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cb0fc66d3_0_1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16cb0fc66d3_0_1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6d0acdaaef_0_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16d0acdaaef_0_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6cb0fc66d3_0_28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16cb0fc66d3_0_28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6cb0fc66d3_0_38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16cb0fc66d3_0_38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6d0acdaaef_0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16d0acdaaef_0_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6d0acdaaef_0_44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16d0acdaaef_0_44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6d0acdaaef_0_1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16d0acdaaef_0_1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6d0acdaaef_0_16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16d0acdaaef_0_16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6d0acdaaef_0_38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16d0acdaaef_0_38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6d0acdaaef_0_28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16d0acdaaef_0_28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6d0acdaaef_0_5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16d0acdaaef_0_5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3a301ddb93_0_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13a301ddb93_0_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6ca246fd16_0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16ca246fd16_0_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/>
          <p:nvPr/>
        </p:nvSpPr>
        <p:spPr>
          <a:xfrm>
            <a:off x="1117091" y="541019"/>
            <a:ext cx="6910070" cy="192405"/>
          </a:xfrm>
          <a:custGeom>
            <a:rect b="b" l="l" r="r" t="t"/>
            <a:pathLst>
              <a:path extrusionOk="0" h="192404" w="6910070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9"/>
          <p:cNvSpPr/>
          <p:nvPr/>
        </p:nvSpPr>
        <p:spPr>
          <a:xfrm>
            <a:off x="1081277" y="1319022"/>
            <a:ext cx="6898005" cy="3810"/>
          </a:xfrm>
          <a:custGeom>
            <a:rect b="b" l="l" r="r" t="t"/>
            <a:pathLst>
              <a:path extrusionOk="0" h="3809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9"/>
          <p:cNvSpPr/>
          <p:nvPr/>
        </p:nvSpPr>
        <p:spPr>
          <a:xfrm>
            <a:off x="1081277" y="4671821"/>
            <a:ext cx="6898005" cy="3810"/>
          </a:xfrm>
          <a:custGeom>
            <a:rect b="b" l="l" r="r" t="t"/>
            <a:pathLst>
              <a:path extrusionOk="0" h="3810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9"/>
          <p:cNvSpPr/>
          <p:nvPr/>
        </p:nvSpPr>
        <p:spPr>
          <a:xfrm>
            <a:off x="1081277" y="3300221"/>
            <a:ext cx="6898005" cy="3810"/>
          </a:xfrm>
          <a:custGeom>
            <a:rect b="b" l="l" r="r" t="t"/>
            <a:pathLst>
              <a:path extrusionOk="0" h="3810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9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0"/>
            <a:ext cx="9144000" cy="386080"/>
          </a:xfrm>
          <a:custGeom>
            <a:rect b="b" l="l" r="r" t="t"/>
            <a:pathLst>
              <a:path extrusionOk="0" h="386080" w="914400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8740140" y="4757927"/>
            <a:ext cx="403860" cy="386080"/>
          </a:xfrm>
          <a:custGeom>
            <a:rect b="b" l="l" r="r" t="t"/>
            <a:pathLst>
              <a:path extrusionOk="0" h="386079" w="40385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8"/>
          <p:cNvSpPr/>
          <p:nvPr/>
        </p:nvSpPr>
        <p:spPr>
          <a:xfrm>
            <a:off x="0" y="4757927"/>
            <a:ext cx="402590" cy="386080"/>
          </a:xfrm>
          <a:custGeom>
            <a:rect b="b" l="l" r="r" t="t"/>
            <a:pathLst>
              <a:path extrusionOk="0" h="386079" w="402590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"/>
          <p:cNvSpPr/>
          <p:nvPr/>
        </p:nvSpPr>
        <p:spPr>
          <a:xfrm>
            <a:off x="402336" y="4757927"/>
            <a:ext cx="8338184" cy="386080"/>
          </a:xfrm>
          <a:custGeom>
            <a:rect b="b" l="l" r="r" t="t"/>
            <a:pathLst>
              <a:path extrusionOk="0" h="386079" w="8338184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8"/>
          <p:cNvSpPr/>
          <p:nvPr/>
        </p:nvSpPr>
        <p:spPr>
          <a:xfrm>
            <a:off x="8170164" y="45719"/>
            <a:ext cx="974090" cy="1012190"/>
          </a:xfrm>
          <a:custGeom>
            <a:rect b="b" l="l" r="r" t="t"/>
            <a:pathLst>
              <a:path extrusionOk="0" h="1012190" w="9740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8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8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8"/>
          <p:cNvSpPr txBox="1"/>
          <p:nvPr>
            <p:ph idx="1" type="body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4d8db2236_2_0"/>
          <p:cNvSpPr txBox="1"/>
          <p:nvPr/>
        </p:nvSpPr>
        <p:spPr>
          <a:xfrm>
            <a:off x="1965425" y="787975"/>
            <a:ext cx="5177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Universidade do Vale do Itajaí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Escola do Mar, Ciência e Tecnologia - EMCT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Ciência da Computação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g124d8db2236_2_0"/>
          <p:cNvSpPr/>
          <p:nvPr/>
        </p:nvSpPr>
        <p:spPr>
          <a:xfrm>
            <a:off x="1080516" y="4788408"/>
            <a:ext cx="6946900" cy="192404"/>
          </a:xfrm>
          <a:custGeom>
            <a:rect b="b" l="l" r="r" t="t"/>
            <a:pathLst>
              <a:path extrusionOk="0" h="192404" w="6946900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124d8db2236_2_0"/>
          <p:cNvSpPr txBox="1"/>
          <p:nvPr/>
        </p:nvSpPr>
        <p:spPr>
          <a:xfrm>
            <a:off x="1080516" y="1841700"/>
            <a:ext cx="69468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32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SIMULAÇÃO DE UMA CADEIA ALIMENTAR UTILIZANDO SMA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124d8db2236_2_0"/>
          <p:cNvSpPr txBox="1"/>
          <p:nvPr/>
        </p:nvSpPr>
        <p:spPr>
          <a:xfrm>
            <a:off x="1080516" y="3562350"/>
            <a:ext cx="69468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Caio Gonzaga Bernils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Gustavo Henrique Stahl Müller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Paulo Henrique Rohling</a:t>
            </a:r>
            <a:endParaRPr b="0" i="0" sz="18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Sumário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2"/>
          <p:cNvSpPr txBox="1"/>
          <p:nvPr>
            <p:ph idx="1" type="body"/>
          </p:nvPr>
        </p:nvSpPr>
        <p:spPr>
          <a:xfrm>
            <a:off x="378375" y="1159450"/>
            <a:ext cx="6484800" cy="28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Apresentação do tema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Interface gráfica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Ambiente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Modelagem dos agentes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Comunicação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Demonstração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b3f04f266_0_10"/>
          <p:cNvSpPr txBox="1"/>
          <p:nvPr>
            <p:ph idx="1" type="body"/>
          </p:nvPr>
        </p:nvSpPr>
        <p:spPr>
          <a:xfrm>
            <a:off x="378375" y="1162775"/>
            <a:ext cx="83628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O objetivo deste trabalho é desenvolver um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sistema multiagentes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que simule uma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cadeia alimentar. 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Nesta simulação, haverão: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●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Produtores (Plantas)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●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Consumidores primários (Herbívoros)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●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Consumidores secundários (Carnívoros)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g14b3f04f266_0_10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Apresentação do tema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6cb0fc66d3_0_1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Apresentação do tema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9" name="Google Shape;79;g16cb0fc66d3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5900" y="1074100"/>
            <a:ext cx="5212175" cy="3623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6cb0fc66d3_0_9"/>
          <p:cNvSpPr txBox="1"/>
          <p:nvPr>
            <p:ph idx="1" type="body"/>
          </p:nvPr>
        </p:nvSpPr>
        <p:spPr>
          <a:xfrm>
            <a:off x="378375" y="1271100"/>
            <a:ext cx="43491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Para visualizar a simulação, foi desenvolvida uma interface gráfica feita em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LibGDX 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com base no jogo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AgarIO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g16cb0fc66d3_0_9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Interface gráfica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6" name="Google Shape;86;g16cb0fc66d3_0_9"/>
          <p:cNvPicPr preferRelativeResize="0"/>
          <p:nvPr/>
        </p:nvPicPr>
        <p:blipFill rotWithShape="1">
          <a:blip r:embed="rId3">
            <a:alphaModFix/>
          </a:blip>
          <a:srcRect b="0" l="5569" r="24899" t="0"/>
          <a:stretch/>
        </p:blipFill>
        <p:spPr>
          <a:xfrm>
            <a:off x="4939450" y="1271100"/>
            <a:ext cx="3971350" cy="326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6cb0fc66d3_0_17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Ambiente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16cb0fc66d3_0_17"/>
          <p:cNvSpPr txBox="1"/>
          <p:nvPr>
            <p:ph idx="1" type="body"/>
          </p:nvPr>
        </p:nvSpPr>
        <p:spPr>
          <a:xfrm>
            <a:off x="378375" y="1162775"/>
            <a:ext cx="8362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O ambiente que será simulado neste trabalho é de um </a:t>
            </a: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ecossistema 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constituído por </a:t>
            </a: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produtores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consumidores primários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 e </a:t>
            </a: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consumidores secundários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16cb0fc66d3_0_17"/>
          <p:cNvSpPr/>
          <p:nvPr/>
        </p:nvSpPr>
        <p:spPr>
          <a:xfrm>
            <a:off x="431050" y="2621650"/>
            <a:ext cx="2541000" cy="1851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16cb0fc66d3_0_17"/>
          <p:cNvSpPr txBox="1"/>
          <p:nvPr>
            <p:ph idx="1" type="body"/>
          </p:nvPr>
        </p:nvSpPr>
        <p:spPr>
          <a:xfrm>
            <a:off x="528748" y="2735525"/>
            <a:ext cx="23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Food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g16cb0fc66d3_0_17"/>
          <p:cNvSpPr/>
          <p:nvPr/>
        </p:nvSpPr>
        <p:spPr>
          <a:xfrm>
            <a:off x="3266821" y="2621650"/>
            <a:ext cx="2541000" cy="1851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16cb0fc66d3_0_17"/>
          <p:cNvSpPr txBox="1"/>
          <p:nvPr>
            <p:ph idx="1" type="body"/>
          </p:nvPr>
        </p:nvSpPr>
        <p:spPr>
          <a:xfrm>
            <a:off x="3364519" y="2735525"/>
            <a:ext cx="23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Herbivore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g16cb0fc66d3_0_17"/>
          <p:cNvSpPr/>
          <p:nvPr/>
        </p:nvSpPr>
        <p:spPr>
          <a:xfrm>
            <a:off x="6200290" y="2621650"/>
            <a:ext cx="2541000" cy="1851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16cb0fc66d3_0_17"/>
          <p:cNvSpPr txBox="1"/>
          <p:nvPr>
            <p:ph idx="1" type="body"/>
          </p:nvPr>
        </p:nvSpPr>
        <p:spPr>
          <a:xfrm>
            <a:off x="6297988" y="2735525"/>
            <a:ext cx="23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Carnivore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9" name="Google Shape;99;g16cb0fc66d3_0_17"/>
          <p:cNvPicPr preferRelativeResize="0"/>
          <p:nvPr/>
        </p:nvPicPr>
        <p:blipFill rotWithShape="1">
          <a:blip r:embed="rId3">
            <a:alphaModFix/>
          </a:blip>
          <a:srcRect b="44021" l="26885" r="58492" t="42353"/>
          <a:stretch/>
        </p:blipFill>
        <p:spPr>
          <a:xfrm>
            <a:off x="3612112" y="3085200"/>
            <a:ext cx="1813924" cy="126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16cb0fc66d3_0_17"/>
          <p:cNvPicPr preferRelativeResize="0"/>
          <p:nvPr/>
        </p:nvPicPr>
        <p:blipFill rotWithShape="1">
          <a:blip r:embed="rId3">
            <a:alphaModFix/>
          </a:blip>
          <a:srcRect b="42765" l="6176" r="84225" t="46973"/>
          <a:stretch/>
        </p:blipFill>
        <p:spPr>
          <a:xfrm>
            <a:off x="1024737" y="3176425"/>
            <a:ext cx="1353625" cy="108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16cb0fc66d3_0_17"/>
          <p:cNvPicPr preferRelativeResize="0"/>
          <p:nvPr/>
        </p:nvPicPr>
        <p:blipFill rotWithShape="1">
          <a:blip r:embed="rId3">
            <a:alphaModFix/>
          </a:blip>
          <a:srcRect b="12372" l="26396" r="59113" t="75089"/>
          <a:stretch/>
        </p:blipFill>
        <p:spPr>
          <a:xfrm>
            <a:off x="6563838" y="3130475"/>
            <a:ext cx="1813924" cy="1178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6d0acdaaef_0_5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Modelagem dos agentes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g16d0acdaaef_0_5"/>
          <p:cNvSpPr txBox="1"/>
          <p:nvPr>
            <p:ph idx="1" type="body"/>
          </p:nvPr>
        </p:nvSpPr>
        <p:spPr>
          <a:xfrm>
            <a:off x="378375" y="1162775"/>
            <a:ext cx="83628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Agente Food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: É a classe de agentes que representa as plantas que surgem no ambiente a cada </a:t>
            </a: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2 segundos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●"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Objetivo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: Servir de alimento para consumidores primários.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●"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Atuadores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: Envia sua posição para os herbívoros.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●"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Sensores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: Não possui nenhum sensor.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6cb0fc66d3_0_28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Modelagem dos agentes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g16cb0fc66d3_0_28"/>
          <p:cNvSpPr txBox="1"/>
          <p:nvPr>
            <p:ph idx="1" type="body"/>
          </p:nvPr>
        </p:nvSpPr>
        <p:spPr>
          <a:xfrm>
            <a:off x="378375" y="1162775"/>
            <a:ext cx="83628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Agente Herbivore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: É a classe de agentes que representa os consumidores primários que surgem no ambiente a cada </a:t>
            </a: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5 segundos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●"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Objetivo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: Se alimentar de plantas e crescer;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●"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Atuadores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: Se movimenta em direção às plantas e se movimenta na direção oposta a de predadores que podem consumi-lo.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●"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Sensores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: Recebe a posição de carnívoros e plantas presentes no cenário.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6cb0fc66d3_0_38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Modelagem dos agentes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g16cb0fc66d3_0_38"/>
          <p:cNvSpPr txBox="1"/>
          <p:nvPr>
            <p:ph idx="1" type="body"/>
          </p:nvPr>
        </p:nvSpPr>
        <p:spPr>
          <a:xfrm>
            <a:off x="378375" y="1162775"/>
            <a:ext cx="83628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Agente Carnivore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: É a classe de agentes que representa os consumidores secundários que surgem no ambiente a cada </a:t>
            </a: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7,5 segundos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●"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Objetivo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: Se alimentar de herbívoros e carnívoros menores;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●"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Atuadores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: Se movimenta em direção aos carnívoros menores e aos herbívoros que pode consumir.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●"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Sensores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Recebe a posição de carnívoros e herbívoros presentes no cenário.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6d0acdaaef_0_0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Comunicação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g16d0acdaaef_0_0"/>
          <p:cNvSpPr txBox="1"/>
          <p:nvPr>
            <p:ph idx="1" type="body"/>
          </p:nvPr>
        </p:nvSpPr>
        <p:spPr>
          <a:xfrm>
            <a:off x="378375" y="1162775"/>
            <a:ext cx="85281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●"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A comunicação foi realizada por mensagens que seguem o protocolo </a:t>
            </a: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FIPA-ACL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●"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Duas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 ontologias para as mensagens: “position” e “destroy”;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●"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Carnívoros 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enviam sua posição para </a:t>
            </a: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herbívoros 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e outros </a:t>
            </a: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carnívoros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●"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Herbívoros 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enviam sua posição para </a:t>
            </a: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carnívoros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●"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Plantas 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enviam sua posição para </a:t>
            </a: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herbívoros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6d0acdaaef_0_44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Comunicação - Recebimento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1" name="Google Shape;131;g16d0acdaaef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0025" y="1039450"/>
            <a:ext cx="5683925" cy="372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6d0acdaaef_0_10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Comunicação - Posição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g16d0acdaaef_0_10"/>
          <p:cNvSpPr txBox="1"/>
          <p:nvPr>
            <p:ph idx="1" type="body"/>
          </p:nvPr>
        </p:nvSpPr>
        <p:spPr>
          <a:xfrm>
            <a:off x="378375" y="1162775"/>
            <a:ext cx="836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●"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O envio da posição é uma mensagem com ontologia “position”;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●"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Contém os dados serializados da posição, tipo e raio do agente;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8" name="Google Shape;138;g16d0acdaaef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413" y="2100775"/>
            <a:ext cx="6858724" cy="25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6d0acdaaef_0_16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Comunicação - Envio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4" name="Google Shape;144;g16d0acdaaef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313" y="1252075"/>
            <a:ext cx="8485374" cy="30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6d0acdaaef_0_38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Comunicação - Envio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0" name="Google Shape;150;g16d0acdaaef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08150"/>
            <a:ext cx="8839199" cy="2424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6d0acdaaef_0_28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Comunicação - Destroy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g16d0acdaaef_0_28"/>
          <p:cNvSpPr txBox="1"/>
          <p:nvPr>
            <p:ph idx="1" type="body"/>
          </p:nvPr>
        </p:nvSpPr>
        <p:spPr>
          <a:xfrm>
            <a:off x="378375" y="1162775"/>
            <a:ext cx="83628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Quando um agente é destruído, ele é removido do mapa local do agente que o destruiu e o agente destruído é marcado para remoção do container;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Depois do container destruí-lo, o método </a:t>
            </a: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takeDown 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é invocado, que envia uma mensagem de ontologia “destroy” para avisar aos outros agentes que ele foi destruído.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6d0acdaaef_0_50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Comunicação - Destroy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2" name="Google Shape;162;g16d0acdaaef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900" y="1216125"/>
            <a:ext cx="7466400" cy="3037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3a301ddb93_0_7"/>
          <p:cNvSpPr txBox="1"/>
          <p:nvPr>
            <p:ph type="title"/>
          </p:nvPr>
        </p:nvSpPr>
        <p:spPr>
          <a:xfrm>
            <a:off x="313119" y="440175"/>
            <a:ext cx="752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Referências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g13a301ddb93_0_7"/>
          <p:cNvSpPr txBox="1"/>
          <p:nvPr>
            <p:ph idx="1" type="body"/>
          </p:nvPr>
        </p:nvSpPr>
        <p:spPr>
          <a:xfrm>
            <a:off x="378383" y="1084383"/>
            <a:ext cx="83871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BATISTA, A. F. M</a:t>
            </a: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Manual Complementar do Projeto de Pesquisa: Sistemas Multiagentes na Construção de um Middleware para Suporte a Ambientes Computacionais</a:t>
            </a: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2022. Disponível em: &lt;https://siaiap27.univali.br/material/?control=Arquivo&amp;action=download&amp;idArquivo=273129&amp;id=152469/&gt;. Acesso em: 16 out. 2022.</a:t>
            </a:r>
            <a:b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JADE FRAMEWORK DOCUMENTATION</a:t>
            </a: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Examples, Tutorials &amp; Guides</a:t>
            </a: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2022. Disponível em: &lt;</a:t>
            </a: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https://jade.tilab.com/</a:t>
            </a: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&gt;. Acesso em: 16 out. 2022.</a:t>
            </a:r>
            <a:b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LIBGDX</a:t>
            </a: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Source &amp; Documentation</a:t>
            </a: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2022. Disponível em: &lt;https://libgdx.com/dev//&gt;. Acesso em: 16 out. 2022.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6ca246fd16_0_0"/>
          <p:cNvSpPr txBox="1"/>
          <p:nvPr/>
        </p:nvSpPr>
        <p:spPr>
          <a:xfrm>
            <a:off x="1965425" y="787975"/>
            <a:ext cx="5177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Universidade do Vale do Itajaí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Escola do Mar, Ciência e Tecnologia - EMCT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Ciência da Computação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g16ca246fd16_0_0"/>
          <p:cNvSpPr/>
          <p:nvPr/>
        </p:nvSpPr>
        <p:spPr>
          <a:xfrm>
            <a:off x="1080516" y="4788408"/>
            <a:ext cx="6946900" cy="192404"/>
          </a:xfrm>
          <a:custGeom>
            <a:rect b="b" l="l" r="r" t="t"/>
            <a:pathLst>
              <a:path extrusionOk="0" h="192404" w="6946900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16ca246fd16_0_0"/>
          <p:cNvSpPr txBox="1"/>
          <p:nvPr/>
        </p:nvSpPr>
        <p:spPr>
          <a:xfrm>
            <a:off x="1080516" y="1841700"/>
            <a:ext cx="69468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32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SIMULAÇÃO DE UMA CADEIA ALIMENTAR UTILIZANDO SMA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16ca246fd16_0_0"/>
          <p:cNvSpPr txBox="1"/>
          <p:nvPr/>
        </p:nvSpPr>
        <p:spPr>
          <a:xfrm>
            <a:off x="1080516" y="3562350"/>
            <a:ext cx="69468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Caio Gonzaga Bernils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Gustavo Henrique Stahl Müller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Paulo Henrique Rohling</a:t>
            </a:r>
            <a:endParaRPr b="0" i="0" sz="18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2019-04-07T19:13:44Z</dcterms:created>
  <dc:creator>Paulo Henrique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
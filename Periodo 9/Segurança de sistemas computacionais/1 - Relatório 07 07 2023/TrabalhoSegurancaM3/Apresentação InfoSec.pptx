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33"/>
  </p:notesMasterIdLst>
  <p:sldIdLst>
    <p:sldId id="256" r:id="rId2"/>
    <p:sldId id="257" r:id="rId3"/>
    <p:sldId id="330" r:id="rId4"/>
    <p:sldId id="333" r:id="rId5"/>
    <p:sldId id="334" r:id="rId6"/>
    <p:sldId id="335" r:id="rId7"/>
    <p:sldId id="338" r:id="rId8"/>
    <p:sldId id="339" r:id="rId9"/>
    <p:sldId id="340" r:id="rId10"/>
    <p:sldId id="341" r:id="rId11"/>
    <p:sldId id="342" r:id="rId12"/>
    <p:sldId id="343" r:id="rId13"/>
    <p:sldId id="346" r:id="rId14"/>
    <p:sldId id="347" r:id="rId15"/>
    <p:sldId id="348" r:id="rId16"/>
    <p:sldId id="349" r:id="rId17"/>
    <p:sldId id="350" r:id="rId18"/>
    <p:sldId id="351" r:id="rId19"/>
    <p:sldId id="352" r:id="rId20"/>
    <p:sldId id="353" r:id="rId21"/>
    <p:sldId id="354" r:id="rId22"/>
    <p:sldId id="355" r:id="rId23"/>
    <p:sldId id="356" r:id="rId24"/>
    <p:sldId id="357" r:id="rId25"/>
    <p:sldId id="358" r:id="rId26"/>
    <p:sldId id="359" r:id="rId27"/>
    <p:sldId id="360" r:id="rId28"/>
    <p:sldId id="361" r:id="rId29"/>
    <p:sldId id="362" r:id="rId30"/>
    <p:sldId id="363" r:id="rId31"/>
    <p:sldId id="344" r:id="rId3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Proxima Nova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32">
          <p15:clr>
            <a:srgbClr val="A4A3A4"/>
          </p15:clr>
        </p15:guide>
        <p15:guide id="2" orient="horz" pos="1280">
          <p15:clr>
            <a:srgbClr val="A4A3A4"/>
          </p15:clr>
        </p15:guide>
        <p15:guide id="3" orient="horz" pos="2300">
          <p15:clr>
            <a:srgbClr val="A4A3A4"/>
          </p15:clr>
        </p15:guide>
        <p15:guide id="4" pos="2358">
          <p15:clr>
            <a:srgbClr val="A4A3A4"/>
          </p15:clr>
        </p15:guide>
        <p15:guide id="5" pos="2880">
          <p15:clr>
            <a:srgbClr val="A4A3A4"/>
          </p15:clr>
        </p15:guide>
        <p15:guide id="6" pos="4241">
          <p15:clr>
            <a:srgbClr val="A4A3A4"/>
          </p15:clr>
        </p15:guide>
        <p15:guide id="7" pos="1519">
          <p15:clr>
            <a:srgbClr val="A4A3A4"/>
          </p15:clr>
        </p15:guide>
        <p15:guide id="8" pos="2608">
          <p15:clr>
            <a:srgbClr val="A4A3A4"/>
          </p15:clr>
        </p15:guide>
        <p15:guide id="9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99D4899-E841-47C6-8006-97F41F7DCD4A}">
  <a:tblStyle styleId="{499D4899-E841-47C6-8006-97F41F7DCD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8FE170-46FD-47FA-8155-2493BF80E40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2232"/>
        <p:guide orient="horz" pos="1280"/>
        <p:guide orient="horz" pos="2300"/>
        <p:guide pos="2358"/>
        <p:guide pos="2880"/>
        <p:guide pos="4241"/>
        <p:guide pos="1519"/>
        <p:guide pos="2608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2984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89125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8074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6421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37169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42474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1434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0586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7560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46681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26777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8080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20709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3542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64452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8146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3544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1244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388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4538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900285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81312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27947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74518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22529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21911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49178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0" name="Google Shape;400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24378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67821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492250"/>
            <a:ext cx="9144000" cy="2159000"/>
          </a:xfrm>
          <a:prstGeom prst="rect">
            <a:avLst/>
          </a:prstGeom>
          <a:solidFill>
            <a:srgbClr val="00477F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492250"/>
            <a:ext cx="8123100" cy="21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  <a:defRPr sz="4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roxima Nova"/>
              <a:buNone/>
              <a:defRPr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0" y="0"/>
            <a:ext cx="9144000" cy="113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778"/>
              <a:buFont typeface="Proxima Nova"/>
              <a:buNone/>
            </a:pPr>
            <a:r>
              <a:rPr lang="pt-BR" sz="2000" b="0" i="0" u="none" strike="noStrike" cap="none" dirty="0">
                <a:solidFill>
                  <a:srgbClr val="4C4C4C"/>
                </a:solidFill>
                <a:latin typeface="Proxima Nova"/>
                <a:ea typeface="Proxima Nova"/>
                <a:cs typeface="Proxima Nova"/>
                <a:sym typeface="Proxima Nova"/>
              </a:rPr>
              <a:t>Universidade do Vale do Itajaí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422"/>
              <a:buFont typeface="Proxima Nova"/>
              <a:buNone/>
            </a:pPr>
            <a:r>
              <a:rPr lang="pt-BR" sz="1600" b="0" i="0" u="none" strike="noStrike" cap="none" dirty="0">
                <a:solidFill>
                  <a:srgbClr val="4C4C4C"/>
                </a:solidFill>
                <a:latin typeface="Proxima Nova"/>
                <a:ea typeface="Proxima Nova"/>
                <a:cs typeface="Proxima Nova"/>
                <a:sym typeface="Proxima Nova"/>
              </a:rPr>
              <a:t>Escola Politécnica</a:t>
            </a:r>
            <a:endParaRPr lang="pt-B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422"/>
              <a:buFont typeface="Proxima Nova"/>
              <a:buNone/>
            </a:pPr>
            <a:r>
              <a:rPr lang="pt-BR" sz="1600" b="0" i="0" u="none" strike="noStrike" cap="none" dirty="0">
                <a:solidFill>
                  <a:srgbClr val="4C4C4C"/>
                </a:solidFill>
                <a:latin typeface="Proxima Nova"/>
                <a:ea typeface="Proxima Nova"/>
                <a:cs typeface="Proxima Nova"/>
                <a:sym typeface="Proxima Nova"/>
              </a:rPr>
              <a:t>Ciência da Computação</a:t>
            </a:r>
            <a:endParaRPr lang="pt-B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0" y="3669103"/>
            <a:ext cx="9144000" cy="1131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422"/>
              <a:buFont typeface="Proxima Nova"/>
              <a:buNone/>
            </a:pPr>
            <a:endParaRPr sz="1600" b="0" i="0" u="none" strike="noStrike" cap="none">
              <a:solidFill>
                <a:srgbClr val="4C4C4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0" y="3669102"/>
            <a:ext cx="9144000" cy="1474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4C4C"/>
              </a:buClr>
              <a:buSzPts val="1422"/>
              <a:buFont typeface="Proxima Nova"/>
              <a:buNone/>
            </a:pPr>
            <a:endParaRPr sz="1600" b="0" i="0" u="none" strike="noStrike" cap="none">
              <a:solidFill>
                <a:srgbClr val="4C4C4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00">
          <p15:clr>
            <a:srgbClr val="FBAE40"/>
          </p15:clr>
        </p15:guide>
        <p15:guide id="2" orient="horz" pos="9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rgbClr val="00477F"/>
          </a:solidFill>
          <a:ln>
            <a:noFill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3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244719" y="181702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  <a:defRPr sz="4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1"/>
          </p:nvPr>
        </p:nvSpPr>
        <p:spPr>
          <a:xfrm>
            <a:off x="4939500" y="735013"/>
            <a:ext cx="3837000" cy="3673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47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27977" y="244467"/>
            <a:ext cx="702852" cy="480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602">
          <p15:clr>
            <a:srgbClr val="FBAE40"/>
          </p15:clr>
        </p15:guide>
        <p15:guide id="2" orient="horz" pos="146">
          <p15:clr>
            <a:srgbClr val="FBAE40"/>
          </p15:clr>
        </p15:guide>
        <p15:guide id="3" orient="horz" pos="463">
          <p15:clr>
            <a:srgbClr val="FBAE40"/>
          </p15:clr>
        </p15:guide>
        <p15:guide id="4" pos="510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4758700"/>
            <a:ext cx="9144000" cy="384900"/>
          </a:xfrm>
          <a:prstGeom prst="rect">
            <a:avLst/>
          </a:prstGeom>
          <a:solidFill>
            <a:srgbClr val="0047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46801" y="231775"/>
            <a:ext cx="7142100" cy="5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255563" y="987425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595300" y="4758777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55563" y="221384"/>
            <a:ext cx="56137" cy="539750"/>
          </a:xfrm>
          <a:prstGeom prst="rect">
            <a:avLst/>
          </a:prstGeom>
          <a:solidFill>
            <a:srgbClr val="0047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226" y="4758700"/>
            <a:ext cx="8595076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1143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solidFill>
                  <a:schemeClr val="lt1"/>
                </a:solidFill>
              </a:rPr>
              <a:t>Análise de vulnerabilidades no </a:t>
            </a:r>
            <a:r>
              <a:rPr lang="pt-BR" dirty="0" err="1">
                <a:solidFill>
                  <a:schemeClr val="lt1"/>
                </a:solidFill>
              </a:rPr>
              <a:t>bWAPP</a:t>
            </a:r>
            <a:endParaRPr lang="pt-BR"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4" descr="Image result for univali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27888" y="113219"/>
            <a:ext cx="776853" cy="776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58">
          <p15:clr>
            <a:srgbClr val="FBAE40"/>
          </p15:clr>
        </p15:guide>
        <p15:guide id="2" pos="5602">
          <p15:clr>
            <a:srgbClr val="FBAE40"/>
          </p15:clr>
        </p15:guide>
        <p15:guide id="3" orient="horz" pos="146">
          <p15:clr>
            <a:srgbClr val="FBAE40"/>
          </p15:clr>
        </p15:guide>
        <p15:guide id="4" orient="horz" pos="486">
          <p15:clr>
            <a:srgbClr val="FBAE40"/>
          </p15:clr>
        </p15:guide>
        <p15:guide id="5" pos="5103">
          <p15:clr>
            <a:srgbClr val="FBAE40"/>
          </p15:clr>
        </p15:guide>
        <p15:guide id="6" orient="horz" pos="2913">
          <p15:clr>
            <a:srgbClr val="FBAE40"/>
          </p15:clr>
        </p15:guide>
        <p15:guide id="7" orient="horz" pos="62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(Dark)">
  <p:cSld name="Title and body (Dark)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0" y="-31502"/>
            <a:ext cx="9144000" cy="906163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508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0" y="4758700"/>
            <a:ext cx="9144000" cy="384900"/>
          </a:xfrm>
          <a:prstGeom prst="rect">
            <a:avLst/>
          </a:prstGeom>
          <a:solidFill>
            <a:srgbClr val="2027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384673" y="132925"/>
            <a:ext cx="7322075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595300" y="4758777"/>
            <a:ext cx="548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48" name="Google Shape;48;p7"/>
          <p:cNvSpPr txBox="1"/>
          <p:nvPr/>
        </p:nvSpPr>
        <p:spPr>
          <a:xfrm>
            <a:off x="0" y="4769091"/>
            <a:ext cx="85953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1143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None/>
            </a:pPr>
            <a:r>
              <a:rPr lang="pt-BR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do trabalho</a:t>
            </a:r>
            <a:endParaRPr sz="14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54071" y="153449"/>
            <a:ext cx="778229" cy="53164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251380" y="132925"/>
            <a:ext cx="45719" cy="5773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1"/>
          </p:nvPr>
        </p:nvSpPr>
        <p:spPr>
          <a:xfrm>
            <a:off x="255563" y="987425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accent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 sz="1400" b="0" i="0" u="none" strike="noStrike" cap="none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None/>
              <a:defRPr sz="1000" b="0" i="0" u="none" strike="noStrike" cap="non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sa.gov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sa.gov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</a:pPr>
            <a:r>
              <a:rPr lang="pt-BR" sz="3000" dirty="0"/>
              <a:t>Análise de vulnerabilidades no </a:t>
            </a:r>
            <a:r>
              <a:rPr lang="pt-BR" sz="3000" dirty="0" err="1"/>
              <a:t>bWAPP</a:t>
            </a:r>
            <a:endParaRPr sz="3000" dirty="0"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2127600" y="3990275"/>
            <a:ext cx="48888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Acadêmico: Gustavo Henrique Stahl Müller</a:t>
            </a:r>
          </a:p>
          <a:p>
            <a:pPr algn="ctr">
              <a:buSzPts val="1400"/>
            </a:pPr>
            <a:r>
              <a:rPr lang="pt-BR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Professor: Fabrício </a:t>
            </a:r>
            <a:r>
              <a:rPr lang="pt-BR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Bortoluzzi</a:t>
            </a:r>
            <a:endParaRPr lang="pt-BR" sz="1400" b="0" i="0" u="none" strike="noStrike" cap="none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Disciplina de Segurança de Sistemas Computacionais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159301" y="1494295"/>
            <a:ext cx="4045200" cy="15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Proxima Nova"/>
              <a:buNone/>
            </a:pPr>
            <a:r>
              <a:rPr lang="pt-BR" dirty="0">
                <a:solidFill>
                  <a:srgbClr val="000000"/>
                </a:solidFill>
              </a:rPr>
              <a:t>Agenda</a:t>
            </a:r>
            <a:endParaRPr sz="4200" b="0" i="0" u="none" strike="noStrike" cap="none" dirty="0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▪"/>
            </a:pPr>
            <a:r>
              <a:rPr lang="pt-BR" dirty="0"/>
              <a:t>Vulnerabilidades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roxima Nova"/>
              <a:buChar char="▪"/>
            </a:pPr>
            <a:r>
              <a:rPr lang="pt-BR" dirty="0"/>
              <a:t>Análise de gravidade</a:t>
            </a:r>
            <a:endParaRPr dirty="0"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Vulnerabilidades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Foram estudadas 8 vulnerabilidades no </a:t>
            </a:r>
            <a:r>
              <a:rPr lang="pt-BR" sz="1500" dirty="0" err="1">
                <a:solidFill>
                  <a:srgbClr val="000000"/>
                </a:solidFill>
              </a:rPr>
              <a:t>bWAPP</a:t>
            </a:r>
            <a:r>
              <a:rPr lang="pt-BR" sz="1500" dirty="0">
                <a:solidFill>
                  <a:srgbClr val="000000"/>
                </a:solidFill>
              </a:rPr>
              <a:t>. São elas: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>
                <a:solidFill>
                  <a:srgbClr val="000000"/>
                </a:solidFill>
              </a:rPr>
              <a:t>Injeção SQL;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>
                <a:solidFill>
                  <a:srgbClr val="000000"/>
                </a:solidFill>
              </a:rPr>
              <a:t>Injeção de comandos de SO;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>
                <a:solidFill>
                  <a:srgbClr val="000000"/>
                </a:solidFill>
              </a:rPr>
              <a:t>Upload de arquivos sem restrições;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>
                <a:solidFill>
                  <a:srgbClr val="000000"/>
                </a:solidFill>
              </a:rPr>
              <a:t>XSS (persistente);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 err="1">
                <a:solidFill>
                  <a:srgbClr val="000000"/>
                </a:solidFill>
              </a:rPr>
              <a:t>Denial</a:t>
            </a:r>
            <a:r>
              <a:rPr lang="pt-BR" sz="1500" dirty="0">
                <a:solidFill>
                  <a:srgbClr val="000000"/>
                </a:solidFill>
              </a:rPr>
              <a:t> </a:t>
            </a:r>
            <a:r>
              <a:rPr lang="pt-BR" sz="1500" dirty="0" err="1">
                <a:solidFill>
                  <a:srgbClr val="000000"/>
                </a:solidFill>
              </a:rPr>
              <a:t>of</a:t>
            </a:r>
            <a:r>
              <a:rPr lang="pt-BR" sz="1500" dirty="0">
                <a:solidFill>
                  <a:srgbClr val="000000"/>
                </a:solidFill>
              </a:rPr>
              <a:t> </a:t>
            </a:r>
            <a:r>
              <a:rPr lang="pt-BR" sz="1500" dirty="0" err="1">
                <a:solidFill>
                  <a:srgbClr val="000000"/>
                </a:solidFill>
              </a:rPr>
              <a:t>service</a:t>
            </a:r>
            <a:r>
              <a:rPr lang="pt-BR" sz="1500" dirty="0">
                <a:solidFill>
                  <a:srgbClr val="000000"/>
                </a:solidFill>
              </a:rPr>
              <a:t> (Large </a:t>
            </a:r>
            <a:r>
              <a:rPr lang="pt-BR" sz="1500" dirty="0" err="1">
                <a:solidFill>
                  <a:srgbClr val="000000"/>
                </a:solidFill>
              </a:rPr>
              <a:t>Chunk</a:t>
            </a:r>
            <a:r>
              <a:rPr lang="pt-BR" sz="1500" dirty="0">
                <a:solidFill>
                  <a:srgbClr val="000000"/>
                </a:solidFill>
              </a:rPr>
              <a:t> </a:t>
            </a:r>
            <a:r>
              <a:rPr lang="pt-BR" sz="1500" dirty="0" err="1">
                <a:solidFill>
                  <a:srgbClr val="000000"/>
                </a:solidFill>
              </a:rPr>
              <a:t>Size</a:t>
            </a:r>
            <a:r>
              <a:rPr lang="pt-BR" sz="1500" dirty="0">
                <a:solidFill>
                  <a:srgbClr val="000000"/>
                </a:solidFill>
              </a:rPr>
              <a:t>);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>
                <a:solidFill>
                  <a:srgbClr val="000000"/>
                </a:solidFill>
              </a:rPr>
              <a:t>CSRF (mudança de senha);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>
                <a:solidFill>
                  <a:srgbClr val="000000"/>
                </a:solidFill>
              </a:rPr>
              <a:t>IDOR (</a:t>
            </a:r>
            <a:r>
              <a:rPr lang="pt-BR" sz="1500" dirty="0" err="1">
                <a:solidFill>
                  <a:srgbClr val="000000"/>
                </a:solidFill>
              </a:rPr>
              <a:t>Insecure</a:t>
            </a:r>
            <a:r>
              <a:rPr lang="pt-BR" sz="1500" dirty="0">
                <a:solidFill>
                  <a:srgbClr val="000000"/>
                </a:solidFill>
              </a:rPr>
              <a:t> Direct </a:t>
            </a:r>
            <a:r>
              <a:rPr lang="pt-BR" sz="1500" dirty="0" err="1">
                <a:solidFill>
                  <a:srgbClr val="000000"/>
                </a:solidFill>
              </a:rPr>
              <a:t>Object</a:t>
            </a:r>
            <a:r>
              <a:rPr lang="pt-BR" sz="1500" dirty="0">
                <a:solidFill>
                  <a:srgbClr val="000000"/>
                </a:solidFill>
              </a:rPr>
              <a:t> </a:t>
            </a:r>
            <a:r>
              <a:rPr lang="pt-BR" sz="1500" dirty="0" err="1">
                <a:solidFill>
                  <a:srgbClr val="000000"/>
                </a:solidFill>
              </a:rPr>
              <a:t>Reference</a:t>
            </a:r>
            <a:r>
              <a:rPr lang="pt-BR" sz="1500" dirty="0">
                <a:solidFill>
                  <a:srgbClr val="000000"/>
                </a:solidFill>
              </a:rPr>
              <a:t>);</a:t>
            </a:r>
          </a:p>
          <a:p>
            <a:pPr lvl="1" indent="-342900">
              <a:spcBef>
                <a:spcPts val="0"/>
              </a:spcBef>
              <a:buClr>
                <a:srgbClr val="000000"/>
              </a:buClr>
              <a:buSzPct val="80000"/>
              <a:buFont typeface="+mj-lt"/>
              <a:buAutoNum type="arabicPeriod"/>
            </a:pPr>
            <a:r>
              <a:rPr lang="pt-BR" sz="1500" dirty="0">
                <a:solidFill>
                  <a:srgbClr val="000000"/>
                </a:solidFill>
              </a:rPr>
              <a:t>XML XXE (</a:t>
            </a:r>
            <a:r>
              <a:rPr lang="pt-BR" sz="1500" dirty="0" err="1">
                <a:solidFill>
                  <a:srgbClr val="000000"/>
                </a:solidFill>
              </a:rPr>
              <a:t>External</a:t>
            </a:r>
            <a:r>
              <a:rPr lang="pt-BR" sz="1500" dirty="0">
                <a:solidFill>
                  <a:srgbClr val="000000"/>
                </a:solidFill>
              </a:rPr>
              <a:t> Entity </a:t>
            </a:r>
            <a:r>
              <a:rPr lang="pt-BR" sz="1500" dirty="0" err="1">
                <a:solidFill>
                  <a:srgbClr val="000000"/>
                </a:solidFill>
              </a:rPr>
              <a:t>Attacks</a:t>
            </a:r>
            <a:r>
              <a:rPr lang="pt-BR" sz="1500" dirty="0">
                <a:solidFill>
                  <a:srgbClr val="000000"/>
                </a:solidFill>
              </a:rPr>
              <a:t>);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3</a:t>
            </a:fld>
            <a:endParaRPr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40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Injeção SQL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Pode ser aplicada na página de procura por filmes;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Primeiramente, a página imprime diretamente erros de SQL: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4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2F3F809-C6DF-D090-E95D-71F3EA34E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915" y="1816503"/>
            <a:ext cx="7116168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38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Injeção SQL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É possível realizar um UNION SELECT para selecionar dados da tabela de usuários (</a:t>
            </a:r>
            <a:r>
              <a:rPr lang="pt-BR" sz="1500" dirty="0" err="1">
                <a:solidFill>
                  <a:srgbClr val="000000"/>
                </a:solidFill>
              </a:rPr>
              <a:t>users</a:t>
            </a:r>
            <a:r>
              <a:rPr lang="pt-BR" sz="1500" dirty="0">
                <a:solidFill>
                  <a:srgbClr val="000000"/>
                </a:solidFill>
              </a:rPr>
              <a:t>).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Basta que a quantidade de colunas selecionadas seja igual à 7, para que o UNION funcione;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Por exemplo: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400" dirty="0">
                <a:latin typeface="Consolas" panose="020B0609020204030204" pitchFamily="49" charset="0"/>
              </a:rPr>
              <a:t>’ UNION SELECT </a:t>
            </a:r>
            <a:r>
              <a:rPr lang="en-US" sz="1400" dirty="0" err="1">
                <a:latin typeface="Consolas" panose="020B0609020204030204" pitchFamily="49" charset="0"/>
              </a:rPr>
              <a:t>id,login,password,email,secret,NULL,NULL</a:t>
            </a:r>
            <a:r>
              <a:rPr lang="en-US" sz="1400" dirty="0">
                <a:latin typeface="Consolas" panose="020B0609020204030204" pitchFamily="49" charset="0"/>
              </a:rPr>
              <a:t> FROM users WHERE ’%’ = ’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5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508E90-5522-11E1-76BD-3E8310358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6" y="2228250"/>
            <a:ext cx="9144000" cy="7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2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Injeção SQL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 sz="1400" dirty="0">
                <a:latin typeface="Consolas" panose="020B0609020204030204" pitchFamily="49" charset="0"/>
              </a:rPr>
              <a:t>’ UNION SELECT </a:t>
            </a:r>
            <a:r>
              <a:rPr lang="en-US" sz="1400" dirty="0" err="1">
                <a:latin typeface="Consolas" panose="020B0609020204030204" pitchFamily="49" charset="0"/>
              </a:rPr>
              <a:t>id,login,password,email,secret,NULL,NULL</a:t>
            </a:r>
            <a:r>
              <a:rPr lang="en-US" sz="1400" dirty="0">
                <a:latin typeface="Consolas" panose="020B0609020204030204" pitchFamily="49" charset="0"/>
              </a:rPr>
              <a:t> FROM users WHERE ’%’ = ’</a:t>
            </a:r>
            <a:endParaRPr lang="pt-B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6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F4B1A12-1C5F-C686-1261-248D376AD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457" y="1492607"/>
            <a:ext cx="5725324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14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Injeção de comandos de SO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na página de </a:t>
            </a:r>
            <a:r>
              <a:rPr lang="pt-BR" sz="1500" dirty="0" err="1">
                <a:solidFill>
                  <a:srgbClr val="000000"/>
                </a:solidFill>
              </a:rPr>
              <a:t>lookup</a:t>
            </a:r>
            <a:r>
              <a:rPr lang="pt-BR" sz="1500" dirty="0">
                <a:solidFill>
                  <a:srgbClr val="000000"/>
                </a:solidFill>
              </a:rPr>
              <a:t> DNS;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7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7184431-BB25-5C4C-F72E-A3004494B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884" y="1856514"/>
            <a:ext cx="7135221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318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Injeção de comandos de SO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Digitando o texto 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www.nsa.gov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whoami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8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D21A784-9881-2B66-6BAB-D4B43478F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862" y="1658685"/>
            <a:ext cx="7154273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174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Injeção de comandos de SO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Digitando o texto 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  <a:hlinkClick r:id="rId3"/>
              </a:rPr>
              <a:t>www.nsa.gov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</a:rPr>
              <a:t> &amp;&amp; </a:t>
            </a:r>
            <a:r>
              <a:rPr lang="pt-B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cat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</a:rPr>
              <a:t> /</a:t>
            </a:r>
            <a:r>
              <a:rPr lang="pt-B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etc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pt-B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passwd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9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2A88935-38E4-D4A6-DAC9-A59128A6E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714" y="1301619"/>
            <a:ext cx="3851327" cy="332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74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Upload de arquivos sem restrições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na página de upload de imagens: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endParaRPr lang="pt-BR" sz="1500"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10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8B8F065-D60C-6439-C395-4CB33EDA3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508" y="1534843"/>
            <a:ext cx="5325218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20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Upload de arquivos sem restrições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Upload do seguinte arquivo .</a:t>
            </a:r>
            <a:r>
              <a:rPr lang="pt-BR" sz="1500" dirty="0" err="1">
                <a:solidFill>
                  <a:srgbClr val="000000"/>
                </a:solidFill>
              </a:rPr>
              <a:t>php</a:t>
            </a:r>
            <a:r>
              <a:rPr lang="pt-BR" sz="1500" dirty="0">
                <a:solidFill>
                  <a:srgbClr val="000000"/>
                </a:solidFill>
              </a:rPr>
              <a:t> (</a:t>
            </a:r>
            <a:r>
              <a:rPr lang="pt-BR" sz="1500" dirty="0" err="1">
                <a:solidFill>
                  <a:srgbClr val="000000"/>
                </a:solidFill>
              </a:rPr>
              <a:t>arquivoMalicioso.php</a:t>
            </a:r>
            <a:r>
              <a:rPr lang="pt-BR" sz="1500" dirty="0">
                <a:solidFill>
                  <a:srgbClr val="000000"/>
                </a:solidFill>
              </a:rPr>
              <a:t>):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endParaRPr lang="pt-BR" sz="1500"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11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F479A79-4704-B17F-EA97-3B06C5630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621" y="1345579"/>
            <a:ext cx="6058746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20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Upload de arquivos sem restrições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Requisição à “</a:t>
            </a:r>
            <a:r>
              <a:rPr lang="fr-FR" sz="1500" dirty="0">
                <a:latin typeface="Consolas" panose="020B0609020204030204" pitchFamily="49" charset="0"/>
              </a:rPr>
              <a:t>/</a:t>
            </a:r>
            <a:r>
              <a:rPr lang="fr-FR" sz="1500" dirty="0" err="1">
                <a:latin typeface="Consolas" panose="020B0609020204030204" pitchFamily="49" charset="0"/>
              </a:rPr>
              <a:t>bWAPP</a:t>
            </a:r>
            <a:r>
              <a:rPr lang="fr-FR" sz="1500" dirty="0">
                <a:latin typeface="Consolas" panose="020B0609020204030204" pitchFamily="49" charset="0"/>
              </a:rPr>
              <a:t>/images/</a:t>
            </a:r>
            <a:r>
              <a:rPr lang="fr-FR" sz="1500" dirty="0" err="1">
                <a:latin typeface="Consolas" panose="020B0609020204030204" pitchFamily="49" charset="0"/>
              </a:rPr>
              <a:t>arquivoMalicioso.php?code</a:t>
            </a:r>
            <a:r>
              <a:rPr lang="fr-FR" sz="1500" dirty="0">
                <a:latin typeface="Consolas" panose="020B0609020204030204" pitchFamily="49" charset="0"/>
              </a:rPr>
              <a:t>=cat%20/</a:t>
            </a:r>
            <a:r>
              <a:rPr lang="fr-FR" sz="1500" dirty="0" err="1">
                <a:latin typeface="Consolas" panose="020B0609020204030204" pitchFamily="49" charset="0"/>
              </a:rPr>
              <a:t>etc</a:t>
            </a:r>
            <a:r>
              <a:rPr lang="fr-FR" sz="1500" dirty="0">
                <a:latin typeface="Consolas" panose="020B0609020204030204" pitchFamily="49" charset="0"/>
              </a:rPr>
              <a:t>/</a:t>
            </a:r>
            <a:r>
              <a:rPr lang="fr-FR" sz="1500" dirty="0" err="1">
                <a:latin typeface="Consolas" panose="020B0609020204030204" pitchFamily="49" charset="0"/>
              </a:rPr>
              <a:t>passwd</a:t>
            </a:r>
            <a:r>
              <a:rPr lang="fr-FR" sz="1500" dirty="0"/>
              <a:t>".</a:t>
            </a:r>
            <a:endParaRPr lang="pt-BR" sz="1500"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12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198465B-FF54-3C2C-C430-7093A87B7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368" y="1397198"/>
            <a:ext cx="2984661" cy="336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863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XSS (persistente)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na página de blog: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endParaRPr lang="pt-BR" sz="1500"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13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A0706FC-E93B-2308-4138-795FC7906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22" y="1369547"/>
            <a:ext cx="7763958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886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XSS (persistente)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Injeção de HTML é possível. Logo, é possível injetar </a:t>
            </a:r>
            <a:r>
              <a:rPr lang="pt-BR" sz="1500" dirty="0" err="1">
                <a:solidFill>
                  <a:srgbClr val="000000"/>
                </a:solidFill>
              </a:rPr>
              <a:t>tags</a:t>
            </a:r>
            <a:r>
              <a:rPr lang="pt-BR" sz="1500" dirty="0">
                <a:solidFill>
                  <a:srgbClr val="000000"/>
                </a:solidFill>
              </a:rPr>
              <a:t> &lt;script&gt;: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endParaRPr lang="pt-BR" sz="1500"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14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21C9B5-CBE5-DCBE-3253-9ABEAA6DF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353" y="1290275"/>
            <a:ext cx="6906613" cy="320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49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XSS (persistente)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Postagem do comentário </a:t>
            </a:r>
            <a:r>
              <a:rPr lang="fr-FR" sz="1500" dirty="0">
                <a:solidFill>
                  <a:srgbClr val="000000"/>
                </a:solidFill>
              </a:rPr>
              <a:t>"</a:t>
            </a:r>
            <a:r>
              <a:rPr lang="fr-FR" sz="1500" dirty="0">
                <a:solidFill>
                  <a:srgbClr val="000000"/>
                </a:solidFill>
                <a:latin typeface="Consolas" panose="020B0609020204030204" pitchFamily="49" charset="0"/>
              </a:rPr>
              <a:t>Script de </a:t>
            </a:r>
            <a:r>
              <a:rPr lang="fr-F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olá</a:t>
            </a:r>
            <a:r>
              <a:rPr lang="fr-FR" sz="1500" dirty="0">
                <a:solidFill>
                  <a:srgbClr val="000000"/>
                </a:solidFill>
                <a:latin typeface="Consolas" panose="020B0609020204030204" pitchFamily="49" charset="0"/>
              </a:rPr>
              <a:t>: &lt;script&gt;</a:t>
            </a:r>
            <a:r>
              <a:rPr lang="fr-F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alert</a:t>
            </a:r>
            <a:r>
              <a:rPr lang="fr-FR" sz="1500" dirty="0">
                <a:solidFill>
                  <a:srgbClr val="000000"/>
                </a:solidFill>
                <a:latin typeface="Consolas" panose="020B0609020204030204" pitchFamily="49" charset="0"/>
              </a:rPr>
              <a:t>("</a:t>
            </a:r>
            <a:r>
              <a:rPr lang="fr-F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Olá</a:t>
            </a:r>
            <a:r>
              <a:rPr lang="fr-FR" sz="15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mundo</a:t>
            </a:r>
            <a:r>
              <a:rPr lang="fr-FR" sz="1500" dirty="0">
                <a:solidFill>
                  <a:srgbClr val="000000"/>
                </a:solidFill>
                <a:latin typeface="Consolas" panose="020B0609020204030204" pitchFamily="49" charset="0"/>
              </a:rPr>
              <a:t>!")&lt;/script&gt;</a:t>
            </a:r>
            <a:r>
              <a:rPr lang="fr-FR" sz="1500" dirty="0">
                <a:solidFill>
                  <a:srgbClr val="000000"/>
                </a:solidFill>
              </a:rPr>
              <a:t>"</a:t>
            </a:r>
            <a:r>
              <a:rPr lang="pt-BR" sz="1500" dirty="0">
                <a:solidFill>
                  <a:srgbClr val="000000"/>
                </a:solidFill>
              </a:rPr>
              <a:t>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Esse código é executado para todos os clientes que abrem a página.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endParaRPr lang="pt-BR" sz="1500"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15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AC71FE-2F33-C45D-B242-A971A185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7858" y="1870035"/>
            <a:ext cx="4258269" cy="123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08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XSS (persistente)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Postagem do comentário </a:t>
            </a:r>
            <a:r>
              <a:rPr lang="fr-FR" sz="1500" dirty="0" err="1">
                <a:solidFill>
                  <a:srgbClr val="000000"/>
                </a:solidFill>
              </a:rPr>
              <a:t>abaixo</a:t>
            </a:r>
            <a:r>
              <a:rPr lang="pt-BR" sz="1500" dirty="0">
                <a:solidFill>
                  <a:srgbClr val="000000"/>
                </a:solidFill>
              </a:rPr>
              <a:t> permite a postagem automática de comentários no nome de outros usuários;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Todos os clientes que veem esse comentário postam uma mensagem em seu nome.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endParaRPr lang="pt-BR" sz="1500"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16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1489D58-9D07-CFD7-363E-BE35FDB60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53" y="1996116"/>
            <a:ext cx="8841492" cy="92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45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XSS (persistente)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Postagem do comentário </a:t>
            </a:r>
            <a:r>
              <a:rPr lang="fr-FR" sz="1500" dirty="0" err="1">
                <a:solidFill>
                  <a:srgbClr val="000000"/>
                </a:solidFill>
              </a:rPr>
              <a:t>abaixo</a:t>
            </a:r>
            <a:r>
              <a:rPr lang="fr-FR" sz="1500" dirty="0">
                <a:solidFill>
                  <a:srgbClr val="000000"/>
                </a:solidFill>
              </a:rPr>
              <a:t> </a:t>
            </a:r>
            <a:r>
              <a:rPr lang="fr-FR" sz="1500" dirty="0" err="1">
                <a:solidFill>
                  <a:srgbClr val="000000"/>
                </a:solidFill>
              </a:rPr>
              <a:t>rouba</a:t>
            </a:r>
            <a:r>
              <a:rPr lang="fr-FR" sz="1500" dirty="0">
                <a:solidFill>
                  <a:srgbClr val="000000"/>
                </a:solidFill>
              </a:rPr>
              <a:t> os cookies dos clientes e envia </a:t>
            </a:r>
            <a:r>
              <a:rPr lang="fr-FR" sz="1500" dirty="0" err="1">
                <a:solidFill>
                  <a:srgbClr val="000000"/>
                </a:solidFill>
              </a:rPr>
              <a:t>eles</a:t>
            </a:r>
            <a:r>
              <a:rPr lang="fr-FR" sz="1500" dirty="0">
                <a:solidFill>
                  <a:srgbClr val="000000"/>
                </a:solidFill>
              </a:rPr>
              <a:t> para o hacker</a:t>
            </a:r>
            <a:r>
              <a:rPr lang="pt-BR" sz="1500" dirty="0">
                <a:solidFill>
                  <a:srgbClr val="000000"/>
                </a:solidFill>
              </a:rPr>
              <a:t>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Isso permite roubar o ID da sessão, que permite que o hacker faça ações no site em nome do usuário do cookie roubado.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17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B651F15-CEFE-481F-590D-0148BFD5C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33" y="2120712"/>
            <a:ext cx="7821116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72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XSS (persistente)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O hacker pode executar o comando “</a:t>
            </a:r>
            <a:r>
              <a:rPr lang="pt-BR" sz="1500" dirty="0" err="1">
                <a:solidFill>
                  <a:srgbClr val="000000"/>
                </a:solidFill>
                <a:latin typeface="Consolas" panose="020B0609020204030204" pitchFamily="49" charset="0"/>
              </a:rPr>
              <a:t>ncat</a:t>
            </a:r>
            <a:r>
              <a:rPr lang="pt-BR" sz="1500" dirty="0">
                <a:solidFill>
                  <a:srgbClr val="000000"/>
                </a:solidFill>
                <a:latin typeface="Consolas" panose="020B0609020204030204" pitchFamily="49" charset="0"/>
              </a:rPr>
              <a:t> -l 9000 -v</a:t>
            </a:r>
            <a:r>
              <a:rPr lang="pt-BR" sz="1500" dirty="0">
                <a:solidFill>
                  <a:srgbClr val="000000"/>
                </a:solidFill>
              </a:rPr>
              <a:t>” para ouvir por requisições contendo os cookies dos usuários: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18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53AA1E2-11E9-4770-2E8D-FEDA66289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582" y="1404954"/>
            <a:ext cx="5782033" cy="302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766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 err="1">
                <a:solidFill>
                  <a:srgbClr val="000000"/>
                </a:solidFill>
              </a:rPr>
              <a:t>Denial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of</a:t>
            </a:r>
            <a:r>
              <a:rPr lang="pt-BR" dirty="0">
                <a:solidFill>
                  <a:srgbClr val="000000"/>
                </a:solidFill>
              </a:rPr>
              <a:t> Service (</a:t>
            </a:r>
            <a:r>
              <a:rPr lang="pt-BR" dirty="0" err="1">
                <a:solidFill>
                  <a:srgbClr val="000000"/>
                </a:solidFill>
              </a:rPr>
              <a:t>large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chunk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size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Basta executar um script em </a:t>
            </a:r>
            <a:r>
              <a:rPr lang="pt-BR" sz="1500" dirty="0" err="1">
                <a:solidFill>
                  <a:srgbClr val="000000"/>
                </a:solidFill>
              </a:rPr>
              <a:t>python</a:t>
            </a:r>
            <a:r>
              <a:rPr lang="pt-BR" sz="1500" dirty="0">
                <a:solidFill>
                  <a:srgbClr val="000000"/>
                </a:solidFill>
              </a:rPr>
              <a:t> que envia muitos pacotes para a porta 8080, que é onde o </a:t>
            </a:r>
            <a:r>
              <a:rPr lang="pt-BR" sz="1500" dirty="0" err="1">
                <a:solidFill>
                  <a:srgbClr val="000000"/>
                </a:solidFill>
              </a:rPr>
              <a:t>nginx</a:t>
            </a:r>
            <a:r>
              <a:rPr lang="pt-BR" sz="1500" dirty="0">
                <a:solidFill>
                  <a:srgbClr val="000000"/>
                </a:solidFill>
              </a:rPr>
              <a:t> está servindo;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Site se torna inutilizável.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19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117BA1B-3291-346E-AA10-3D24F3F65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255" y="1250029"/>
            <a:ext cx="4768325" cy="344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15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CSRF (mudança de senha)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na tela de mudança de senha;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20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8A259B8-5436-8436-A877-2AC74F91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446" y="1512037"/>
            <a:ext cx="5372850" cy="260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758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CSRF (mudança de senha)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Requisição de troca de senha envia os dados em query </a:t>
            </a:r>
            <a:r>
              <a:rPr lang="pt-BR" sz="1500" dirty="0" err="1">
                <a:solidFill>
                  <a:srgbClr val="000000"/>
                </a:solidFill>
              </a:rPr>
              <a:t>string</a:t>
            </a:r>
            <a:r>
              <a:rPr lang="pt-BR" sz="1500" dirty="0">
                <a:solidFill>
                  <a:srgbClr val="000000"/>
                </a:solidFill>
              </a:rPr>
              <a:t>, visíveis para todos;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21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CE3069-FD23-565D-2000-B168A3DDC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892" y="1540429"/>
            <a:ext cx="7645209" cy="286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200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CSRF (mudança de senha)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interceptar o pacote e forjar uma requisição, para trocar a senha para um valor arbitrário.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22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343929-5597-D781-6D55-4019697F0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43" y="1877791"/>
            <a:ext cx="7525800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20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IDOR (</a:t>
            </a:r>
            <a:r>
              <a:rPr lang="pt-BR" dirty="0" err="1">
                <a:solidFill>
                  <a:srgbClr val="000000"/>
                </a:solidFill>
              </a:rPr>
              <a:t>Insecure</a:t>
            </a:r>
            <a:r>
              <a:rPr lang="pt-BR" dirty="0">
                <a:solidFill>
                  <a:srgbClr val="000000"/>
                </a:solidFill>
              </a:rPr>
              <a:t> Direct </a:t>
            </a:r>
            <a:r>
              <a:rPr lang="pt-BR" dirty="0" err="1">
                <a:solidFill>
                  <a:srgbClr val="000000"/>
                </a:solidFill>
              </a:rPr>
              <a:t>Object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Reference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na página de mudança de segredo;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23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3EF2E3-BD03-B36D-E0A0-37B1011BE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679" y="1653922"/>
            <a:ext cx="6020640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290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IDOR (</a:t>
            </a:r>
            <a:r>
              <a:rPr lang="pt-BR" dirty="0" err="1">
                <a:solidFill>
                  <a:srgbClr val="000000"/>
                </a:solidFill>
              </a:rPr>
              <a:t>Insecure</a:t>
            </a:r>
            <a:r>
              <a:rPr lang="pt-BR" dirty="0">
                <a:solidFill>
                  <a:srgbClr val="000000"/>
                </a:solidFill>
              </a:rPr>
              <a:t> Direct </a:t>
            </a:r>
            <a:r>
              <a:rPr lang="pt-BR" dirty="0" err="1">
                <a:solidFill>
                  <a:srgbClr val="000000"/>
                </a:solidFill>
              </a:rPr>
              <a:t>Object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Reference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interceptar o pacote e forjar uma requisição, para trocar o segredo para um valor arbitrário. Além disso, é possível mudar o usuário que terá sua senha alterada.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24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8AD4851-834E-0B7C-2B73-6A541BC3B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018" y="1613438"/>
            <a:ext cx="5237926" cy="288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48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IDOR (</a:t>
            </a:r>
            <a:r>
              <a:rPr lang="pt-BR" dirty="0" err="1">
                <a:solidFill>
                  <a:srgbClr val="000000"/>
                </a:solidFill>
              </a:rPr>
              <a:t>Insecure</a:t>
            </a:r>
            <a:r>
              <a:rPr lang="pt-BR" dirty="0">
                <a:solidFill>
                  <a:srgbClr val="000000"/>
                </a:solidFill>
              </a:rPr>
              <a:t> Direct </a:t>
            </a:r>
            <a:r>
              <a:rPr lang="pt-BR" dirty="0" err="1">
                <a:solidFill>
                  <a:srgbClr val="000000"/>
                </a:solidFill>
              </a:rPr>
              <a:t>Object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Reference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interceptar o pacote e forjar uma requisição, para trocar o segredo para um valor arbitrário. Além disso, é possível mudar o usuário que terá sua senha alterada.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25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2CE24EE-E691-8E38-A37A-C4B78709E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3049" y="1646143"/>
            <a:ext cx="4842133" cy="293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883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XML XXE (</a:t>
            </a:r>
            <a:r>
              <a:rPr lang="pt-BR" dirty="0" err="1">
                <a:solidFill>
                  <a:srgbClr val="000000"/>
                </a:solidFill>
              </a:rPr>
              <a:t>External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entity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attacks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Possível na página de resetar um segredo;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26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246613D-BCF8-AFB0-4310-23EAB5BE7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20" y="2038275"/>
            <a:ext cx="7020905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43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XML XXE (</a:t>
            </a:r>
            <a:r>
              <a:rPr lang="pt-BR" dirty="0" err="1">
                <a:solidFill>
                  <a:srgbClr val="000000"/>
                </a:solidFill>
              </a:rPr>
              <a:t>External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entity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attacks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Corpo da requisição é um documento XML. É possível adicionar entidades externas que referenciam arquivos do servidor.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27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B61DAA-9FAE-F530-188C-267CC8566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405" y="1289435"/>
            <a:ext cx="4977208" cy="329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020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XML XXE (</a:t>
            </a:r>
            <a:r>
              <a:rPr lang="pt-BR" dirty="0" err="1">
                <a:solidFill>
                  <a:srgbClr val="000000"/>
                </a:solidFill>
              </a:rPr>
              <a:t>External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entity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attacks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Corpo da requisição é um documento XML. É possível adicionar entidades externas que referenciam arquivos do servidor.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28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2E82946-E9A3-5BCB-A306-CF3686CAC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205" y="1841190"/>
            <a:ext cx="554432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080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XML XXE (</a:t>
            </a:r>
            <a:r>
              <a:rPr lang="pt-BR" dirty="0" err="1">
                <a:solidFill>
                  <a:srgbClr val="000000"/>
                </a:solidFill>
              </a:rPr>
              <a:t>External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entity</a:t>
            </a:r>
            <a:r>
              <a:rPr lang="pt-BR" dirty="0">
                <a:solidFill>
                  <a:srgbClr val="000000"/>
                </a:solidFill>
              </a:rPr>
              <a:t> </a:t>
            </a:r>
            <a:r>
              <a:rPr lang="pt-BR" dirty="0" err="1">
                <a:solidFill>
                  <a:srgbClr val="000000"/>
                </a:solidFill>
              </a:rPr>
              <a:t>attacks</a:t>
            </a:r>
            <a:r>
              <a:rPr lang="pt-BR" dirty="0">
                <a:solidFill>
                  <a:srgbClr val="000000"/>
                </a:solidFill>
              </a:rPr>
              <a:t>)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3" name="Google Shape;403;p56"/>
          <p:cNvSpPr txBox="1">
            <a:spLocks noGrp="1"/>
          </p:cNvSpPr>
          <p:nvPr>
            <p:ph type="body" idx="1"/>
          </p:nvPr>
        </p:nvSpPr>
        <p:spPr>
          <a:xfrm>
            <a:off x="253194" y="859678"/>
            <a:ext cx="8637611" cy="3636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pt-BR" sz="1500" dirty="0">
                <a:solidFill>
                  <a:srgbClr val="000000"/>
                </a:solidFill>
              </a:rPr>
              <a:t>Corpo da requisição é um documento XML. É possível adicionar entidades externas que referenciam arquivos do servidor.</a:t>
            </a: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29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CF68C40-6F31-768C-6AC9-7D75CCB37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054" y="1313441"/>
            <a:ext cx="4293417" cy="335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953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 dirty="0">
                <a:solidFill>
                  <a:srgbClr val="000000"/>
                </a:solidFill>
              </a:rPr>
              <a:t>Análise de gravidade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404" name="Google Shape;404;p5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>
                <a:solidFill>
                  <a:srgbClr val="000000"/>
                </a:solidFill>
              </a:rPr>
              <a:t>30</a:t>
            </a:fld>
            <a:endParaRPr>
              <a:solidFill>
                <a:srgbClr val="00000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38E051F-B318-3777-E828-B48E527CF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26" y="1099131"/>
            <a:ext cx="8181474" cy="306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3515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roxima Nova"/>
              <a:buNone/>
            </a:pPr>
            <a:r>
              <a:rPr lang="pt-BR" sz="3000" dirty="0"/>
              <a:t>Análise de vulnerabilidades no </a:t>
            </a:r>
            <a:r>
              <a:rPr lang="pt-BR" sz="3000" dirty="0" err="1"/>
              <a:t>bWAPP</a:t>
            </a:r>
            <a:endParaRPr sz="3000" dirty="0"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  <p:sp>
        <p:nvSpPr>
          <p:cNvPr id="57" name="Google Shape;57;p8"/>
          <p:cNvSpPr txBox="1"/>
          <p:nvPr/>
        </p:nvSpPr>
        <p:spPr>
          <a:xfrm>
            <a:off x="2127600" y="3990275"/>
            <a:ext cx="4888800" cy="7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Acadêmico: Gustavo Henrique Stahl Müller</a:t>
            </a:r>
          </a:p>
          <a:p>
            <a:pPr algn="ctr">
              <a:buSzPts val="1400"/>
            </a:pPr>
            <a:r>
              <a:rPr lang="pt-BR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Professor: Fabrício </a:t>
            </a:r>
            <a:r>
              <a:rPr lang="pt-BR" dirty="0" err="1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Bortoluzzi</a:t>
            </a:r>
            <a:endParaRPr lang="pt-BR" sz="1400" b="0" i="0" u="none" strike="noStrike" cap="none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 dirty="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0" i="0" u="none" strike="noStrike" cap="none" dirty="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Disciplina de Segurança de Sistemas Computacionais</a:t>
            </a:r>
          </a:p>
        </p:txBody>
      </p:sp>
    </p:spTree>
    <p:extLst>
      <p:ext uri="{BB962C8B-B14F-4D97-AF65-F5344CB8AC3E}">
        <p14:creationId xmlns:p14="http://schemas.microsoft.com/office/powerpoint/2010/main" val="3541869259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_univali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1239</TotalTime>
  <Words>804</Words>
  <Application>Microsoft Office PowerPoint</Application>
  <PresentationFormat>Apresentação na tela (16:9)</PresentationFormat>
  <Paragraphs>115</Paragraphs>
  <Slides>31</Slides>
  <Notes>31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6" baseType="lpstr">
      <vt:lpstr>Noto Sans Symbols</vt:lpstr>
      <vt:lpstr>Consolas</vt:lpstr>
      <vt:lpstr>Proxima Nova</vt:lpstr>
      <vt:lpstr>Arial</vt:lpstr>
      <vt:lpstr>template_univali</vt:lpstr>
      <vt:lpstr>Análise de vulnerabilidades no bWAPP</vt:lpstr>
      <vt:lpstr>Agenda</vt:lpstr>
      <vt:lpstr>Vulnerabilidades</vt:lpstr>
      <vt:lpstr>Injeção SQL</vt:lpstr>
      <vt:lpstr>Injeção SQL</vt:lpstr>
      <vt:lpstr>Injeção SQL</vt:lpstr>
      <vt:lpstr>Injeção de comandos de SO</vt:lpstr>
      <vt:lpstr>Injeção de comandos de SO</vt:lpstr>
      <vt:lpstr>Injeção de comandos de SO</vt:lpstr>
      <vt:lpstr>Upload de arquivos sem restrições</vt:lpstr>
      <vt:lpstr>Upload de arquivos sem restrições</vt:lpstr>
      <vt:lpstr>Upload de arquivos sem restrições</vt:lpstr>
      <vt:lpstr>XSS (persistente)</vt:lpstr>
      <vt:lpstr>XSS (persistente)</vt:lpstr>
      <vt:lpstr>XSS (persistente)</vt:lpstr>
      <vt:lpstr>XSS (persistente)</vt:lpstr>
      <vt:lpstr>XSS (persistente)</vt:lpstr>
      <vt:lpstr>XSS (persistente)</vt:lpstr>
      <vt:lpstr>Denial of Service (large chunk size)</vt:lpstr>
      <vt:lpstr>CSRF (mudança de senha)</vt:lpstr>
      <vt:lpstr>CSRF (mudança de senha)</vt:lpstr>
      <vt:lpstr>CSRF (mudança de senha)</vt:lpstr>
      <vt:lpstr>IDOR (Insecure Direct Object Reference)</vt:lpstr>
      <vt:lpstr>IDOR (Insecure Direct Object Reference)</vt:lpstr>
      <vt:lpstr>IDOR (Insecure Direct Object Reference)</vt:lpstr>
      <vt:lpstr>XML XXE (External entity attacks)</vt:lpstr>
      <vt:lpstr>XML XXE (External entity attacks)</vt:lpstr>
      <vt:lpstr>XML XXE (External entity attacks)</vt:lpstr>
      <vt:lpstr>XML XXE (External entity attacks)</vt:lpstr>
      <vt:lpstr>Análise de gravidade</vt:lpstr>
      <vt:lpstr>Análise de vulnerabilidades no bWAPP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 de rede AMBA-AXI para uma rede-em-chip confiável</dc:title>
  <dc:creator>Gustavo</dc:creator>
  <cp:lastModifiedBy>Gustavo</cp:lastModifiedBy>
  <cp:revision>252</cp:revision>
  <dcterms:modified xsi:type="dcterms:W3CDTF">2023-07-07T02:23:13Z</dcterms:modified>
</cp:coreProperties>
</file>
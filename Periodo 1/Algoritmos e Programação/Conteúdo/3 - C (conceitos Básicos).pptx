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504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03" autoAdjust="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6DF6F3E0-DD4F-44BC-9188-6513FC5D3B0A}"/>
  </pc:docChgLst>
  <pc:docChgLst>
    <pc:chgData userId="1bb33b6d150db90b" providerId="LiveId" clId="{F9B35A3E-3BBF-42D5-8D98-ACFDA8B42226}"/>
  </pc:docChgLst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Alex Luciano Roesler Rese" userId="1bb33b6d150db90b" providerId="LiveId" clId="{BE0E5D8C-9DD7-4DC8-BF41-C3CF6E733D60}"/>
  </pc:docChgLst>
  <pc:docChgLst>
    <pc:chgData name="Rafael Marini" userId="S::rafaelmarini@edu.univali.br::50055c5f-03a2-432d-b5f9-e31f497d20ab" providerId="AD" clId="Web-{6B7372B4-DA91-4CCE-BFE3-1FB923F3A418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01/03/2019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01/03/2019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Lógica e Algoritmos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Corpo</a:t>
            </a:r>
            <a:r>
              <a:rPr lang="en-US" sz="4000" b="1" u="sng" dirty="0"/>
              <a:t> de um </a:t>
            </a:r>
            <a:r>
              <a:rPr lang="en-US" sz="4000" b="1" u="sng" dirty="0" err="1"/>
              <a:t>programa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4263541" y="1652880"/>
            <a:ext cx="4886561" cy="595551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70000"/>
              <a:defRPr/>
            </a:pPr>
            <a:r>
              <a:rPr lang="en-US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#include  </a:t>
            </a:r>
            <a:r>
              <a:rPr lang="en-US" i="1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Diretivas</a:t>
            </a:r>
            <a:r>
              <a:rPr lang="en-US" i="1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do </a:t>
            </a:r>
            <a:r>
              <a:rPr lang="en-US" i="1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processador</a:t>
            </a:r>
            <a:endParaRPr lang="pt-BR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70000"/>
              <a:defRPr/>
            </a:pPr>
            <a:r>
              <a:rPr lang="en-US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#define   </a:t>
            </a:r>
            <a:r>
              <a:rPr lang="en-US" i="1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Macros do </a:t>
            </a:r>
            <a:r>
              <a:rPr lang="en-US" i="1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processador</a:t>
            </a:r>
            <a:endParaRPr lang="en-US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4263541" y="2329416"/>
            <a:ext cx="4886561" cy="11713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Declarações</a:t>
            </a: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</a:t>
            </a: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Globais</a:t>
            </a:r>
            <a:endParaRPr lang="en-US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Funções</a:t>
            </a:r>
            <a:endParaRPr lang="en-US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Variáveis</a:t>
            </a:r>
            <a:endParaRPr lang="en-US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34" charset="0"/>
              <a:buChar char="•"/>
              <a:defRPr/>
            </a:pP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Protótipos</a:t>
            </a: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de </a:t>
            </a: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funções</a:t>
            </a:r>
            <a:endParaRPr lang="en-US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4263541" y="3581705"/>
            <a:ext cx="4886561" cy="15001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int</a:t>
            </a: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main() {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	</a:t>
            </a:r>
            <a:r>
              <a:rPr lang="en-US" i="1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declarações</a:t>
            </a:r>
            <a:r>
              <a:rPr lang="en-US" i="1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</a:t>
            </a:r>
            <a:r>
              <a:rPr lang="en-US" i="1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locais</a:t>
            </a:r>
            <a:endParaRPr lang="en-US" i="1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i="1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	</a:t>
            </a:r>
            <a:r>
              <a:rPr lang="en-US" i="1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sentenças</a:t>
            </a:r>
            <a:endParaRPr lang="en-US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	return 0;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4263541" y="5162865"/>
            <a:ext cx="4886560" cy="15192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b="1" i="1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Definições</a:t>
            </a:r>
            <a:r>
              <a:rPr lang="en-US" b="1" i="1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de </a:t>
            </a:r>
            <a:r>
              <a:rPr lang="en-US" b="1" i="1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outras</a:t>
            </a:r>
            <a:r>
              <a:rPr lang="en-US" b="1" i="1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</a:t>
            </a:r>
            <a:r>
              <a:rPr lang="en-US" b="1" i="1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funções</a:t>
            </a:r>
            <a:endParaRPr lang="en-US" b="1" i="1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endParaRPr lang="en-US" i="1" kern="0" dirty="0">
              <a:latin typeface="Courier New" panose="02070309020205020404" pitchFamily="49" charset="0"/>
              <a:ea typeface="Verdana" pitchFamily="34" charset="0"/>
              <a:cs typeface="Courier New" panose="02070309020205020404" pitchFamily="49" charset="0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int</a:t>
            </a: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 func1 () {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	…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defRPr/>
            </a:pPr>
            <a:r>
              <a:rPr lang="en-US" kern="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3E516A13-61D1-4417-BFF1-461EEF00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</a:t>
            </a:fld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606C126-406A-4A13-93BD-CF6F98A19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EF75912-A5D1-420B-A32B-C9A0AC35F4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965" y="2207360"/>
            <a:ext cx="8398775" cy="44284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trabalho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de um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computador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baseado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na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manipulação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das informações contidas em sua memória. Estas informações podem ser classificadas em dois tipos: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200" b="1" i="1" u="sng" dirty="0">
                <a:ea typeface="Verdana" panose="020B0604030504040204" pitchFamily="34" charset="0"/>
                <a:cs typeface="Verdana" panose="020B0604030504040204" pitchFamily="34" charset="0"/>
              </a:rPr>
              <a:t>Instruções:</a:t>
            </a:r>
            <a:r>
              <a:rPr lang="pt-BR" sz="2200" dirty="0">
                <a:ea typeface="Verdana" panose="020B0604030504040204" pitchFamily="34" charset="0"/>
                <a:cs typeface="Verdana" panose="020B0604030504040204" pitchFamily="34" charset="0"/>
              </a:rPr>
              <a:t> comandam o funcionamento da máquina e determinam a maneira como devem ser tratados os dados.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200" b="1" i="1" u="sng" dirty="0">
                <a:ea typeface="Verdana" panose="020B0604030504040204" pitchFamily="34" charset="0"/>
                <a:cs typeface="Verdana" panose="020B0604030504040204" pitchFamily="34" charset="0"/>
              </a:rPr>
              <a:t>Dados:</a:t>
            </a:r>
            <a:r>
              <a:rPr lang="pt-BR" sz="2200" dirty="0">
                <a:ea typeface="Verdana" panose="020B0604030504040204" pitchFamily="34" charset="0"/>
                <a:cs typeface="Verdana" panose="020B0604030504040204" pitchFamily="34" charset="0"/>
              </a:rPr>
              <a:t> correspondem as informações a serem processadas pelo computador. 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tipos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de dados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básicos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qualquer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linguagem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inteiros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reais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caracteres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lógicos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pt-BR" sz="24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4EC092-AB0F-4B2D-AC9F-1D8EEBD2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3598B7-3AE5-404A-AC6D-E0F62AB92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5033268-B233-4192-99C5-640067ED49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7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0015" y="2360066"/>
            <a:ext cx="6886002" cy="381762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u="sng" dirty="0" err="1"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endParaRPr lang="en-US" sz="2400" b="1" u="sng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Representam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valores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numéricos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inteiros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seja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valores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fracionários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Abrangem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valores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positivos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negativos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 O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tipo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pode armazenar números que vão da faixa de -2.147.483.648 até 2.147.483.647 (um total de 232 números, ou 4.294.967.296). Ocupam 2 bytes na memória.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23CD46-D77C-4DF6-BB2C-1FB00C21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4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D0F095-34C6-4E6D-A2EE-16FA14236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7A7FC5D-90C6-4846-BC06-493F03A439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0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7311" y="2512771"/>
            <a:ext cx="6871725" cy="3359511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ea typeface="Verdana" panose="020B0604030504040204" pitchFamily="34" charset="0"/>
                <a:cs typeface="Verdana" panose="020B0604030504040204" pitchFamily="34" charset="0"/>
              </a:rPr>
              <a:t>float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Representam números fracionários e números reais (o que inclui os números inteiros). A faixa de valores varia de 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3.4 * (10-38) a 3.4 * (1038).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Ocupam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4 bytes de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memória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, 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possuem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precisão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de 7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dígitos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60A02-D1AD-4710-856B-F153329B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5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036940-5A3B-422C-8CDD-62794903A1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4360DB0-D719-4ADD-A5CA-0E33CC0D85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6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7311" y="2512771"/>
            <a:ext cx="6871725" cy="3359511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ea typeface="Verdana" panose="020B0604030504040204" pitchFamily="34" charset="0"/>
                <a:cs typeface="Verdana" panose="020B0604030504040204" pitchFamily="34" charset="0"/>
              </a:rPr>
              <a:t>double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Como 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float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representam números fracionários e números reais (o que inclui os números inteiros), mas com uma maior precisão. A faixa de valores varia de 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1.7 * (10-308) a 1.7 * (10308).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Ocupam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8 bytes de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memória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, 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possuem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precisão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de 15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dígitos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6F78FF-B4DD-488A-8CAA-4AC39055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6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F6184E-630E-4CB4-A577-9A44A1239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9C6E98F-E540-4C91-BB6F-6869AD8912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9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0417" y="1901950"/>
            <a:ext cx="7635250" cy="473385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u="sng" dirty="0" err="1">
                <a:ea typeface="Verdana" panose="020B0604030504040204" pitchFamily="34" charset="0"/>
                <a:cs typeface="Verdana" panose="020B0604030504040204" pitchFamily="34" charset="0"/>
              </a:rPr>
              <a:t>bool</a:t>
            </a:r>
            <a:endParaRPr lang="en-US" sz="2400" b="1" u="sng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É o tipo mais simples, e pode armazenar apenas dois valores: verdadeiro ou falso. Costuma ser utilizado para indicar se houve sucesso ou não em alguma operação.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compilador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inclua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bool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deverá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de dado int. C++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usa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o valor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inteiro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0 para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representar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falso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qualquer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valor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inteiro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diferente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de 0 para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representar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verdadeiro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4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1AE6C6-8CBE-4BB6-8606-61A0D67F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7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70E498-9C23-4605-9A3E-45D6A4317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616FAE5-8A5A-4586-A197-8A360B0ED2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5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112" y="1749246"/>
            <a:ext cx="8352702" cy="473385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ea typeface="Verdana" panose="020B0604030504040204" pitchFamily="34" charset="0"/>
                <a:cs typeface="Verdana" panose="020B0604030504040204" pitchFamily="34" charset="0"/>
              </a:rPr>
              <a:t>char</a:t>
            </a:r>
          </a:p>
          <a:p>
            <a:pPr lvl="1" defTabSz="16319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O tipo de dados </a:t>
            </a:r>
            <a:r>
              <a:rPr lang="pt-BR" sz="1800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 é utilizado para armazenar letras, números e outros caracteres especiais. A declaração do tipo dá-se através da palavra reservada char. </a:t>
            </a:r>
          </a:p>
          <a:p>
            <a:pPr lvl="1" defTabSz="16319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Ao total, são 256 caracteres que podem ser armazenados (-128 a 128), dos quais os 128 primeiros fazem parte do conjunto ASC II. Pode-se declarar um </a:t>
            </a:r>
            <a:r>
              <a:rPr lang="pt-BR" sz="1800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 de duas formas: com ou sem aspas. Ao declarar um </a:t>
            </a:r>
            <a:r>
              <a:rPr lang="pt-BR" sz="1800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 sem as aspas simples deverá saber qual é o decimal correspondente. Por exemplo, se for digitado char </a:t>
            </a:r>
            <a:r>
              <a:rPr lang="pt-BR" sz="1800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 = 97, o console imprimirá a letra 'a'. Logicamente, a variável poderia ser declarado com char </a:t>
            </a:r>
            <a:r>
              <a:rPr lang="pt-BR" sz="1800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sz="1800" dirty="0">
                <a:ea typeface="Verdana" panose="020B0604030504040204" pitchFamily="34" charset="0"/>
                <a:cs typeface="Verdana" panose="020B0604030504040204" pitchFamily="34" charset="0"/>
              </a:rPr>
              <a:t> = 'a'.</a:t>
            </a:r>
          </a:p>
          <a:p>
            <a:pPr lvl="1" defTabSz="16319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800" dirty="0" err="1">
                <a:ea typeface="Verdana" panose="020B0604030504040204" pitchFamily="34" charset="0"/>
                <a:cs typeface="Verdana" panose="020B0604030504040204" pitchFamily="34" charset="0"/>
              </a:rPr>
              <a:t>Ocupa</a:t>
            </a: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 1 byte </a:t>
            </a:r>
            <a:r>
              <a:rPr lang="en-US" sz="1800" dirty="0" err="1"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800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D746B7-3F38-4175-BF2E-6E7F63C7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EBABA8-1A9B-40FF-8DD0-9C805E687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08204F7-5526-46AA-B2CE-34B19C03F0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4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0417" y="2054656"/>
            <a:ext cx="7635250" cy="4581149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b="1" u="sng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sz="2400" b="1" u="sng" dirty="0">
                <a:ea typeface="Verdana" panose="020B0604030504040204" pitchFamily="34" charset="0"/>
                <a:cs typeface="Verdana" panose="020B0604030504040204" pitchFamily="34" charset="0"/>
              </a:rPr>
              <a:t> UTF-16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Existe o tipo 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wchar_t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, que também é uma palavra reservada da linguagem C++. A declaração e o uso seguem as mesmas regras do tipo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, porém, o conjunto de caracteres que esse tipo suporta é muito maior (65.536 caracteres ao total). O conjunto de caracteres desse tipo é o Unicode codificado em UTF-16. Assim sendo, caracteres especiais como letras com acentuação, cedilha, e outros podem ser lidos e impressos.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A0AAEB-2CA7-4B5E-947A-EA7F10D9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9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CF2E54-95E3-455E-81AD-A7750459E9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3A1DB16-33F6-41B1-ACD2-7D3EE05FF7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9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</a:t>
            </a:r>
            <a:r>
              <a:rPr lang="en-US" sz="4000" b="1" u="sng" dirty="0" err="1"/>
              <a:t>Básicos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0417" y="2207360"/>
            <a:ext cx="7635250" cy="4428444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b="1" u="sng" dirty="0" err="1">
                <a:ea typeface="Verdana" panose="020B0604030504040204" pitchFamily="34" charset="0"/>
                <a:cs typeface="Verdana" panose="020B0604030504040204" pitchFamily="34" charset="0"/>
              </a:rPr>
              <a:t>void</a:t>
            </a:r>
            <a:endParaRPr lang="pt-BR" sz="2400" b="1" u="sng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O tipo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void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indica que não recebe nenhum valor (tipo vazio). É utilizado nas seguintes situações:</a:t>
            </a:r>
          </a:p>
          <a:p>
            <a:pPr lvl="2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Declarar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função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sem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retorno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2">
              <a:lnSpc>
                <a:spcPct val="16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Declarar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pontos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 err="1">
                <a:ea typeface="Verdana" panose="020B0604030504040204" pitchFamily="34" charset="0"/>
                <a:cs typeface="Verdana" panose="020B0604030504040204" pitchFamily="34" charset="0"/>
              </a:rPr>
              <a:t>genéricos</a:t>
            </a:r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void.</a:t>
            </a:r>
            <a:endParaRPr lang="pt-BR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8D5476-3D42-4ADF-AEE6-2FB28D3DD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10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ACEAB2-A88F-46AE-B728-EB7C3AD567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7C92893-2612-4EFA-B79C-2F926814FB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Modificadores</a:t>
            </a:r>
            <a:r>
              <a:rPr lang="en-US" sz="4000" b="1" u="sng" dirty="0"/>
              <a:t> de </a:t>
            </a:r>
            <a:r>
              <a:rPr lang="en-US" sz="4000" b="1" u="sng" dirty="0" err="1"/>
              <a:t>Faixas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6350" y="1901950"/>
            <a:ext cx="7635250" cy="4733855"/>
          </a:xfrm>
        </p:spPr>
        <p:txBody>
          <a:bodyPr>
            <a:noAutofit/>
          </a:bodyPr>
          <a:lstStyle/>
          <a:p>
            <a:pPr marL="0" indent="0">
              <a:buClr>
                <a:srgbClr val="FF0000"/>
              </a:buClr>
              <a:buNone/>
            </a:pP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Existem alguns modificadores de faixa (ou intervalo). Isso altera a faixa de valores suportada pela variável (mas a capacidade de armazenamento continua a mesma).</a:t>
            </a:r>
            <a:endParaRPr lang="pt-BR" sz="2400" b="1" i="1" u="sng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2400" b="1" i="1" u="sng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b="1" i="1" u="sng" dirty="0">
                <a:ea typeface="Verdana" panose="020B0604030504040204" pitchFamily="34" charset="0"/>
                <a:cs typeface="Verdana" panose="020B0604030504040204" pitchFamily="34" charset="0"/>
              </a:rPr>
              <a:t>short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O modificador </a:t>
            </a:r>
            <a:r>
              <a:rPr lang="pt-BR" i="1" u="sng" dirty="0">
                <a:ea typeface="Verdana" panose="020B0604030504040204" pitchFamily="34" charset="0"/>
                <a:cs typeface="Verdana" panose="020B0604030504040204" pitchFamily="34" charset="0"/>
              </a:rPr>
              <a:t>short</a:t>
            </a:r>
            <a:r>
              <a:rPr lang="pt-BR" i="1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fixa a faixa dos valores inteiros (</a:t>
            </a:r>
            <a:r>
              <a:rPr lang="pt-BR" i="1" dirty="0" err="1"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) para -32.768 até 32.767. Ao declarar um inteiro, ele inicialmente é da faixa de um </a:t>
            </a:r>
            <a:r>
              <a:rPr lang="pt-BR" i="1" dirty="0" err="1">
                <a:ea typeface="Verdana" panose="020B0604030504040204" pitchFamily="34" charset="0"/>
                <a:cs typeface="Verdana" panose="020B0604030504040204" pitchFamily="34" charset="0"/>
              </a:rPr>
              <a:t>long</a:t>
            </a:r>
            <a:r>
              <a:rPr lang="pt-BR" i="1" dirty="0">
                <a:ea typeface="Verdana" panose="020B0604030504040204" pitchFamily="34" charset="0"/>
                <a:cs typeface="Verdana" panose="020B0604030504040204" pitchFamily="34" charset="0"/>
              </a:rPr>
              <a:t> int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. Se você quer reduzir a faixa, use </a:t>
            </a:r>
            <a:r>
              <a:rPr lang="pt-BR" i="1" dirty="0">
                <a:ea typeface="Verdana" panose="020B0604030504040204" pitchFamily="34" charset="0"/>
                <a:cs typeface="Verdana" panose="020B0604030504040204" pitchFamily="34" charset="0"/>
              </a:rPr>
              <a:t>short int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24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i="1" u="sng" dirty="0">
                <a:ea typeface="Verdana" panose="020B0604030504040204" pitchFamily="34" charset="0"/>
                <a:cs typeface="Verdana" panose="020B0604030504040204" pitchFamily="34" charset="0"/>
              </a:rPr>
              <a:t>long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Amplia a faixa de valores do tipo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e do tipo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float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(que passa a ter a faixa de valores de um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double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C2824A-D1EC-4A4B-A103-53108F08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11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539517-168D-45A8-8EBC-4C62526A5B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298B1D4-D136-4EC9-BE8F-51E3B1BC2C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4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Modificadores</a:t>
            </a:r>
            <a:r>
              <a:rPr lang="en-US" sz="4000" b="1" u="sng" dirty="0"/>
              <a:t> de </a:t>
            </a:r>
            <a:r>
              <a:rPr lang="en-US" sz="4000" b="1" u="sng" dirty="0" err="1"/>
              <a:t>Faixas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1749246"/>
            <a:ext cx="8093365" cy="47338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i="1" u="sng" dirty="0">
                <a:ea typeface="Verdana" panose="020B0604030504040204" pitchFamily="34" charset="0"/>
                <a:cs typeface="Verdana" panose="020B0604030504040204" pitchFamily="34" charset="0"/>
              </a:rPr>
              <a:t>unsigned e signed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Estes modificadores alteram a faixa dos números inteiros (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) e caracteres (char) para valores somente positivos (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unsigned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) ou fixa a faixa deles em valores com sinal (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signed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). Por padrão, se não declarar esses modificadores, as variáveis tipo inteiro e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caracter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ASCII serão 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signed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Por exemplo, quando se define um inteiro como </a:t>
            </a:r>
            <a:r>
              <a:rPr lang="pt-BR" dirty="0" err="1">
                <a:ea typeface="Verdana" panose="020B0604030504040204" pitchFamily="34" charset="0"/>
                <a:cs typeface="Verdana" panose="020B0604030504040204" pitchFamily="34" charset="0"/>
              </a:rPr>
              <a:t>unsigned</a:t>
            </a: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 terá valores sem sinal, na verdade estará admitindo somente valores positivos. Isso altera a faixa de um inteiro para 0 até 4.294.967.295. Se declarar um valor negativo, ocorrerá um estouro de faixa.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6034D2-15B1-41F4-A82E-BE32B6F8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12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E1CAC2-3A33-492C-AC2D-24965D1FC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D88FA83-C6B3-4684-BB51-F860037AA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7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Espaço</a:t>
            </a:r>
            <a:r>
              <a:rPr lang="en-US" sz="4000" b="1" u="sng" dirty="0"/>
              <a:t> </a:t>
            </a:r>
            <a:r>
              <a:rPr lang="en-US" sz="4000" b="1" u="sng" dirty="0" err="1"/>
              <a:t>ocupado</a:t>
            </a:r>
            <a:r>
              <a:rPr lang="en-US" sz="4000" b="1" u="sng" dirty="0"/>
              <a:t> </a:t>
            </a:r>
            <a:r>
              <a:rPr lang="en-US" sz="4000" b="1" u="sng" dirty="0" err="1"/>
              <a:t>na</a:t>
            </a:r>
            <a:r>
              <a:rPr lang="en-US" sz="4000" b="1" u="sng" dirty="0"/>
              <a:t> </a:t>
            </a:r>
            <a:r>
              <a:rPr lang="en-US" sz="4000" b="1" u="sng" dirty="0" err="1"/>
              <a:t>Memória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/>
          </p:nvPr>
        </p:nvGraphicFramePr>
        <p:xfrm>
          <a:off x="2583786" y="1901950"/>
          <a:ext cx="7544715" cy="4480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48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169"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Sequência</a:t>
                      </a:r>
                      <a:endParaRPr lang="pt-BR" sz="240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Bytes ocupados</a:t>
                      </a:r>
                      <a:endParaRPr lang="pt-BR" sz="240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Faixa (ou intervalo)</a:t>
                      </a:r>
                      <a:endParaRPr lang="pt-BR" sz="240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short </a:t>
                      </a:r>
                      <a:r>
                        <a:rPr lang="en-US" sz="1800" kern="1200" dirty="0" err="1">
                          <a:effectLst/>
                        </a:rPr>
                        <a:t>int</a:t>
                      </a:r>
                      <a:br>
                        <a:rPr lang="en-US" sz="1800" dirty="0"/>
                      </a:br>
                      <a:r>
                        <a:rPr lang="en-US" sz="1800" kern="1200" dirty="0">
                          <a:effectLst/>
                        </a:rPr>
                        <a:t>signed </a:t>
                      </a:r>
                      <a:r>
                        <a:rPr lang="en-US" sz="1800" kern="1200" dirty="0" err="1">
                          <a:effectLst/>
                        </a:rPr>
                        <a:t>int</a:t>
                      </a:r>
                      <a:br>
                        <a:rPr lang="en-US" sz="1800" dirty="0"/>
                      </a:br>
                      <a:r>
                        <a:rPr lang="en-US" sz="1800" kern="1200" dirty="0">
                          <a:effectLst/>
                        </a:rPr>
                        <a:t>signed short </a:t>
                      </a:r>
                      <a:r>
                        <a:rPr lang="en-US" sz="1800" kern="1200" dirty="0" err="1">
                          <a:effectLst/>
                        </a:rPr>
                        <a:t>int</a:t>
                      </a:r>
                      <a:br>
                        <a:rPr lang="en-US" sz="1800" dirty="0"/>
                      </a:br>
                      <a:r>
                        <a:rPr lang="en-US" sz="1800" kern="1200" dirty="0" err="1">
                          <a:effectLst/>
                        </a:rPr>
                        <a:t>wchat_t</a:t>
                      </a:r>
                      <a:br>
                        <a:rPr lang="en-US" sz="1800" dirty="0"/>
                      </a:br>
                      <a:r>
                        <a:rPr lang="en-US" sz="1800" kern="1200" dirty="0">
                          <a:effectLst/>
                        </a:rPr>
                        <a:t>signed </a:t>
                      </a:r>
                      <a:r>
                        <a:rPr lang="en-US" sz="1800" kern="1200" dirty="0" err="1">
                          <a:effectLst/>
                        </a:rPr>
                        <a:t>wchar_t</a:t>
                      </a:r>
                      <a:endParaRPr lang="pt-BR" sz="1800" dirty="0">
                        <a:latin typeface="+mn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2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-32.768 a 32.767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unsigned short </a:t>
                      </a:r>
                      <a:r>
                        <a:rPr lang="en-US" sz="1800" dirty="0" err="1"/>
                        <a:t>int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unsigned </a:t>
                      </a:r>
                      <a:r>
                        <a:rPr lang="en-US" sz="1800" dirty="0" err="1"/>
                        <a:t>wchar_t</a:t>
                      </a:r>
                      <a:endParaRPr lang="en-US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2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 a 65.535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int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long </a:t>
                      </a:r>
                      <a:r>
                        <a:rPr lang="en-US" sz="1800" dirty="0" err="1"/>
                        <a:t>int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signed long </a:t>
                      </a:r>
                      <a:r>
                        <a:rPr lang="en-US" sz="1800" dirty="0" err="1"/>
                        <a:t>int</a:t>
                      </a:r>
                      <a:endParaRPr lang="en-US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4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-2.147.483.648 até 2.147.483.647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unsigned </a:t>
                      </a:r>
                      <a:r>
                        <a:rPr lang="en-US" sz="1800" dirty="0" err="1"/>
                        <a:t>int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unsigned long </a:t>
                      </a:r>
                      <a:r>
                        <a:rPr lang="en-US" sz="1800" dirty="0" err="1"/>
                        <a:t>int</a:t>
                      </a:r>
                      <a:endParaRPr lang="en-US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4</a:t>
                      </a:r>
                      <a:endParaRPr lang="pt-BR" sz="180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 a 4.294.967.295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2026C4-B98C-4BE6-9856-8E9D4335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540C20-63EA-471E-809E-3E389ADDB0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6FB8CD2-91C8-4CE5-BD18-C34EE403B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2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Espaço</a:t>
            </a:r>
            <a:r>
              <a:rPr lang="en-US" sz="4000" b="1" u="sng" dirty="0"/>
              <a:t> </a:t>
            </a:r>
            <a:r>
              <a:rPr lang="en-US" sz="4000" b="1" u="sng" dirty="0" err="1"/>
              <a:t>ocupado</a:t>
            </a:r>
            <a:r>
              <a:rPr lang="en-US" sz="4000" b="1" u="sng" dirty="0"/>
              <a:t> </a:t>
            </a:r>
            <a:r>
              <a:rPr lang="en-US" sz="4000" b="1" u="sng" dirty="0" err="1"/>
              <a:t>na</a:t>
            </a:r>
            <a:r>
              <a:rPr lang="en-US" sz="4000" b="1" u="sng" dirty="0"/>
              <a:t> </a:t>
            </a:r>
            <a:r>
              <a:rPr lang="en-US" sz="4000" b="1" u="sng" dirty="0" err="1"/>
              <a:t>Memória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3041900" y="2360065"/>
          <a:ext cx="7086600" cy="351905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9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169"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Sequência</a:t>
                      </a:r>
                      <a:endParaRPr lang="pt-BR" sz="240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Bytes ocupados</a:t>
                      </a:r>
                      <a:endParaRPr lang="pt-BR" sz="240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 baseline="0" dirty="0"/>
                        <a:t>Faixa (ou intervalo)</a:t>
                      </a:r>
                      <a:endParaRPr lang="pt-BR" sz="2400" dirty="0">
                        <a:solidFill>
                          <a:schemeClr val="tx1"/>
                        </a:solidFill>
                        <a:latin typeface="+mj-lt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char</a:t>
                      </a:r>
                      <a:br>
                        <a:rPr lang="pt-BR" sz="1800" dirty="0"/>
                      </a:br>
                      <a:r>
                        <a:rPr lang="pt-BR" sz="1800" dirty="0" err="1"/>
                        <a:t>signed</a:t>
                      </a:r>
                      <a:r>
                        <a:rPr lang="pt-BR" sz="1800" dirty="0"/>
                        <a:t> char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-128 a 127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unsigned char</a:t>
                      </a:r>
                      <a:endParaRPr lang="pt-BR" sz="180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 a 255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bool</a:t>
                      </a:r>
                      <a:endParaRPr lang="pt-BR" sz="180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1</a:t>
                      </a:r>
                      <a:endParaRPr lang="pt-BR" sz="180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/>
                        <a:t>true</a:t>
                      </a:r>
                      <a:r>
                        <a:rPr lang="pt-BR" sz="1800" dirty="0"/>
                        <a:t> ou false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float</a:t>
                      </a:r>
                      <a:endParaRPr lang="pt-BR" sz="180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4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3.4 * 10</a:t>
                      </a:r>
                      <a:r>
                        <a:rPr lang="pt-BR" sz="1800" baseline="30000" dirty="0"/>
                        <a:t>-38</a:t>
                      </a:r>
                      <a:r>
                        <a:rPr lang="pt-BR" sz="1800" dirty="0"/>
                        <a:t> a 3.4 * 10</a:t>
                      </a:r>
                      <a:r>
                        <a:rPr lang="pt-BR" sz="1800" baseline="30000" dirty="0"/>
                        <a:t>38</a:t>
                      </a:r>
                      <a:endParaRPr lang="pt-BR" sz="1800" baseline="300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algn="ctr"/>
                      <a:r>
                        <a:rPr lang="pt-BR" sz="1800"/>
                        <a:t>double</a:t>
                      </a:r>
                      <a:br>
                        <a:rPr lang="pt-BR" sz="1800"/>
                      </a:br>
                      <a:r>
                        <a:rPr lang="pt-BR" sz="1800"/>
                        <a:t>long float</a:t>
                      </a:r>
                      <a:endParaRPr lang="pt-BR" sz="180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8</a:t>
                      </a:r>
                      <a:endParaRPr lang="pt-BR" sz="18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1.7 * 10</a:t>
                      </a:r>
                      <a:r>
                        <a:rPr lang="pt-BR" sz="1800" baseline="30000" dirty="0"/>
                        <a:t>308</a:t>
                      </a:r>
                      <a:r>
                        <a:rPr lang="pt-BR" sz="1800" dirty="0"/>
                        <a:t> a 1.7 * 10</a:t>
                      </a:r>
                      <a:r>
                        <a:rPr lang="pt-BR" sz="1800" baseline="30000" dirty="0"/>
                        <a:t>308</a:t>
                      </a:r>
                      <a:endParaRPr lang="pt-BR" sz="1800" baseline="30000" dirty="0"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531D6F13-73D1-4B24-B33E-2C62FB1A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14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E1B6AF-EF59-492F-9112-BEBC404010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28BCF6F-92D6-451E-8F75-A19313205B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03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Tipos</a:t>
            </a:r>
            <a:r>
              <a:rPr lang="en-US" sz="4000" b="1" u="sng" dirty="0"/>
              <a:t> de Dados </a:t>
            </a:r>
            <a:r>
              <a:rPr lang="en-US" sz="4000" b="1" u="sng" dirty="0" err="1"/>
              <a:t>Compostos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1901950"/>
            <a:ext cx="8093365" cy="4581150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Os tipos de dados compostos derivam dos tipos primitivos e são úteis para resolver uma grande quantidade de problemas. Se for necessário armazenar uma frase inteira? Ou, por exemplo, os tempos dos atletas que disputaram uma corrida?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Para resolver esses problemas pode-se criar tipos compostos, que atendem a uma função específica. Seguem os 4 principais tipos compostos de dados que podem ser criados em C++.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Vetores.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Matrizes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Structs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Strings.</a:t>
            </a:r>
            <a:endParaRPr lang="pt-BR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2E8C64-E53F-4D95-8013-837FB7D8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15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154E9B-FCA1-482B-9006-EBD9B5ACA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703B95-D359-4F2A-BFD6-75CDB64AF9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67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Variáveis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1749245"/>
            <a:ext cx="8093365" cy="4581150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São posições de memória que o computador reserva para armazenar os dados manipulados pelo programa. Estas posições devem ser reservadas (declaradas) no início do programa, a partir daí ficam disponíveis para receberem qualquer conteúdo. Este conteúdo pode ser alterado quando necessário (daí o nome variável, pois o conteúdo pode variar).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i="1" u="sng" dirty="0" err="1">
                <a:ea typeface="Verdana" panose="020B0604030504040204" pitchFamily="34" charset="0"/>
                <a:cs typeface="Verdana" panose="020B0604030504040204" pitchFamily="34" charset="0"/>
              </a:rPr>
              <a:t>Regras</a:t>
            </a:r>
            <a:r>
              <a:rPr lang="en-US" i="1" u="sng" dirty="0"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i="1" u="sng" dirty="0" err="1">
                <a:ea typeface="Verdana" panose="020B0604030504040204" pitchFamily="34" charset="0"/>
                <a:cs typeface="Verdana" panose="020B0604030504040204" pitchFamily="34" charset="0"/>
              </a:rPr>
              <a:t>nomear</a:t>
            </a:r>
            <a:r>
              <a:rPr lang="en-US" i="1" u="sng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u="sng" dirty="0" err="1">
                <a:ea typeface="Verdana" panose="020B0604030504040204" pitchFamily="34" charset="0"/>
                <a:cs typeface="Verdana" panose="020B0604030504040204" pitchFamily="34" charset="0"/>
              </a:rPr>
              <a:t>variáveis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Deve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iniciar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com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letra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_ (underline/underscore/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sublinhado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deve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conter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caracteres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especiais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exceto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_), mas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pode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conter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letras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números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Lembre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-se: no C/C++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letras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maiúsculas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minúsculas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diferentes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pode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palavra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reservada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linguagem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Procure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adotar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nomes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representem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função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no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programa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048460-0254-4C23-BE6F-9F21B2B6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16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753401-66BA-4E08-937B-0101760F3C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E0E7EE-E839-4246-8CAA-C94A4F30E3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57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Declaração</a:t>
            </a:r>
            <a:r>
              <a:rPr lang="en-US" sz="4000" b="1" u="sng" dirty="0"/>
              <a:t> de </a:t>
            </a:r>
            <a:r>
              <a:rPr lang="en-US" sz="4000" b="1" u="sng" dirty="0" err="1"/>
              <a:t>Variáveis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1749245"/>
            <a:ext cx="8093365" cy="45811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Uma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deve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declarada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antes da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sua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utilização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Seguem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exemplos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declaração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sz="24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idade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;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float media, nota1,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lado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bool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teste;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sz="20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ea typeface="Verdana" panose="020B0604030504040204" pitchFamily="34" charset="0"/>
                <a:cs typeface="Verdana" panose="020B0604030504040204" pitchFamily="34" charset="0"/>
              </a:rPr>
              <a:t>Obs.: 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declaração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pode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realizada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qualquer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parte do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programa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desde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antes da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utilização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 da </a:t>
            </a:r>
            <a:r>
              <a:rPr lang="en-US" dirty="0" err="1"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Pergaminho horizontal 3"/>
          <p:cNvSpPr/>
          <p:nvPr/>
        </p:nvSpPr>
        <p:spPr>
          <a:xfrm>
            <a:off x="6706820" y="3123590"/>
            <a:ext cx="3124200" cy="228357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 se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declarar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coloca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o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nome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várias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variáveis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separadas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vírgula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-se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colocar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linha</a:t>
            </a:r>
            <a:r>
              <a:rPr lang="en-US" sz="1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400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CB222F6F-2373-4AA9-8F61-3F5A8C4C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17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E1DC23-82F6-49A9-8A95-2276F9F71C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5ECA189-9D11-4E2C-BC75-FB76502A47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65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Declaração</a:t>
            </a:r>
            <a:r>
              <a:rPr lang="en-US" sz="4000" b="1" u="sng" dirty="0"/>
              <a:t> de </a:t>
            </a:r>
            <a:r>
              <a:rPr lang="en-US" sz="4000" b="1" u="sng" dirty="0" err="1"/>
              <a:t>Variáveis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6" name="Content Placeholder 6"/>
          <p:cNvSpPr txBox="1">
            <a:spLocks/>
          </p:cNvSpPr>
          <p:nvPr/>
        </p:nvSpPr>
        <p:spPr>
          <a:xfrm>
            <a:off x="3499100" y="1900053"/>
            <a:ext cx="4572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ts val="26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70000"/>
              <a:defRPr/>
            </a:pPr>
            <a:endParaRPr lang="en-US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313" y="1742921"/>
            <a:ext cx="5433863" cy="505806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4413500" y="3657733"/>
            <a:ext cx="38862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8299700" y="3810133"/>
            <a:ext cx="5334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8863580" y="3548523"/>
            <a:ext cx="1664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Declaração</a:t>
            </a:r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</a:p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variáveis</a:t>
            </a:r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1109D487-3326-496F-8359-AE77D57F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18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5BF603F-74B6-412C-8887-DF2A561395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3662F97-C166-41F2-9588-908F6D4FB8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2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Constantes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786" y="1901950"/>
            <a:ext cx="7787955" cy="4428445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Constantes são dados gravados em memória, não sendo possível alterar seu valor. Então, qual seria a vantagem em ocupar memória com um dado que não pode-se mudar? A diferença está em poder reduzir números grandes ou dados sem muito significado em algo simples, fácil de usar e relembrar.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anose="020B0604030504040204" pitchFamily="34" charset="0"/>
                <a:cs typeface="Verdana" panose="020B0604030504040204" pitchFamily="34" charset="0"/>
              </a:rPr>
              <a:t>Por exemplo, com uma constante pode-se definir o valor de PI (3.14159265). Ao invés de inserir o valor em todo o programa, cria-se uma constante, e a mesma é chamada todas as vezes que se precisa do valor de PI.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C8CA40-BA3F-492D-ABBD-B8D499DE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19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252536-C77F-4746-A2A2-101F430B69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02705B-359D-4AE0-9492-E54ACB47B0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51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Criação</a:t>
            </a:r>
            <a:r>
              <a:rPr lang="en-US" sz="4000" b="1" u="sng" dirty="0"/>
              <a:t> de </a:t>
            </a:r>
            <a:r>
              <a:rPr lang="en-US" sz="4000" b="1" u="sng" dirty="0" err="1"/>
              <a:t>Constantes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786" y="2054656"/>
            <a:ext cx="7787955" cy="4275739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Para se criar uma constante deve-se usar o </a:t>
            </a:r>
            <a:r>
              <a:rPr lang="pt-BR" sz="2400" dirty="0" err="1">
                <a:ea typeface="Verdana" panose="020B0604030504040204" pitchFamily="34" charset="0"/>
                <a:cs typeface="Verdana" panose="020B0604030504040204" pitchFamily="34" charset="0"/>
              </a:rPr>
              <a:t>pré</a:t>
            </a: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-processador </a:t>
            </a:r>
            <a:r>
              <a:rPr lang="pt-BR" sz="2400" b="1" i="1" u="sng" dirty="0">
                <a:ea typeface="Verdana" panose="020B0604030504040204" pitchFamily="34" charset="0"/>
                <a:cs typeface="Verdana" panose="020B0604030504040204" pitchFamily="34" charset="0"/>
              </a:rPr>
              <a:t>define</a:t>
            </a: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, antes do início do programa. Por padrão o nome das constantes é em maiúsculo, e devem condizer com a informação que irá representar. Exemplos de declaração de constantes: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sz="24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57250" lvl="2" indent="0">
              <a:buClr>
                <a:srgbClr val="FF0000"/>
              </a:buClr>
              <a:buNone/>
            </a:pPr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#define PI 3.14159265;</a:t>
            </a:r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57250" lvl="2" indent="0">
              <a:buClr>
                <a:srgbClr val="FF0000"/>
              </a:buClr>
              <a:buNone/>
            </a:pPr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#define TAM 100;</a:t>
            </a:r>
            <a:endParaRPr lang="pt-BR" dirty="0">
              <a:solidFill>
                <a:schemeClr val="tx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EB1815-76DC-4243-91CC-1979882C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20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5A9111-D8B1-4C11-A6B6-F77999AB0E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97F113E-CCB9-4895-915B-EF33283307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12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Criação</a:t>
            </a:r>
            <a:r>
              <a:rPr lang="en-US" sz="4000" b="1" u="sng" dirty="0"/>
              <a:t> de </a:t>
            </a:r>
            <a:r>
              <a:rPr lang="en-US" sz="4000" b="1" u="sng" dirty="0" err="1"/>
              <a:t>Constantes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12" name="Content Placeholder 6"/>
          <p:cNvSpPr txBox="1">
            <a:spLocks/>
          </p:cNvSpPr>
          <p:nvPr/>
        </p:nvSpPr>
        <p:spPr>
          <a:xfrm>
            <a:off x="3534487" y="2004376"/>
            <a:ext cx="4572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ts val="2600"/>
              </a:lnSpc>
              <a:spcBef>
                <a:spcPct val="20000"/>
              </a:spcBef>
              <a:buClr>
                <a:schemeClr val="tx2">
                  <a:lumMod val="75000"/>
                </a:schemeClr>
              </a:buClr>
              <a:buSzPct val="70000"/>
              <a:defRPr/>
            </a:pPr>
            <a:endParaRPr lang="en-US" sz="20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310" y="2054655"/>
            <a:ext cx="6775154" cy="4434058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4067887" y="3076256"/>
            <a:ext cx="2286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cxnSp>
        <p:nvCxnSpPr>
          <p:cNvPr id="15" name="Conector de seta reta 14"/>
          <p:cNvCxnSpPr/>
          <p:nvPr/>
        </p:nvCxnSpPr>
        <p:spPr>
          <a:xfrm>
            <a:off x="6353887" y="3304856"/>
            <a:ext cx="533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6887287" y="3156912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Constante</a:t>
            </a:r>
            <a:endParaRPr lang="pt-BR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A26016D9-563B-4E4A-AA05-5871C5A2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21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0138742-145B-4665-B552-5D60A7173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1E8A141-89F8-41D6-9E60-72E34C8C4E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35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Estrutura</a:t>
            </a:r>
            <a:r>
              <a:rPr lang="en-US" sz="4000" b="1" u="sng" dirty="0"/>
              <a:t> de um Sistema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954317" y="2975159"/>
            <a:ext cx="2001838" cy="2724151"/>
            <a:chOff x="401" y="1570"/>
            <a:chExt cx="1261" cy="1716"/>
          </a:xfrm>
        </p:grpSpPr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2" cstate="print"/>
            <a:srcRect l="12924" t="36946" r="61415" b="10878"/>
            <a:stretch>
              <a:fillRect/>
            </a:stretch>
          </p:blipFill>
          <p:spPr bwMode="auto">
            <a:xfrm>
              <a:off x="612" y="1570"/>
              <a:ext cx="816" cy="1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401" y="2840"/>
              <a:ext cx="1261" cy="446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pt-BR" sz="2000" dirty="0">
                  <a:solidFill>
                    <a:schemeClr val="bg1"/>
                  </a:solidFill>
                  <a:ea typeface="Verdana" pitchFamily="34" charset="0"/>
                  <a:cs typeface="Verdana" pitchFamily="34" charset="0"/>
                </a:rPr>
                <a:t>Entrada de dados</a:t>
              </a:r>
            </a:p>
            <a:p>
              <a:pPr algn="ctr"/>
              <a:r>
                <a:rPr lang="pt-BR" sz="2000" dirty="0">
                  <a:solidFill>
                    <a:schemeClr val="bg1"/>
                  </a:solidFill>
                  <a:ea typeface="Verdana" pitchFamily="34" charset="0"/>
                  <a:cs typeface="Verdana" pitchFamily="34" charset="0"/>
                </a:rPr>
                <a:t>(via teclado)</a:t>
              </a:r>
            </a:p>
          </p:txBody>
        </p:sp>
      </p:grp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3500015" y="3123591"/>
            <a:ext cx="3689350" cy="3657601"/>
            <a:chOff x="1429" y="1660"/>
            <a:chExt cx="2324" cy="2304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336" y="3189"/>
              <a:ext cx="938" cy="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pt-BR" sz="2000" dirty="0">
                  <a:ea typeface="Verdana" pitchFamily="34" charset="0"/>
                  <a:cs typeface="Verdana" pitchFamily="34" charset="0"/>
                </a:rPr>
                <a:t>Operadores:</a:t>
              </a:r>
            </a:p>
            <a:p>
              <a:pPr>
                <a:buClr>
                  <a:srgbClr val="FF0000"/>
                </a:buClr>
                <a:buFontTx/>
                <a:buChar char="•"/>
              </a:pPr>
              <a:r>
                <a:rPr lang="pt-BR" dirty="0">
                  <a:ea typeface="Verdana" pitchFamily="34" charset="0"/>
                  <a:cs typeface="Verdana" pitchFamily="34" charset="0"/>
                </a:rPr>
                <a:t> Lógicos.</a:t>
              </a:r>
            </a:p>
            <a:p>
              <a:pPr>
                <a:buClr>
                  <a:srgbClr val="FF0000"/>
                </a:buClr>
                <a:buFontTx/>
                <a:buChar char="•"/>
              </a:pPr>
              <a:r>
                <a:rPr lang="pt-BR" dirty="0">
                  <a:ea typeface="Verdana" pitchFamily="34" charset="0"/>
                  <a:cs typeface="Verdana" pitchFamily="34" charset="0"/>
                </a:rPr>
                <a:t> Aritméticos.</a:t>
              </a:r>
            </a:p>
            <a:p>
              <a:pPr>
                <a:buClr>
                  <a:srgbClr val="FF0000"/>
                </a:buClr>
                <a:buFontTx/>
                <a:buChar char="•"/>
              </a:pPr>
              <a:r>
                <a:rPr lang="pt-BR" dirty="0">
                  <a:ea typeface="Verdana" pitchFamily="34" charset="0"/>
                  <a:cs typeface="Verdana" pitchFamily="34" charset="0"/>
                </a:rPr>
                <a:t> Relacionais.</a:t>
              </a:r>
            </a:p>
          </p:txBody>
        </p:sp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 l="11478" t="42570" r="65692" b="14613"/>
            <a:stretch>
              <a:fillRect/>
            </a:stretch>
          </p:blipFill>
          <p:spPr bwMode="auto">
            <a:xfrm>
              <a:off x="2467" y="1660"/>
              <a:ext cx="821" cy="1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1927" y="2901"/>
              <a:ext cx="1826" cy="2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pt-BR" sz="2000" dirty="0">
                  <a:solidFill>
                    <a:schemeClr val="bg1"/>
                  </a:solidFill>
                  <a:ea typeface="Verdana" pitchFamily="34" charset="0"/>
                  <a:cs typeface="Verdana" pitchFamily="34" charset="0"/>
                </a:rPr>
                <a:t>Processamento dos dados</a:t>
              </a: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429" y="2251"/>
              <a:ext cx="771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grpSp>
        <p:nvGrpSpPr>
          <p:cNvPr id="13" name="Group 15"/>
          <p:cNvGrpSpPr>
            <a:grpSpLocks/>
          </p:cNvGrpSpPr>
          <p:nvPr/>
        </p:nvGrpSpPr>
        <p:grpSpPr bwMode="auto">
          <a:xfrm>
            <a:off x="6440781" y="3049771"/>
            <a:ext cx="3743325" cy="2649538"/>
            <a:chOff x="3334" y="1616"/>
            <a:chExt cx="2358" cy="1669"/>
          </a:xfrm>
        </p:grpSpPr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4345" y="2839"/>
              <a:ext cx="1103" cy="446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pt-BR" sz="2000" dirty="0">
                  <a:solidFill>
                    <a:schemeClr val="bg1"/>
                  </a:solidFill>
                  <a:ea typeface="Verdana" pitchFamily="34" charset="0"/>
                  <a:cs typeface="Verdana" pitchFamily="34" charset="0"/>
                </a:rPr>
                <a:t>Saída de dados</a:t>
              </a:r>
            </a:p>
            <a:p>
              <a:pPr algn="ctr"/>
              <a:r>
                <a:rPr lang="pt-BR" sz="2000" dirty="0">
                  <a:solidFill>
                    <a:schemeClr val="bg1"/>
                  </a:solidFill>
                  <a:ea typeface="Verdana" pitchFamily="34" charset="0"/>
                  <a:cs typeface="Verdana" pitchFamily="34" charset="0"/>
                </a:rPr>
                <a:t>(via tela)</a:t>
              </a:r>
            </a:p>
          </p:txBody>
        </p:sp>
        <p:pic>
          <p:nvPicPr>
            <p:cNvPr id="15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 l="6572" t="46552" r="56320" b="19951"/>
            <a:stretch>
              <a:fillRect/>
            </a:stretch>
          </p:blipFill>
          <p:spPr bwMode="auto">
            <a:xfrm>
              <a:off x="4103" y="1616"/>
              <a:ext cx="1589" cy="10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3334" y="2251"/>
              <a:ext cx="771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sp>
        <p:nvSpPr>
          <p:cNvPr id="17" name="CaixaDeTexto 16"/>
          <p:cNvSpPr txBox="1"/>
          <p:nvPr/>
        </p:nvSpPr>
        <p:spPr>
          <a:xfrm>
            <a:off x="1878305" y="2365558"/>
            <a:ext cx="1514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ea typeface="Verdana" pitchFamily="34" charset="0"/>
                <a:cs typeface="Verdana" pitchFamily="34" charset="0"/>
              </a:rPr>
              <a:t>Ingredientes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911844" y="2344921"/>
            <a:ext cx="18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ea typeface="Verdana" pitchFamily="34" charset="0"/>
                <a:cs typeface="Verdana" pitchFamily="34" charset="0"/>
              </a:rPr>
              <a:t>Preparar o bolo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8280410" y="2344921"/>
            <a:ext cx="667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ea typeface="Verdana" pitchFamily="34" charset="0"/>
                <a:cs typeface="Verdana" pitchFamily="34" charset="0"/>
              </a:rPr>
              <a:t>Bolo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3797767" y="2538624"/>
            <a:ext cx="976139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160057" y="2550224"/>
            <a:ext cx="976139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Número de Slide 3">
            <a:extLst>
              <a:ext uri="{FF2B5EF4-FFF2-40B4-BE49-F238E27FC236}">
                <a16:creationId xmlns:a16="http://schemas.microsoft.com/office/drawing/2014/main" id="{6402DA42-753E-4CD7-930B-7DCC80B7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22</a:t>
            </a:fld>
            <a:endParaRPr lang="pt-BR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01542E6F-7AAA-4703-8BF2-37089A1AFC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3C558CE-60A7-4D88-AEAD-FD4C928D13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6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/>
              <a:t>Entrada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5670" y="1749246"/>
            <a:ext cx="6719020" cy="4733855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Possibilita que o algoritmo capture dados provenientes do ambiente externo (fora da máquina) e armazene estes dados em variáveis.</a:t>
            </a:r>
          </a:p>
          <a:p>
            <a:pPr lvl="8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A forma mais comum de capturar dados é através do </a:t>
            </a:r>
            <a:r>
              <a:rPr lang="pt-BR" b="1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teclado do computador</a:t>
            </a:r>
            <a:r>
              <a:rPr lang="pt-BR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.</a:t>
            </a:r>
          </a:p>
          <a:p>
            <a:pPr lvl="8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Uma variável só pode armazenar uma informação do mesmo tipo que foi declarada.</a:t>
            </a:r>
          </a:p>
          <a:p>
            <a:pPr lvl="8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No C++, a instrução de entrada de dados via teclado é chamada de “</a:t>
            </a:r>
            <a:r>
              <a:rPr lang="pt-BR" dirty="0" err="1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cin</a:t>
            </a:r>
            <a:r>
              <a:rPr lang="pt-BR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&gt;&gt;“.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 l="12924" t="36946" r="61415" b="10878"/>
          <a:stretch>
            <a:fillRect/>
          </a:stretch>
        </p:blipFill>
        <p:spPr bwMode="auto">
          <a:xfrm>
            <a:off x="9076340" y="2818181"/>
            <a:ext cx="1295400" cy="2017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B25ABCA4-8E59-410E-A9F3-BDB3CECA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82958B-AD90-4DF3-B0BC-745C008ED5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F966CE4-AA70-40CB-8E80-F47C609B8D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61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/>
              <a:t>Entrada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2207361"/>
            <a:ext cx="6566315" cy="4275739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Para poder utilizar a função </a:t>
            </a:r>
            <a:r>
              <a:rPr lang="pt-BR" sz="2400" dirty="0" err="1">
                <a:ea typeface="Verdana" pitchFamily="34" charset="0"/>
                <a:cs typeface="Verdana" pitchFamily="34" charset="0"/>
              </a:rPr>
              <a:t>cin</a:t>
            </a:r>
            <a:r>
              <a:rPr lang="pt-BR" sz="2400" dirty="0">
                <a:ea typeface="Verdana" pitchFamily="34" charset="0"/>
                <a:cs typeface="Verdana" pitchFamily="34" charset="0"/>
              </a:rPr>
              <a:t>&gt;&gt; é necessário acrescentar, no início do código fonte, as seguintes linhas de código:</a:t>
            </a:r>
          </a:p>
          <a:p>
            <a:pPr marL="0" indent="365125">
              <a:buClr>
                <a:srgbClr val="FF0000"/>
              </a:buClr>
              <a:buNone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 marL="0" indent="365125">
              <a:buClr>
                <a:srgbClr val="FF0000"/>
              </a:buClr>
              <a:buNone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 marL="0" indent="365125">
              <a:buClr>
                <a:srgbClr val="FF0000"/>
              </a:buClr>
              <a:buNone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ea typeface="Verdana" pitchFamily="34" charset="0"/>
                <a:cs typeface="Verdana" pitchFamily="34" charset="0"/>
              </a:rPr>
              <a:t>Na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biblioteca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iostream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(stream de input/output)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encontram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-se as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funções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de entrada 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saída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, entre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outras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(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bibliotecas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serão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explicadas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posteriormente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).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 l="12924" t="36946" r="61415" b="10878"/>
          <a:stretch>
            <a:fillRect/>
          </a:stretch>
        </p:blipFill>
        <p:spPr bwMode="auto">
          <a:xfrm>
            <a:off x="9076340" y="2818181"/>
            <a:ext cx="1295400" cy="2017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tângulo 4"/>
          <p:cNvSpPr/>
          <p:nvPr/>
        </p:nvSpPr>
        <p:spPr>
          <a:xfrm>
            <a:off x="3194605" y="3634845"/>
            <a:ext cx="3359510" cy="86309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65125">
              <a:lnSpc>
                <a:spcPct val="150000"/>
              </a:lnSpc>
              <a:buClr>
                <a:srgbClr val="FF0000"/>
              </a:buClr>
            </a:pPr>
            <a:r>
              <a:rPr lang="en-US" sz="160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&gt;</a:t>
            </a:r>
          </a:p>
          <a:p>
            <a:pPr indent="365125">
              <a:lnSpc>
                <a:spcPct val="150000"/>
              </a:lnSpc>
              <a:buClr>
                <a:srgbClr val="FF0000"/>
              </a:buClr>
            </a:pPr>
            <a:r>
              <a:rPr lang="en-US" sz="160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using namespace </a:t>
            </a:r>
            <a:r>
              <a:rPr lang="en-US" sz="1600" dirty="0" err="1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ea typeface="Verdana" pitchFamily="34" charset="0"/>
                <a:cs typeface="Courier New" panose="02070309020205020404" pitchFamily="49" charset="0"/>
              </a:rPr>
              <a:t>;</a:t>
            </a:r>
            <a:endParaRPr 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68156A3D-BE81-48A4-B1D4-09B49F67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24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C6A9EF-ADE9-454A-A50A-6C231026A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63E3B77-5CB0-4A90-95DB-EB52CB7D3B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89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/>
              <a:t>Entrada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0261" y="2360065"/>
            <a:ext cx="4581150" cy="4123034"/>
          </a:xfrm>
        </p:spPr>
        <p:txBody>
          <a:bodyPr>
            <a:no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Exemplos de entrada de dados: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 marL="800100" lvl="2" indent="0">
              <a:buClr>
                <a:srgbClr val="FF0000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cin</a:t>
            </a:r>
            <a:r>
              <a:rPr lang="en-US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&gt;&gt;</a:t>
            </a:r>
            <a:r>
              <a:rPr lang="en-US" dirty="0" err="1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idade</a:t>
            </a:r>
            <a:r>
              <a:rPr lang="en-US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;</a:t>
            </a:r>
          </a:p>
          <a:p>
            <a:pPr marL="800100" lvl="2" indent="0">
              <a:buClr>
                <a:srgbClr val="FF0000"/>
              </a:buClr>
              <a:buNone/>
            </a:pPr>
            <a:endParaRPr lang="en-US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 marL="800100" lvl="2" indent="0">
              <a:buClr>
                <a:srgbClr val="FF0000"/>
              </a:buClr>
              <a:buNone/>
            </a:pPr>
            <a:r>
              <a:rPr lang="en-US" dirty="0" err="1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cin</a:t>
            </a:r>
            <a:r>
              <a:rPr lang="en-US" dirty="0">
                <a:solidFill>
                  <a:schemeClr val="tx1"/>
                </a:solidFill>
                <a:ea typeface="Verdana" pitchFamily="34" charset="0"/>
                <a:cs typeface="Verdana" pitchFamily="34" charset="0"/>
              </a:rPr>
              <a:t>&gt;&gt;nota1&gt;&gt;nota2;</a:t>
            </a: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 l="12924" t="36946" r="61415" b="10878"/>
          <a:stretch>
            <a:fillRect/>
          </a:stretch>
        </p:blipFill>
        <p:spPr bwMode="auto">
          <a:xfrm>
            <a:off x="9076340" y="2818181"/>
            <a:ext cx="1295400" cy="2017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Pergaminho horizontal 5"/>
          <p:cNvSpPr/>
          <p:nvPr/>
        </p:nvSpPr>
        <p:spPr>
          <a:xfrm>
            <a:off x="5526482" y="3827036"/>
            <a:ext cx="3124200" cy="228357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leitura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separa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-se as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variáveis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o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sinal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&gt;&gt;.</a:t>
            </a:r>
            <a:endParaRPr lang="pt-BR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CA395E9-8E71-4CA4-B5F0-11C98F41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E6D9E26-3626-4965-B7E1-FE6A2F754F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8633032-78E9-4454-A602-851D11633D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15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Saída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2360065"/>
            <a:ext cx="4428445" cy="39703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Permite ao algoritmo exibir dados na tela do computador. </a:t>
            </a: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2400" dirty="0">
              <a:ea typeface="Verdana" pitchFamily="34" charset="0"/>
              <a:cs typeface="Verdana" pitchFamily="34" charset="0"/>
            </a:endParaRP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Utilizada para exibir mensagens, resultados de cálculos, informações contidas nas variáveis, etc.</a:t>
            </a: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2400" dirty="0">
              <a:ea typeface="Verdana" pitchFamily="34" charset="0"/>
              <a:cs typeface="Verdana" pitchFamily="34" charset="0"/>
            </a:endParaRP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No C++, a instrução de saída de dados via teclado é chamada de “</a:t>
            </a:r>
            <a:r>
              <a:rPr lang="pt-BR" sz="2400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pt-BR" sz="2400" dirty="0">
                <a:ea typeface="Verdana" pitchFamily="34" charset="0"/>
                <a:cs typeface="Verdana" pitchFamily="34" charset="0"/>
              </a:rPr>
              <a:t>&lt;&lt;“. </a:t>
            </a: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 cstate="print"/>
          <a:srcRect l="6572" t="46552" r="56320" b="19951"/>
          <a:stretch>
            <a:fillRect/>
          </a:stretch>
        </p:blipFill>
        <p:spPr bwMode="auto">
          <a:xfrm>
            <a:off x="7317640" y="2970886"/>
            <a:ext cx="2522538" cy="17446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451CA721-0AB5-4CBD-B8E0-94E9C881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26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91069EF-BB52-4F20-A83C-83591B5294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7A44A69-64DD-4E6D-9077-F066B9BFD8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43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Saída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5671" y="2207360"/>
            <a:ext cx="5344675" cy="39703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itchFamily="34" charset="0"/>
                <a:cs typeface="Verdana" pitchFamily="34" charset="0"/>
              </a:rPr>
              <a:t>Para poder utilizar o comando </a:t>
            </a:r>
            <a:r>
              <a:rPr lang="pt-BR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pt-BR" dirty="0">
                <a:ea typeface="Verdana" pitchFamily="34" charset="0"/>
                <a:cs typeface="Verdana" pitchFamily="34" charset="0"/>
              </a:rPr>
              <a:t>&lt;&lt; é necessário utilizar a biblioteca </a:t>
            </a:r>
            <a:r>
              <a:rPr lang="pt-BR" dirty="0" err="1">
                <a:ea typeface="Verdana" pitchFamily="34" charset="0"/>
                <a:cs typeface="Verdana" pitchFamily="34" charset="0"/>
              </a:rPr>
              <a:t>iostream</a:t>
            </a:r>
            <a:r>
              <a:rPr lang="pt-BR" dirty="0"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dirty="0">
              <a:ea typeface="Verdana" pitchFamily="34" charset="0"/>
              <a:cs typeface="Verdana" pitchFamily="34" charset="0"/>
            </a:endParaRP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dirty="0">
                <a:ea typeface="Verdana" pitchFamily="34" charset="0"/>
                <a:cs typeface="Verdana" pitchFamily="34" charset="0"/>
              </a:rPr>
              <a:t> Exemplo de saída de dados:</a:t>
            </a:r>
          </a:p>
          <a:p>
            <a:pPr marL="0" indent="0">
              <a:spcBef>
                <a:spcPts val="0"/>
              </a:spcBef>
              <a:buClr>
                <a:srgbClr val="FF0000"/>
              </a:buClr>
              <a:buNone/>
            </a:pPr>
            <a:endParaRPr lang="en-US" dirty="0">
              <a:ea typeface="Verdana" pitchFamily="34" charset="0"/>
              <a:cs typeface="Verdana" pitchFamily="34" charset="0"/>
            </a:endParaRP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200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en-US" sz="2200" dirty="0">
                <a:ea typeface="Verdana" pitchFamily="34" charset="0"/>
                <a:cs typeface="Verdana" pitchFamily="34" charset="0"/>
              </a:rPr>
              <a:t>&lt;&lt;“</a:t>
            </a:r>
            <a:r>
              <a:rPr lang="en-US" sz="2200" dirty="0" err="1">
                <a:ea typeface="Verdana" pitchFamily="34" charset="0"/>
                <a:cs typeface="Verdana" pitchFamily="34" charset="0"/>
              </a:rPr>
              <a:t>Olá</a:t>
            </a:r>
            <a:r>
              <a:rPr lang="en-US" sz="2200" dirty="0">
                <a:ea typeface="Verdana" pitchFamily="34" charset="0"/>
                <a:cs typeface="Verdana" pitchFamily="34" charset="0"/>
              </a:rPr>
              <a:t> amigos!”;</a:t>
            </a: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endParaRPr lang="en-US" sz="2200" dirty="0">
              <a:ea typeface="Verdana" pitchFamily="34" charset="0"/>
              <a:cs typeface="Verdana" pitchFamily="34" charset="0"/>
            </a:endParaRP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endParaRPr lang="en-US" sz="2200" dirty="0">
              <a:ea typeface="Verdana" pitchFamily="34" charset="0"/>
              <a:cs typeface="Verdana" pitchFamily="34" charset="0"/>
            </a:endParaRP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200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en-US" sz="2200" dirty="0">
                <a:ea typeface="Verdana" pitchFamily="34" charset="0"/>
                <a:cs typeface="Verdana" pitchFamily="34" charset="0"/>
              </a:rPr>
              <a:t>&lt;&lt;a;</a:t>
            </a: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endParaRPr lang="en-US" sz="2200" dirty="0">
              <a:ea typeface="Verdana" pitchFamily="34" charset="0"/>
              <a:cs typeface="Verdana" pitchFamily="34" charset="0"/>
            </a:endParaRP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endParaRPr lang="en-US" sz="2200" dirty="0">
              <a:ea typeface="Verdana" pitchFamily="34" charset="0"/>
              <a:cs typeface="Verdana" pitchFamily="34" charset="0"/>
            </a:endParaRPr>
          </a:p>
          <a:p>
            <a:pPr marL="400050" lvl="1" indent="0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200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en-US" sz="2200" dirty="0">
                <a:ea typeface="Verdana" pitchFamily="34" charset="0"/>
                <a:cs typeface="Verdana" pitchFamily="34" charset="0"/>
              </a:rPr>
              <a:t>&lt;&lt;“Media: ”&lt;&lt;</a:t>
            </a:r>
            <a:r>
              <a:rPr lang="en-US" sz="2200" dirty="0" err="1">
                <a:ea typeface="Verdana" pitchFamily="34" charset="0"/>
                <a:cs typeface="Verdana" pitchFamily="34" charset="0"/>
              </a:rPr>
              <a:t>mediaGeral</a:t>
            </a:r>
            <a:r>
              <a:rPr lang="en-US" sz="2200" dirty="0">
                <a:ea typeface="Verdana" pitchFamily="34" charset="0"/>
                <a:cs typeface="Verdana" pitchFamily="34" charset="0"/>
              </a:rPr>
              <a:t>;</a:t>
            </a:r>
            <a:endParaRPr lang="pt-BR" sz="2200" dirty="0"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 cstate="print"/>
          <a:srcRect l="6572" t="46552" r="56320" b="19951"/>
          <a:stretch>
            <a:fillRect/>
          </a:stretch>
        </p:blipFill>
        <p:spPr bwMode="auto">
          <a:xfrm>
            <a:off x="7849202" y="2207361"/>
            <a:ext cx="2522538" cy="17446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Pergaminho horizontal 5"/>
          <p:cNvSpPr/>
          <p:nvPr/>
        </p:nvSpPr>
        <p:spPr>
          <a:xfrm>
            <a:off x="7088582" y="3429001"/>
            <a:ext cx="2133600" cy="3275385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deseja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escrever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determinado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-se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aspas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Para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escrever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valor de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aspas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pt-BR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C63AD7FD-805F-4E33-8D32-C5A8F16E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27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1D42C69-EE2C-4C04-854A-DAD855B82E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CAA8E8-B9D5-44C9-9C94-12681B3779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60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Saída</a:t>
            </a:r>
            <a:r>
              <a:rPr lang="en-US" sz="4000" b="1" u="sng" dirty="0"/>
              <a:t> de Dados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5670" y="1749246"/>
            <a:ext cx="8093365" cy="488655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Escape </a:t>
            </a:r>
            <a:r>
              <a:rPr lang="pt-BR" sz="2400" dirty="0" err="1">
                <a:ea typeface="Verdana" pitchFamily="34" charset="0"/>
                <a:cs typeface="Verdana" pitchFamily="34" charset="0"/>
              </a:rPr>
              <a:t>sequences</a:t>
            </a:r>
            <a:r>
              <a:rPr lang="pt-BR" sz="2400" dirty="0">
                <a:ea typeface="Verdana" pitchFamily="34" charset="0"/>
                <a:cs typeface="Verdana" pitchFamily="34" charset="0"/>
              </a:rPr>
              <a:t> alteram as </a:t>
            </a:r>
            <a:r>
              <a:rPr lang="pt-BR" sz="2400" dirty="0" err="1">
                <a:ea typeface="Verdana" pitchFamily="34" charset="0"/>
                <a:cs typeface="Verdana" pitchFamily="34" charset="0"/>
              </a:rPr>
              <a:t>strings</a:t>
            </a:r>
            <a:r>
              <a:rPr lang="pt-BR" sz="2400" dirty="0">
                <a:ea typeface="Verdana" pitchFamily="34" charset="0"/>
                <a:cs typeface="Verdana" pitchFamily="34" charset="0"/>
              </a:rPr>
              <a:t> de alguma forma. As mais comuns são:</a:t>
            </a: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2400" dirty="0">
              <a:ea typeface="Verdana" pitchFamily="34" charset="0"/>
              <a:cs typeface="Verdana" pitchFamily="34" charset="0"/>
            </a:endParaRPr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ea typeface="Verdana" pitchFamily="34" charset="0"/>
                <a:cs typeface="Verdana" pitchFamily="34" charset="0"/>
              </a:rPr>
              <a:t>\n (nova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linha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), \t (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tabulação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), \’ (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impressão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de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aspas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simples), \” (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impressão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de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aspas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duplas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), \a (o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computador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emite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um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sinal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sonoro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), \? (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imprime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o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sinal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de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interrogação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), \\(imprime a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contrabarra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).</a:t>
            </a:r>
          </a:p>
          <a:p>
            <a:pPr lvl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 err="1">
                <a:ea typeface="Verdana" pitchFamily="34" charset="0"/>
                <a:cs typeface="Verdana" pitchFamily="34" charset="0"/>
              </a:rPr>
              <a:t>Outra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forma de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pular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linha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é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utilizando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endl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.</a:t>
            </a:r>
            <a:endParaRPr lang="pt-BR" sz="2400" dirty="0">
              <a:ea typeface="Verdana" pitchFamily="34" charset="0"/>
              <a:cs typeface="Verdana" pitchFamily="34" charset="0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None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 marL="400050" lvl="1" indent="266700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400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&lt;&lt;“Media: \t”&lt;&lt;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mediaGeral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&lt;&lt;“\n”;</a:t>
            </a:r>
          </a:p>
          <a:p>
            <a:pPr marL="400050" lvl="1" indent="266700">
              <a:spcBef>
                <a:spcPts val="0"/>
              </a:spcBef>
              <a:buClr>
                <a:srgbClr val="FF0000"/>
              </a:buClr>
              <a:buNone/>
            </a:pPr>
            <a:endParaRPr lang="en-US" sz="2400" dirty="0">
              <a:ea typeface="Verdana" pitchFamily="34" charset="0"/>
              <a:cs typeface="Verdana" pitchFamily="34" charset="0"/>
            </a:endParaRPr>
          </a:p>
          <a:p>
            <a:pPr marL="400050" lvl="1" indent="266700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400" dirty="0" err="1">
                <a:ea typeface="Verdana" pitchFamily="34" charset="0"/>
                <a:cs typeface="Verdana" pitchFamily="34" charset="0"/>
              </a:rPr>
              <a:t>cout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&lt;&lt;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endl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&lt;&lt;“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Idade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: ”&lt;&lt;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anoAtual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–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anoNascimento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;</a:t>
            </a:r>
            <a:endParaRPr lang="pt-BR" sz="2400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0AE6F2-6B3B-41B0-8924-4EFBA932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88269E-F9E7-4727-9443-8A4F0516DF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F3ACE7C-FFE4-4E6B-8C02-EF674462E0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3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Atribuição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1749246"/>
            <a:ext cx="7940659" cy="4886559"/>
          </a:xfrm>
        </p:spPr>
        <p:txBody>
          <a:bodyPr>
            <a:noAutofit/>
          </a:bodyPr>
          <a:lstStyle/>
          <a:p>
            <a:pPr marL="266700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Serve para alterar o valor de uma variável.</a:t>
            </a:r>
          </a:p>
          <a:p>
            <a:pPr marL="3867150" lvl="8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 marL="266700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Pode-se atribuir a uma variável valores constantes, outras variáveis ou resultados de operações.</a:t>
            </a:r>
          </a:p>
          <a:p>
            <a:pPr marL="3867150" lvl="8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 marL="266700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2400" b="1" dirty="0">
                <a:ea typeface="Verdana" pitchFamily="34" charset="0"/>
                <a:cs typeface="Verdana" pitchFamily="34" charset="0"/>
                <a:sym typeface="Wingdings" pitchFamily="2" charset="2"/>
              </a:rPr>
              <a:t>=</a:t>
            </a:r>
            <a:r>
              <a:rPr lang="pt-BR" sz="2400" dirty="0">
                <a:ea typeface="Verdana" pitchFamily="34" charset="0"/>
                <a:cs typeface="Verdana" pitchFamily="34" charset="0"/>
              </a:rPr>
              <a:t> é o comando de atribuição, tanto em c quanto em C++.</a:t>
            </a:r>
          </a:p>
          <a:p>
            <a:pPr marL="3867150" lvl="8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endParaRPr lang="pt-BR" dirty="0">
              <a:solidFill>
                <a:schemeClr val="tx1"/>
              </a:solidFill>
              <a:ea typeface="Verdana" pitchFamily="34" charset="0"/>
              <a:cs typeface="Verdana" pitchFamily="34" charset="0"/>
            </a:endParaRPr>
          </a:p>
          <a:p>
            <a:pPr marL="266700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2400" dirty="0">
                <a:ea typeface="Verdana" pitchFamily="34" charset="0"/>
                <a:cs typeface="Verdana" pitchFamily="34" charset="0"/>
              </a:rPr>
              <a:t>A variável a esquerda da seta recebe o resultado da operação a direita.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D81F80-7459-4F1C-AEF4-DB86BF36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29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4224E7-B9D9-4E33-AC0D-64B10E0F00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FF49E89-F3A5-4176-A8C8-8A7268A2D9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83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Atribuição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1749246"/>
            <a:ext cx="7940659" cy="4886559"/>
          </a:xfrm>
        </p:spPr>
        <p:txBody>
          <a:bodyPr>
            <a:noAutofit/>
          </a:bodyPr>
          <a:lstStyle/>
          <a:p>
            <a:pPr marL="266700" indent="-26670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en-US" sz="2400" dirty="0" err="1">
                <a:ea typeface="Verdana" pitchFamily="34" charset="0"/>
                <a:cs typeface="Verdana" pitchFamily="34" charset="0"/>
              </a:rPr>
              <a:t>Exemplos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 de </a:t>
            </a:r>
            <a:r>
              <a:rPr lang="en-US" sz="2400" dirty="0" err="1">
                <a:ea typeface="Verdana" pitchFamily="34" charset="0"/>
                <a:cs typeface="Verdana" pitchFamily="34" charset="0"/>
              </a:rPr>
              <a:t>atribuição</a:t>
            </a:r>
            <a:r>
              <a:rPr lang="en-US" sz="2400" dirty="0">
                <a:ea typeface="Verdana" pitchFamily="34" charset="0"/>
                <a:cs typeface="Verdana" pitchFamily="34" charset="0"/>
              </a:rPr>
              <a:t>:</a:t>
            </a: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dirty="0">
                <a:ea typeface="Verdana" pitchFamily="34" charset="0"/>
                <a:cs typeface="Verdana" pitchFamily="34" charset="0"/>
              </a:rPr>
              <a:t>media = (nota1 + nota2)/2.0;</a:t>
            </a:r>
          </a:p>
          <a:p>
            <a:pPr marL="1085850" lvl="2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 i="1" dirty="0" err="1">
                <a:ea typeface="Verdana" pitchFamily="34" charset="0"/>
                <a:cs typeface="Verdana" pitchFamily="34" charset="0"/>
              </a:rPr>
              <a:t>Primeiro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é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resolvido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o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cálculo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, e o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resultado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é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atribuído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a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media.</a:t>
            </a: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dirty="0">
                <a:ea typeface="Verdana" pitchFamily="34" charset="0"/>
                <a:cs typeface="Verdana" pitchFamily="34" charset="0"/>
              </a:rPr>
              <a:t>a = b;</a:t>
            </a:r>
          </a:p>
          <a:p>
            <a:pPr marL="1085850" lvl="2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600" i="1" dirty="0">
                <a:ea typeface="Verdana" pitchFamily="34" charset="0"/>
                <a:cs typeface="Verdana" pitchFamily="34" charset="0"/>
              </a:rPr>
              <a:t>O valor da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b é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atribuído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a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a.</a:t>
            </a:r>
            <a:endParaRPr lang="en-US" sz="1600" dirty="0">
              <a:ea typeface="Verdana" pitchFamily="34" charset="0"/>
              <a:cs typeface="Verdana" pitchFamily="34" charset="0"/>
            </a:endParaRP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dirty="0">
                <a:ea typeface="Verdana" pitchFamily="34" charset="0"/>
                <a:cs typeface="Verdana" pitchFamily="34" charset="0"/>
              </a:rPr>
              <a:t>teste = true;</a:t>
            </a:r>
          </a:p>
          <a:p>
            <a:pPr marL="1085850" lvl="2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600" i="1" dirty="0">
                <a:ea typeface="Verdana" pitchFamily="34" charset="0"/>
                <a:cs typeface="Verdana" pitchFamily="34" charset="0"/>
              </a:rPr>
              <a:t>É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atribuído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true para a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teste (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que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deve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ser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bool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).</a:t>
            </a:r>
            <a:endParaRPr lang="en-US" sz="1600" dirty="0">
              <a:ea typeface="Verdana" pitchFamily="34" charset="0"/>
              <a:cs typeface="Verdana" pitchFamily="34" charset="0"/>
            </a:endParaRP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dirty="0" err="1">
                <a:ea typeface="Verdana" pitchFamily="34" charset="0"/>
                <a:cs typeface="Verdana" pitchFamily="34" charset="0"/>
              </a:rPr>
              <a:t>lado</a:t>
            </a:r>
            <a:r>
              <a:rPr lang="en-US" dirty="0">
                <a:ea typeface="Verdana" pitchFamily="34" charset="0"/>
                <a:cs typeface="Verdana" pitchFamily="34" charset="0"/>
              </a:rPr>
              <a:t> = 10;</a:t>
            </a:r>
          </a:p>
          <a:p>
            <a:pPr marL="1085850" lvl="2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1600" i="1" dirty="0">
                <a:ea typeface="Verdana" pitchFamily="34" charset="0"/>
                <a:cs typeface="Verdana" pitchFamily="34" charset="0"/>
              </a:rPr>
              <a:t>O valor da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b é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atribuído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a </a:t>
            </a:r>
            <a:r>
              <a:rPr lang="en-US" sz="1600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600" i="1" dirty="0">
                <a:ea typeface="Verdana" pitchFamily="34" charset="0"/>
                <a:cs typeface="Verdana" pitchFamily="34" charset="0"/>
              </a:rPr>
              <a:t> a.</a:t>
            </a:r>
            <a:endParaRPr lang="en-US" sz="1600" dirty="0">
              <a:ea typeface="Verdana" pitchFamily="34" charset="0"/>
              <a:cs typeface="Verdana" pitchFamily="34" charset="0"/>
            </a:endParaRP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dirty="0">
                <a:ea typeface="Verdana" pitchFamily="34" charset="0"/>
                <a:cs typeface="Verdana" pitchFamily="34" charset="0"/>
              </a:rPr>
              <a:t>a = b = c = d = 7;</a:t>
            </a:r>
          </a:p>
          <a:p>
            <a:pPr marL="1085850" lvl="2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i="1" dirty="0">
                <a:ea typeface="Verdana" pitchFamily="34" charset="0"/>
                <a:cs typeface="Verdana" pitchFamily="34" charset="0"/>
              </a:rPr>
              <a:t>A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d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recebe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7, a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c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recebe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d (7), a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b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recebe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c (7) e a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variável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a </a:t>
            </a:r>
            <a:r>
              <a:rPr lang="en-US" i="1" dirty="0" err="1">
                <a:ea typeface="Verdana" pitchFamily="34" charset="0"/>
                <a:cs typeface="Verdana" pitchFamily="34" charset="0"/>
              </a:rPr>
              <a:t>recebe</a:t>
            </a:r>
            <a:r>
              <a:rPr lang="en-US" i="1" dirty="0">
                <a:ea typeface="Verdana" pitchFamily="34" charset="0"/>
                <a:cs typeface="Verdana" pitchFamily="34" charset="0"/>
              </a:rPr>
              <a:t> b (7).</a:t>
            </a:r>
            <a:endParaRPr lang="en-US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1B4A27-C21A-4853-808F-EC288819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30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34D2B3-7B4D-435A-B4D5-E6F4EFFDE4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EFA4C2-921F-46D1-8E5C-4B522E44DB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59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Comentários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376" y="2054656"/>
            <a:ext cx="7940659" cy="4581149"/>
          </a:xfrm>
        </p:spPr>
        <p:txBody>
          <a:bodyPr>
            <a:no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Um código bem comentado auxilia o programador em manutenções no código, economizando um bom tempo de trabalho.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Escreva comentários coerentes e que possam ser úteis como, por exemplo, comentários que possam ajudar a lembrar o porque da criação de determinada variável ou qual a função de determinada rotina.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Comentários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linha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feitos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colocando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-se // no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início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comentário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Para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comentários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linha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inicia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-se com /*, e no final do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comentário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fechado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*/.</a:t>
            </a:r>
            <a:endParaRPr lang="pt-BR" sz="24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CFB0A5-BFB5-4342-90AE-22976E60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31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C3DEA2-52DD-44A8-AD2B-584DB9C230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F56CB16-880E-455D-8825-0196C64CF5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80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Identação</a:t>
            </a:r>
            <a:r>
              <a:rPr lang="en-US" sz="4000" b="1" u="sng" dirty="0"/>
              <a:t> de </a:t>
            </a:r>
            <a:r>
              <a:rPr lang="en-US" sz="4000" b="1" u="sng" dirty="0" err="1"/>
              <a:t>código</a:t>
            </a:r>
            <a:br>
              <a:rPr lang="en-US" dirty="0"/>
            </a:br>
            <a:r>
              <a:rPr lang="en-US" sz="2800" i="1" dirty="0" err="1"/>
              <a:t>Sintaxe</a:t>
            </a:r>
            <a:r>
              <a:rPr lang="en-US" sz="2800" i="1" dirty="0"/>
              <a:t> do C/C++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965" y="1749246"/>
            <a:ext cx="8246070" cy="4581149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sz="2400" dirty="0" err="1">
                <a:ea typeface="Verdana" panose="020B0604030504040204" pitchFamily="34" charset="0"/>
                <a:cs typeface="Verdana" panose="020B0604030504040204" pitchFamily="34" charset="0"/>
              </a:rPr>
              <a:t>Identar</a:t>
            </a:r>
            <a:r>
              <a:rPr lang="pt-BR" sz="2400" dirty="0">
                <a:ea typeface="Verdana" panose="020B0604030504040204" pitchFamily="34" charset="0"/>
                <a:cs typeface="Verdana" panose="020B0604030504040204" pitchFamily="34" charset="0"/>
              </a:rPr>
              <a:t> (ou dentear) o código é organizar visualmente seu código de forma que os blocos dependentes fiquem alinhados e mais à direita, facilitando o entendimento do que está subordinado a que. 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24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É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muito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importante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pois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consiste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na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organização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/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formatação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código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ele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fique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legível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e de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fácil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entendimento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para o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programador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e para outros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programadores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forem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trabalhar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 com </a:t>
            </a:r>
            <a:r>
              <a:rPr lang="en-US" sz="2400" dirty="0" err="1">
                <a:ea typeface="Verdana" panose="020B0604030504040204" pitchFamily="34" charset="0"/>
                <a:cs typeface="Verdana" panose="020B0604030504040204" pitchFamily="34" charset="0"/>
              </a:rPr>
              <a:t>ele</a:t>
            </a:r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8D5691-5727-4023-AC28-581F8511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32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165303-4FA2-415C-AEE6-9943013304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EBECB81-61D9-4BCC-A37F-448408071A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43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14491</TotalTime>
  <Words>1765</Words>
  <Application>Microsoft Office PowerPoint</Application>
  <PresentationFormat>Widescreen</PresentationFormat>
  <Paragraphs>268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Cambria</vt:lpstr>
      <vt:lpstr>Courier New</vt:lpstr>
      <vt:lpstr>Times New Roman</vt:lpstr>
      <vt:lpstr>Verdana</vt:lpstr>
      <vt:lpstr>Wingdings</vt:lpstr>
      <vt:lpstr>Adjacência</vt:lpstr>
      <vt:lpstr>Lógica e Algoritmos</vt:lpstr>
      <vt:lpstr>Corpo de um programa Sintaxe do C/C++</vt:lpstr>
      <vt:lpstr>Tipos de Dados Sintaxe do C/C++</vt:lpstr>
      <vt:lpstr>Tipos Básicos de Dados Sintaxe do C/C++</vt:lpstr>
      <vt:lpstr>Tipos Básicos de Dados Sintaxe do C/C++</vt:lpstr>
      <vt:lpstr>Tipos Básicos de Dados Sintaxe do C/C++</vt:lpstr>
      <vt:lpstr>Tipos Básicos de Dados Sintaxe do C/C++</vt:lpstr>
      <vt:lpstr>Tipos Básicos de Dados Sintaxe do C/C++</vt:lpstr>
      <vt:lpstr>Tipos Básicos de Dados Sintaxe do C/C++</vt:lpstr>
      <vt:lpstr>Tipos Básicos de Dados Sintaxe do C/C++</vt:lpstr>
      <vt:lpstr>Modificadores de Faixas Sintaxe do C/C++</vt:lpstr>
      <vt:lpstr>Modificadores de Faixas Sintaxe do C/C++</vt:lpstr>
      <vt:lpstr>Espaço ocupado na Memória Sintaxe do C/C++</vt:lpstr>
      <vt:lpstr>Espaço ocupado na Memória Sintaxe do C/C++</vt:lpstr>
      <vt:lpstr>Tipos de Dados Compostos Sintaxe do C/C++</vt:lpstr>
      <vt:lpstr>Variáveis Sintaxe do C/C++</vt:lpstr>
      <vt:lpstr>Declaração de Variáveis Sintaxe do C/C++</vt:lpstr>
      <vt:lpstr>Declaração de Variáveis Sintaxe do C/C++</vt:lpstr>
      <vt:lpstr>Constantes Sintaxe do C/C++</vt:lpstr>
      <vt:lpstr>Criação de Constantes Sintaxe do C/C++</vt:lpstr>
      <vt:lpstr>Criação de Constantes Sintaxe do C/C++</vt:lpstr>
      <vt:lpstr>Estrutura de um Sistema Sintaxe do C/C++</vt:lpstr>
      <vt:lpstr>Entrada de Dados Sintaxe do C/C++</vt:lpstr>
      <vt:lpstr>Entrada de Dados Sintaxe do C/C++</vt:lpstr>
      <vt:lpstr>Entrada de Dados Sintaxe do C/C++</vt:lpstr>
      <vt:lpstr>Saída de Dados Sintaxe do C/C++</vt:lpstr>
      <vt:lpstr>Saída de Dados Sintaxe do C/C++</vt:lpstr>
      <vt:lpstr>Saída de Dados Sintaxe do C/C++</vt:lpstr>
      <vt:lpstr>Atribuição Sintaxe do C/C++</vt:lpstr>
      <vt:lpstr>Atribuição Sintaxe do C/C++</vt:lpstr>
      <vt:lpstr>Comentários Sintaxe do C/C++</vt:lpstr>
      <vt:lpstr>Identação de código Sintaxe do C/C++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Pereira</cp:lastModifiedBy>
  <cp:revision>609</cp:revision>
  <dcterms:created xsi:type="dcterms:W3CDTF">2014-11-11T18:41:35Z</dcterms:created>
  <dcterms:modified xsi:type="dcterms:W3CDTF">2019-03-01T22:00:11Z</dcterms:modified>
</cp:coreProperties>
</file>
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20"/>
  </p:notesMasterIdLst>
  <p:sldIdLst>
    <p:sldId id="256" r:id="rId2"/>
    <p:sldId id="505" r:id="rId3"/>
    <p:sldId id="506" r:id="rId4"/>
    <p:sldId id="507" r:id="rId5"/>
    <p:sldId id="508" r:id="rId6"/>
    <p:sldId id="509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517" r:id="rId15"/>
    <p:sldId id="518" r:id="rId16"/>
    <p:sldId id="519" r:id="rId17"/>
    <p:sldId id="520" r:id="rId18"/>
    <p:sldId id="504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6122" autoAdjust="0"/>
  </p:normalViewPr>
  <p:slideViewPr>
    <p:cSldViewPr>
      <p:cViewPr varScale="1">
        <p:scale>
          <a:sx n="114" d="100"/>
          <a:sy n="114" d="100"/>
        </p:scale>
        <p:origin x="97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05/06/2022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165600" y="6550026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9600" y="6550026"/>
            <a:ext cx="2844800" cy="365125"/>
          </a:xfr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04F66ADD-F0E0-4E39-A969-383FD4B60F48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05/06/2022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Vetores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endParaRPr lang="pt-BR" sz="2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6"/>
          <p:cNvSpPr>
            <a:spLocks noGrp="1"/>
          </p:cNvSpPr>
          <p:nvPr>
            <p:ph idx="1"/>
          </p:nvPr>
        </p:nvSpPr>
        <p:spPr>
          <a:xfrm>
            <a:off x="1779588" y="1916113"/>
            <a:ext cx="8431212" cy="4481512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1800" b="0" dirty="0">
                <a:latin typeface="Verdana" panose="020B0604030504040204" pitchFamily="34" charset="0"/>
              </a:rPr>
              <a:t>Imagine que fosse necessário criar um programa para armazenar 2000 salários dos funcionários de uma empresa.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Caso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só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quisesse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somar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salários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poderia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criar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laço</a:t>
            </a:r>
            <a:r>
              <a:rPr lang="en-US" altLang="pt-BR" sz="1800" b="0" dirty="0">
                <a:latin typeface="Verdana" panose="020B0604030504040204" pitchFamily="34" charset="0"/>
              </a:rPr>
              <a:t> de </a:t>
            </a:r>
            <a:r>
              <a:rPr lang="en-US" altLang="pt-BR" sz="1800" b="0" dirty="0" err="1">
                <a:latin typeface="Verdana" panose="020B0604030504040204" pitchFamily="34" charset="0"/>
              </a:rPr>
              <a:t>repetição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ler</a:t>
            </a:r>
            <a:r>
              <a:rPr lang="en-US" altLang="pt-BR" sz="1800" b="0" dirty="0">
                <a:latin typeface="Verdana" panose="020B0604030504040204" pitchFamily="34" charset="0"/>
              </a:rPr>
              <a:t> 2000 </a:t>
            </a:r>
            <a:r>
              <a:rPr lang="en-US" altLang="pt-BR" sz="1800" b="0" dirty="0" err="1">
                <a:latin typeface="Verdana" panose="020B0604030504040204" pitchFamily="34" charset="0"/>
              </a:rPr>
              <a:t>vezes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mesma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variável</a:t>
            </a:r>
            <a:r>
              <a:rPr lang="en-US" altLang="pt-BR" sz="1800" b="0" dirty="0">
                <a:latin typeface="Verdana" panose="020B0604030504040204" pitchFamily="34" charset="0"/>
              </a:rPr>
              <a:t>, e </a:t>
            </a:r>
            <a:r>
              <a:rPr lang="en-US" altLang="pt-BR" sz="1800" b="0" dirty="0" err="1">
                <a:latin typeface="Verdana" panose="020B0604030504040204" pitchFamily="34" charset="0"/>
              </a:rPr>
              <a:t>ir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acumulando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valores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Mas, e se fosse </a:t>
            </a:r>
            <a:r>
              <a:rPr lang="en-US" altLang="pt-BR" sz="1800" b="0" dirty="0" err="1">
                <a:latin typeface="Verdana" panose="020B0604030504040204" pitchFamily="34" charset="0"/>
              </a:rPr>
              <a:t>necessário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esses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salários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novamente</a:t>
            </a:r>
            <a:r>
              <a:rPr lang="en-US" altLang="pt-BR" sz="1800" b="0" dirty="0">
                <a:latin typeface="Verdana" panose="020B0604030504040204" pitchFamily="34" charset="0"/>
              </a:rPr>
              <a:t> para </a:t>
            </a:r>
            <a:r>
              <a:rPr lang="en-US" altLang="pt-BR" sz="1800" b="0" dirty="0" err="1">
                <a:latin typeface="Verdana" panose="020B0604030504040204" pitchFamily="34" charset="0"/>
              </a:rPr>
              <a:t>outras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funções</a:t>
            </a:r>
            <a:r>
              <a:rPr lang="en-US" altLang="pt-BR" sz="1800" b="0" dirty="0">
                <a:latin typeface="Verdana" panose="020B0604030504040204" pitchFamily="34" charset="0"/>
              </a:rPr>
              <a:t>? </a:t>
            </a:r>
            <a:r>
              <a:rPr lang="en-US" altLang="pt-BR" sz="1800" b="0" dirty="0" err="1">
                <a:latin typeface="Verdana" panose="020B0604030504040204" pitchFamily="34" charset="0"/>
              </a:rPr>
              <a:t>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valores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estariam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perdidos</a:t>
            </a:r>
            <a:r>
              <a:rPr lang="en-US" altLang="pt-BR" sz="1800" b="0" dirty="0">
                <a:latin typeface="Verdana" panose="020B0604030504040204" pitchFamily="34" charset="0"/>
              </a:rPr>
              <a:t>. </a:t>
            </a:r>
            <a:r>
              <a:rPr lang="en-US" altLang="pt-BR" sz="1800" b="0" dirty="0" err="1">
                <a:latin typeface="Verdana" panose="020B0604030504040204" pitchFamily="34" charset="0"/>
              </a:rPr>
              <a:t>Então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neste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caso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seria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necessário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criar</a:t>
            </a:r>
            <a:r>
              <a:rPr lang="en-US" altLang="pt-BR" sz="1800" b="0" dirty="0">
                <a:latin typeface="Verdana" panose="020B0604030504040204" pitchFamily="34" charset="0"/>
              </a:rPr>
              <a:t> 2000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variáveis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Criar</a:t>
            </a:r>
            <a:r>
              <a:rPr lang="en-US" altLang="pt-BR" sz="1800" b="0" dirty="0">
                <a:latin typeface="Verdana" panose="020B0604030504040204" pitchFamily="34" charset="0"/>
              </a:rPr>
              <a:t> 2000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variáveis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torna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inviável</a:t>
            </a:r>
            <a:r>
              <a:rPr lang="en-US" altLang="pt-BR" sz="1800" b="0" dirty="0">
                <a:latin typeface="Verdana" panose="020B0604030504040204" pitchFamily="34" charset="0"/>
              </a:rPr>
              <a:t>. Para resolver </a:t>
            </a:r>
            <a:r>
              <a:rPr lang="en-US" altLang="pt-BR" sz="1800" b="0" dirty="0" err="1">
                <a:latin typeface="Verdana" panose="020B0604030504040204" pitchFamily="34" charset="0"/>
              </a:rPr>
              <a:t>isso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usam</a:t>
            </a:r>
            <a:r>
              <a:rPr lang="en-US" altLang="pt-BR" sz="1800" b="0" dirty="0">
                <a:latin typeface="Verdana" panose="020B0604030504040204" pitchFamily="34" charset="0"/>
              </a:rPr>
              <a:t>-se arrays, que </a:t>
            </a:r>
            <a:r>
              <a:rPr lang="en-US" altLang="pt-BR" sz="1800" b="0" dirty="0" err="1">
                <a:latin typeface="Verdana" panose="020B0604030504040204" pitchFamily="34" charset="0"/>
              </a:rPr>
              <a:t>podem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ser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tanto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vetores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quanto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matrizes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altLang="pt-BR" sz="1800" b="0" dirty="0">
              <a:latin typeface="Verdana" panose="020B0604030504040204" pitchFamily="34" charset="0"/>
            </a:endParaRPr>
          </a:p>
        </p:txBody>
      </p:sp>
      <p:sp>
        <p:nvSpPr>
          <p:cNvPr id="16" name="Espaço Reservado para Número de Slide 3">
            <a:extLst>
              <a:ext uri="{FF2B5EF4-FFF2-40B4-BE49-F238E27FC236}">
                <a16:creationId xmlns:a16="http://schemas.microsoft.com/office/drawing/2014/main" id="{E073CB09-29E6-4D56-B5C2-7EF58582721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543D112-135F-4827-B2D0-D9C02084D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46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6"/>
          <p:cNvSpPr>
            <a:spLocks noGrp="1"/>
          </p:cNvSpPr>
          <p:nvPr>
            <p:ph idx="1"/>
          </p:nvPr>
        </p:nvSpPr>
        <p:spPr>
          <a:xfrm>
            <a:off x="1981200" y="2133600"/>
            <a:ext cx="8332788" cy="4319588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Mas, </a:t>
            </a:r>
            <a:r>
              <a:rPr lang="en-US" altLang="pt-BR" sz="1800" b="0" i="1" u="sng" dirty="0">
                <a:latin typeface="Verdana" panose="020B0604030504040204" pitchFamily="34" charset="0"/>
              </a:rPr>
              <a:t>o que é um </a:t>
            </a:r>
            <a:r>
              <a:rPr lang="en-US" altLang="pt-BR" sz="1800" b="0" i="1" u="sng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i="1" dirty="0">
                <a:latin typeface="Verdana" panose="020B0604030504040204" pitchFamily="34" charset="0"/>
              </a:rPr>
              <a:t>?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Uma </a:t>
            </a:r>
            <a:r>
              <a:rPr lang="en-US" altLang="pt-BR" sz="1800" b="0" dirty="0" err="1">
                <a:latin typeface="Verdana" panose="020B0604030504040204" pitchFamily="34" charset="0"/>
              </a:rPr>
              <a:t>sequência</a:t>
            </a:r>
            <a:r>
              <a:rPr lang="en-US" altLang="pt-BR" sz="1800" b="0" dirty="0">
                <a:latin typeface="Verdana" panose="020B0604030504040204" pitchFamily="34" charset="0"/>
              </a:rPr>
              <a:t> de </a:t>
            </a:r>
            <a:r>
              <a:rPr lang="en-US" altLang="pt-BR" sz="1800" b="0" dirty="0" err="1">
                <a:latin typeface="Verdana" panose="020B0604030504040204" pitchFamily="34" charset="0"/>
              </a:rPr>
              <a:t>vários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valores</a:t>
            </a:r>
            <a:r>
              <a:rPr lang="en-US" altLang="pt-BR" sz="1800" b="0" dirty="0">
                <a:latin typeface="Verdana" panose="020B0604030504040204" pitchFamily="34" charset="0"/>
              </a:rPr>
              <a:t> de </a:t>
            </a:r>
            <a:r>
              <a:rPr lang="en-US" altLang="pt-BR" sz="1800" b="0" dirty="0" err="1">
                <a:latin typeface="Verdana" panose="020B0604030504040204" pitchFamily="34" charset="0"/>
              </a:rPr>
              <a:t>mesmo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tipo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armazenados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pt-BR" altLang="pt-BR" sz="1800" b="0" dirty="0">
                <a:latin typeface="Verdana" panose="020B0604030504040204" pitchFamily="34" charset="0"/>
              </a:rPr>
              <a:t>sequencialmente na memória, e fazendo uso de um mesmo nome de variável para acessar esses valores. 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1800" b="0" dirty="0">
                <a:latin typeface="Verdana" panose="020B0604030504040204" pitchFamily="34" charset="0"/>
              </a:rPr>
              <a:t>Vetores são variáveis que servem para guardar vários valores do mesmo tipo, de forma uniforme, na memória. </a:t>
            </a:r>
            <a:endParaRPr lang="en-US" altLang="pt-BR" sz="1800" b="0" dirty="0">
              <a:latin typeface="Verdana" panose="020B0604030504040204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E </a:t>
            </a:r>
            <a:r>
              <a:rPr lang="en-US" altLang="pt-BR" sz="1800" b="0" dirty="0" err="1">
                <a:latin typeface="Verdana" panose="020B0604030504040204" pitchFamily="34" charset="0"/>
              </a:rPr>
              <a:t>como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declara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? </a:t>
            </a:r>
            <a:r>
              <a:rPr lang="en-US" altLang="pt-BR" sz="1800" b="0" dirty="0" err="1">
                <a:latin typeface="Verdana" panose="020B0604030504040204" pitchFamily="34" charset="0"/>
              </a:rPr>
              <a:t>Basicamente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como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uma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variável</a:t>
            </a:r>
            <a:r>
              <a:rPr lang="en-US" altLang="pt-BR" sz="1800" b="0" dirty="0">
                <a:latin typeface="Verdana" panose="020B0604030504040204" pitchFamily="34" charset="0"/>
              </a:rPr>
              <a:t> normal.</a:t>
            </a:r>
            <a:r>
              <a:rPr lang="pt-BR" altLang="pt-BR" sz="1800" b="0" dirty="0">
                <a:latin typeface="Verdana" panose="020B0604030504040204" pitchFamily="34" charset="0"/>
              </a:rPr>
              <a:t> 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400" dirty="0" err="1">
                <a:latin typeface="Verdana" panose="020B0604030504040204" pitchFamily="34" charset="0"/>
              </a:rPr>
              <a:t>Primeiro</a:t>
            </a:r>
            <a:r>
              <a:rPr lang="en-US" altLang="pt-BR" sz="1400" dirty="0">
                <a:latin typeface="Verdana" panose="020B0604030504040204" pitchFamily="34" charset="0"/>
              </a:rPr>
              <a:t>, </a:t>
            </a:r>
            <a:r>
              <a:rPr lang="en-US" altLang="pt-BR" sz="1400" dirty="0" err="1">
                <a:latin typeface="Verdana" panose="020B0604030504040204" pitchFamily="34" charset="0"/>
              </a:rPr>
              <a:t>coloca</a:t>
            </a:r>
            <a:r>
              <a:rPr lang="en-US" altLang="pt-BR" sz="1400" dirty="0">
                <a:latin typeface="Verdana" panose="020B0604030504040204" pitchFamily="34" charset="0"/>
              </a:rPr>
              <a:t>-se o </a:t>
            </a:r>
            <a:r>
              <a:rPr lang="en-US" altLang="pt-BR" sz="1400" dirty="0" err="1">
                <a:latin typeface="Verdana" panose="020B0604030504040204" pitchFamily="34" charset="0"/>
              </a:rPr>
              <a:t>tipo</a:t>
            </a:r>
            <a:r>
              <a:rPr lang="en-US" altLang="pt-BR" sz="1400" dirty="0">
                <a:latin typeface="Verdana" panose="020B0604030504040204" pitchFamily="34" charset="0"/>
              </a:rPr>
              <a:t> de dados que </a:t>
            </a:r>
            <a:r>
              <a:rPr lang="en-US" altLang="pt-BR" sz="1400" dirty="0" err="1">
                <a:latin typeface="Verdana" panose="020B0604030504040204" pitchFamily="34" charset="0"/>
              </a:rPr>
              <a:t>serão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armazenados</a:t>
            </a:r>
            <a:r>
              <a:rPr lang="en-US" altLang="pt-BR" sz="1400" dirty="0">
                <a:latin typeface="Verdana" panose="020B0604030504040204" pitchFamily="34" charset="0"/>
              </a:rPr>
              <a:t> no </a:t>
            </a:r>
            <a:r>
              <a:rPr lang="en-US" altLang="pt-BR" sz="1400" dirty="0" err="1">
                <a:latin typeface="Verdana" panose="020B0604030504040204" pitchFamily="34" charset="0"/>
              </a:rPr>
              <a:t>vetor</a:t>
            </a:r>
            <a:r>
              <a:rPr lang="en-US" altLang="pt-BR" sz="1400" dirty="0">
                <a:latin typeface="Verdana" panose="020B0604030504040204" pitchFamily="34" charset="0"/>
              </a:rPr>
              <a:t>, </a:t>
            </a:r>
            <a:r>
              <a:rPr lang="en-US" altLang="pt-BR" sz="1400" dirty="0" err="1">
                <a:latin typeface="Verdana" panose="020B0604030504040204" pitchFamily="34" charset="0"/>
              </a:rPr>
              <a:t>ou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seja</a:t>
            </a:r>
            <a:r>
              <a:rPr lang="en-US" altLang="pt-BR" sz="1400" dirty="0">
                <a:latin typeface="Verdana" panose="020B0604030504040204" pitchFamily="34" charset="0"/>
              </a:rPr>
              <a:t>, se o </a:t>
            </a:r>
            <a:r>
              <a:rPr lang="en-US" altLang="pt-BR" sz="1400" dirty="0" err="1">
                <a:latin typeface="Verdana" panose="020B0604030504040204" pitchFamily="34" charset="0"/>
              </a:rPr>
              <a:t>vetor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conterá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valores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inteiros</a:t>
            </a:r>
            <a:r>
              <a:rPr lang="en-US" altLang="pt-BR" sz="1400" dirty="0">
                <a:latin typeface="Verdana" panose="020B0604030504040204" pitchFamily="34" charset="0"/>
              </a:rPr>
              <a:t>, </a:t>
            </a:r>
            <a:r>
              <a:rPr lang="en-US" altLang="pt-BR" sz="1400" dirty="0" err="1">
                <a:latin typeface="Verdana" panose="020B0604030504040204" pitchFamily="34" charset="0"/>
              </a:rPr>
              <a:t>reais</a:t>
            </a:r>
            <a:r>
              <a:rPr lang="en-US" altLang="pt-BR" sz="1400" dirty="0">
                <a:latin typeface="Verdana" panose="020B0604030504040204" pitchFamily="34" charset="0"/>
              </a:rPr>
              <a:t>, </a:t>
            </a:r>
            <a:r>
              <a:rPr lang="en-US" altLang="pt-BR" sz="1400" dirty="0" err="1">
                <a:latin typeface="Verdana" panose="020B0604030504040204" pitchFamily="34" charset="0"/>
              </a:rPr>
              <a:t>caracteres</a:t>
            </a:r>
            <a:r>
              <a:rPr lang="en-US" altLang="pt-BR" sz="1400" dirty="0">
                <a:latin typeface="Verdana" panose="020B0604030504040204" pitchFamily="34" charset="0"/>
              </a:rPr>
              <a:t>, …</a:t>
            </a:r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E073CB09-29E6-4D56-B5C2-7EF58582721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3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543D112-135F-4827-B2D0-D9C02084D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86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03389" y="1944689"/>
            <a:ext cx="8785225" cy="3140075"/>
          </a:xfrm>
        </p:spPr>
        <p:txBody>
          <a:bodyPr>
            <a:normAutofit lnSpcReduction="10000"/>
          </a:bodyPr>
          <a:lstStyle/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Logo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após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, se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dá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o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assim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). Vale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lembrar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as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regras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nomear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também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são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válidas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um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E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finalmente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, a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quantidade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elementos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serão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armazenados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, entre [].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int vet[10]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float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salarios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[100], x,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aumento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[100]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087813" y="6100763"/>
            <a:ext cx="2590800" cy="3683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float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salarios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[1000]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Conector de seta reta 13"/>
          <p:cNvCxnSpPr/>
          <p:nvPr/>
        </p:nvCxnSpPr>
        <p:spPr>
          <a:xfrm flipH="1" flipV="1">
            <a:off x="4006851" y="5737225"/>
            <a:ext cx="415925" cy="330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V="1">
            <a:off x="5737226" y="5768975"/>
            <a:ext cx="339725" cy="2984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V="1">
            <a:off x="6634164" y="5764213"/>
            <a:ext cx="382587" cy="3349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3214688" y="5248276"/>
            <a:ext cx="1744662" cy="461963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elementos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dentro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vetor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5137151" y="5248276"/>
            <a:ext cx="1497013" cy="461963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Nome da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vetor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811964" y="5084763"/>
            <a:ext cx="2092325" cy="646112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Quantidade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elementos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armazenados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vetor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4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04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6"/>
          <p:cNvSpPr>
            <a:spLocks noGrp="1"/>
          </p:cNvSpPr>
          <p:nvPr>
            <p:ph idx="1"/>
          </p:nvPr>
        </p:nvSpPr>
        <p:spPr>
          <a:xfrm>
            <a:off x="1981201" y="5949950"/>
            <a:ext cx="5770563" cy="6096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Após declarado, como se manipular um vetor?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3143250" y="4941888"/>
          <a:ext cx="4876800" cy="7667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25"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3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Espaço</a:t>
                      </a:r>
                      <a:r>
                        <a:rPr lang="en-US" sz="1000" baseline="0" dirty="0"/>
                        <a:t> de </a:t>
                      </a:r>
                      <a:r>
                        <a:rPr lang="en-US" sz="1000" baseline="0" dirty="0" err="1"/>
                        <a:t>Memória</a:t>
                      </a:r>
                      <a:endParaRPr lang="pt-BR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Espaço</a:t>
                      </a:r>
                      <a:r>
                        <a:rPr lang="en-US" sz="1000" baseline="0" dirty="0"/>
                        <a:t> de </a:t>
                      </a:r>
                      <a:r>
                        <a:rPr lang="en-US" sz="1000" baseline="0" dirty="0" err="1"/>
                        <a:t>Memória</a:t>
                      </a:r>
                      <a:endParaRPr lang="pt-BR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Espaço</a:t>
                      </a:r>
                      <a:r>
                        <a:rPr lang="en-US" sz="1000" baseline="0" dirty="0"/>
                        <a:t> de </a:t>
                      </a:r>
                      <a:r>
                        <a:rPr lang="en-US" sz="1000" baseline="0" dirty="0" err="1"/>
                        <a:t>Memória</a:t>
                      </a:r>
                      <a:endParaRPr lang="pt-BR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Espaço</a:t>
                      </a:r>
                      <a:r>
                        <a:rPr lang="en-US" sz="1000" baseline="0" dirty="0"/>
                        <a:t> de </a:t>
                      </a:r>
                      <a:r>
                        <a:rPr lang="en-US" sz="1000" baseline="0" dirty="0" err="1"/>
                        <a:t>Memória</a:t>
                      </a:r>
                      <a:endParaRPr lang="pt-BR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93" marB="4569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Content Placeholder 6"/>
          <p:cNvSpPr txBox="1">
            <a:spLocks/>
          </p:cNvSpPr>
          <p:nvPr/>
        </p:nvSpPr>
        <p:spPr>
          <a:xfrm>
            <a:off x="2135188" y="2060576"/>
            <a:ext cx="8229600" cy="26638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rtl="0" eaLnBrk="1" latinLnBrk="0" hangingPunct="1">
              <a:lnSpc>
                <a:spcPts val="2600"/>
              </a:lnSpc>
              <a:spcBef>
                <a:spcPts val="700"/>
              </a:spcBef>
              <a:buClr>
                <a:schemeClr val="accent2"/>
              </a:buClr>
              <a:buSzPct val="60000"/>
              <a:buFontTx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latinLnBrk="0" hangingPunct="1">
              <a:lnSpc>
                <a:spcPts val="2600"/>
              </a:lnSpc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7438" indent="-173038" algn="l" rtl="0" eaLnBrk="1" latinLnBrk="0" hangingPunct="1">
              <a:lnSpc>
                <a:spcPts val="2600"/>
              </a:lnSpc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1463" indent="-169863" algn="l" rtl="0" eaLnBrk="1" latinLnBrk="0" hangingPunct="1">
              <a:lnSpc>
                <a:spcPts val="2600"/>
              </a:lnSpc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1838" indent="-173038" algn="l" rtl="0" eaLnBrk="1" latinLnBrk="0" hangingPunct="1">
              <a:lnSpc>
                <a:spcPts val="2600"/>
              </a:lnSpc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vet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4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espaços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memória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onde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guardados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4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números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inteiros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acessar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valor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só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chamar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cout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&lt;&lt;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idade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;.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Mas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Como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acessar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5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98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74888" y="1989138"/>
            <a:ext cx="7935912" cy="3429000"/>
          </a:xfrm>
        </p:spPr>
        <p:txBody>
          <a:bodyPr>
            <a:normAutofit lnSpcReduction="10000"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vet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4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espaços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memória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onde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guardados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4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números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inteiros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acessar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valor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só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chamar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cout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&lt;&lt;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idade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;.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Mas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Como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acessar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trabalha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que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iniciam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0 (sempre) no C/C++. 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503613" y="5373689"/>
          <a:ext cx="4876800" cy="10066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13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i="1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vet</a:t>
                      </a:r>
                      <a:endParaRPr lang="pt-BR" sz="1800" b="0" i="1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  <a:endParaRPr lang="pt-BR" sz="11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endParaRPr lang="pt-BR" sz="11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endParaRPr lang="pt-BR" sz="11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  <a:endParaRPr lang="pt-BR" sz="11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6" marB="4567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6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9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/>
          <p:cNvSpPr txBox="1">
            <a:spLocks/>
          </p:cNvSpPr>
          <p:nvPr/>
        </p:nvSpPr>
        <p:spPr bwMode="auto">
          <a:xfrm>
            <a:off x="1981200" y="21336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lnSpcReduction="10000"/>
          </a:bodyPr>
          <a:lstStyle>
            <a:lvl1pPr marL="0" indent="0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213" indent="-22701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0874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41463" indent="-169863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01838" indent="-17303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Para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inserir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valor 76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2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seguinte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código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40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vet[2] = 76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para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valor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, com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acréscimo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É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carteiro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 Para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entregar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carta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precisa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saber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rua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o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número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kern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residência</a:t>
            </a:r>
            <a:r>
              <a:rPr lang="en-US" sz="1800" b="0" kern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rua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deixa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e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número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residência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  <a:defRPr/>
            </a:pPr>
            <a:endParaRPr lang="en-US" sz="1800" b="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endParaRPr lang="pt-BR" sz="1800" b="0" kern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7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81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6"/>
          <p:cNvSpPr>
            <a:spLocks noGrp="1"/>
          </p:cNvSpPr>
          <p:nvPr>
            <p:ph idx="1"/>
          </p:nvPr>
        </p:nvSpPr>
        <p:spPr>
          <a:xfrm>
            <a:off x="2171700" y="2205038"/>
            <a:ext cx="7848600" cy="22606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1800" i="1" u="sng" dirty="0">
                <a:latin typeface="Verdana" panose="020B0604030504040204" pitchFamily="34" charset="0"/>
              </a:rPr>
              <a:t>Lembre-se:</a:t>
            </a:r>
            <a:r>
              <a:rPr lang="pt-BR" altLang="pt-BR" sz="1800" b="0" dirty="0">
                <a:latin typeface="Verdana" panose="020B0604030504040204" pitchFamily="34" charset="0"/>
              </a:rPr>
              <a:t> o limite do vetor é sempre seu tamanho menos 1. Usando o exemplo: vetor de tamanho 4, posição máxima é 3 (pois 4-1=3). Então, ao atribuir um valor a posição 4 ocorrerá um erro. Resumidamente, jamais se poderia fazer </a:t>
            </a:r>
            <a:r>
              <a:rPr lang="pt-BR" altLang="pt-BR" sz="1800" b="0" dirty="0" err="1">
                <a:latin typeface="Verdana" panose="020B0604030504040204" pitchFamily="34" charset="0"/>
              </a:rPr>
              <a:t>vet</a:t>
            </a:r>
            <a:r>
              <a:rPr lang="pt-BR" altLang="pt-BR" sz="1800" b="0" dirty="0">
                <a:latin typeface="Verdana" panose="020B0604030504040204" pitchFamily="34" charset="0"/>
              </a:rPr>
              <a:t>[4]=200.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Exemplos</a:t>
            </a:r>
            <a:r>
              <a:rPr lang="en-US" altLang="pt-BR" sz="1800" b="0" dirty="0">
                <a:latin typeface="Verdana" panose="020B0604030504040204" pitchFamily="34" charset="0"/>
              </a:rPr>
              <a:t>:</a:t>
            </a:r>
            <a:endParaRPr lang="pt-BR" altLang="pt-BR" sz="1800" b="0" dirty="0">
              <a:latin typeface="Verdana" panose="020B0604030504040204" pitchFamily="34" charset="0"/>
            </a:endParaRP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8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90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6"/>
          <p:cNvSpPr>
            <a:spLocks noGrp="1"/>
          </p:cNvSpPr>
          <p:nvPr>
            <p:ph idx="1"/>
          </p:nvPr>
        </p:nvSpPr>
        <p:spPr>
          <a:xfrm>
            <a:off x="1890713" y="182880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Faça um programa que preencha um vetor de 10 posições e exiba o mesmo na tela.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9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447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6"/>
          <p:cNvSpPr>
            <a:spLocks noGrp="1"/>
          </p:cNvSpPr>
          <p:nvPr>
            <p:ph idx="1"/>
          </p:nvPr>
        </p:nvSpPr>
        <p:spPr>
          <a:xfrm>
            <a:off x="1890713" y="182880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Faça um programa que preencha um vetor de 10 posições e exiba o mesmo na tela.</a:t>
            </a:r>
          </a:p>
        </p:txBody>
      </p:sp>
      <p:pic>
        <p:nvPicPr>
          <p:cNvPr id="13316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4" y="2286001"/>
            <a:ext cx="5062537" cy="45370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10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5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6"/>
          <p:cNvSpPr>
            <a:spLocks noGrp="1"/>
          </p:cNvSpPr>
          <p:nvPr>
            <p:ph idx="1"/>
          </p:nvPr>
        </p:nvSpPr>
        <p:spPr>
          <a:xfrm>
            <a:off x="2368550" y="2133600"/>
            <a:ext cx="7454900" cy="35560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Ao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ler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uma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variável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acessamos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somente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uma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. No </a:t>
            </a:r>
            <a:r>
              <a:rPr lang="en-US" altLang="pt-BR" sz="1800" b="0" dirty="0" err="1">
                <a:latin typeface="Verdana" panose="020B0604030504040204" pitchFamily="34" charset="0"/>
              </a:rPr>
              <a:t>caso</a:t>
            </a:r>
            <a:r>
              <a:rPr lang="en-US" altLang="pt-BR" sz="1800" b="0" dirty="0">
                <a:latin typeface="Verdana" panose="020B0604030504040204" pitchFamily="34" charset="0"/>
              </a:rPr>
              <a:t> do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é </a:t>
            </a:r>
            <a:r>
              <a:rPr lang="en-US" altLang="pt-BR" sz="1800" b="0" dirty="0" err="1">
                <a:latin typeface="Verdana" panose="020B0604030504040204" pitchFamily="34" charset="0"/>
              </a:rPr>
              <a:t>mais</a:t>
            </a:r>
            <a:r>
              <a:rPr lang="en-US" altLang="pt-BR" sz="1800" b="0" dirty="0">
                <a:latin typeface="Verdana" panose="020B0604030504040204" pitchFamily="34" charset="0"/>
              </a:rPr>
              <a:t> que </a:t>
            </a:r>
            <a:r>
              <a:rPr lang="en-US" altLang="pt-BR" sz="1800" b="0" dirty="0" err="1">
                <a:latin typeface="Verdana" panose="020B0604030504040204" pitchFamily="34" charset="0"/>
              </a:rPr>
              <a:t>uma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acessada</a:t>
            </a:r>
            <a:r>
              <a:rPr lang="en-US" altLang="pt-BR" sz="1800" b="0" dirty="0">
                <a:latin typeface="Verdana" panose="020B0604030504040204" pitchFamily="34" charset="0"/>
              </a:rPr>
              <a:t> pela </a:t>
            </a:r>
            <a:r>
              <a:rPr lang="en-US" altLang="pt-BR" sz="1800" b="0" dirty="0" err="1">
                <a:latin typeface="Verdana" panose="020B0604030504040204" pitchFamily="34" charset="0"/>
              </a:rPr>
              <a:t>mesma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variável</a:t>
            </a:r>
            <a:r>
              <a:rPr lang="en-US" altLang="pt-BR" sz="1800" b="0" dirty="0">
                <a:latin typeface="Verdana" panose="020B0604030504040204" pitchFamily="34" charset="0"/>
              </a:rPr>
              <a:t>. Imagine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de 1000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posições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sendo</a:t>
            </a:r>
            <a:r>
              <a:rPr lang="en-US" altLang="pt-BR" sz="1800" b="0" dirty="0">
                <a:latin typeface="Verdana" panose="020B0604030504040204" pitchFamily="34" charset="0"/>
              </a:rPr>
              <a:t> lido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400" dirty="0" err="1">
                <a:latin typeface="Verdana" panose="020B0604030504040204" pitchFamily="34" charset="0"/>
              </a:rPr>
              <a:t>leia</a:t>
            </a:r>
            <a:r>
              <a:rPr lang="en-US" altLang="pt-BR" sz="1400" dirty="0">
                <a:latin typeface="Verdana" panose="020B0604030504040204" pitchFamily="34" charset="0"/>
              </a:rPr>
              <a:t>(vet[0],vet[1],vet[2],vet[3],vet[4],…; </a:t>
            </a:r>
            <a:r>
              <a:rPr lang="en-US" altLang="pt-BR" sz="1400" dirty="0" err="1">
                <a:latin typeface="Verdana" panose="020B0604030504040204" pitchFamily="34" charset="0"/>
              </a:rPr>
              <a:t>até</a:t>
            </a:r>
            <a:r>
              <a:rPr lang="en-US" altLang="pt-BR" sz="1400" dirty="0">
                <a:latin typeface="Verdana" panose="020B0604030504040204" pitchFamily="34" charset="0"/>
              </a:rPr>
              <a:t> a </a:t>
            </a:r>
            <a:r>
              <a:rPr lang="en-US" altLang="pt-BR" sz="1400" dirty="0" err="1">
                <a:latin typeface="Verdana" panose="020B0604030504040204" pitchFamily="34" charset="0"/>
              </a:rPr>
              <a:t>milésima</a:t>
            </a:r>
            <a:r>
              <a:rPr lang="en-US" altLang="pt-BR" sz="1400" dirty="0">
                <a:latin typeface="Verdana" panose="020B0604030504040204" pitchFamily="34" charset="0"/>
              </a:rPr>
              <a:t> </a:t>
            </a:r>
            <a:r>
              <a:rPr lang="en-US" altLang="pt-BR" sz="1400" dirty="0" err="1">
                <a:latin typeface="Verdana" panose="020B0604030504040204" pitchFamily="34" charset="0"/>
              </a:rPr>
              <a:t>posição</a:t>
            </a:r>
            <a:r>
              <a:rPr lang="en-US" altLang="pt-BR" sz="1400" dirty="0">
                <a:latin typeface="Verdana" panose="020B0604030504040204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Dessa forma, </a:t>
            </a:r>
            <a:r>
              <a:rPr lang="en-US" altLang="pt-BR" sz="1800" b="0" dirty="0" err="1">
                <a:latin typeface="Verdana" panose="020B0604030504040204" pitchFamily="34" charset="0"/>
              </a:rPr>
              <a:t>fica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melhor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utilizar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laço</a:t>
            </a:r>
            <a:r>
              <a:rPr lang="en-US" altLang="pt-BR" sz="1800" b="0" dirty="0">
                <a:latin typeface="Verdana" panose="020B0604030504040204" pitchFamily="34" charset="0"/>
              </a:rPr>
              <a:t> de </a:t>
            </a:r>
            <a:r>
              <a:rPr lang="en-US" altLang="pt-BR" sz="1800" b="0" dirty="0" err="1">
                <a:latin typeface="Verdana" panose="020B0604030504040204" pitchFamily="34" charset="0"/>
              </a:rPr>
              <a:t>repetição</a:t>
            </a:r>
            <a:r>
              <a:rPr lang="en-US" altLang="pt-BR" sz="1800" b="0" dirty="0">
                <a:latin typeface="Verdana" panose="020B0604030504040204" pitchFamily="34" charset="0"/>
              </a:rPr>
              <a:t> para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acessar</a:t>
            </a:r>
            <a:r>
              <a:rPr lang="en-US" altLang="pt-BR" sz="1800" b="0" dirty="0">
                <a:latin typeface="Verdana" panose="020B0604030504040204" pitchFamily="34" charset="0"/>
              </a:rPr>
              <a:t> as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posições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Seguem</a:t>
            </a:r>
            <a:r>
              <a:rPr lang="en-US" altLang="pt-BR" sz="1800" b="0" dirty="0">
                <a:latin typeface="Verdana" panose="020B0604030504040204" pitchFamily="34" charset="0"/>
              </a:rPr>
              <a:t> outros </a:t>
            </a:r>
            <a:r>
              <a:rPr lang="en-US" altLang="pt-BR" sz="1800" b="0" dirty="0" err="1">
                <a:latin typeface="Verdana" panose="020B0604030504040204" pitchFamily="34" charset="0"/>
              </a:rPr>
              <a:t>exemplos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  <a:endParaRPr lang="pt-BR" altLang="pt-BR" sz="1800" b="0" dirty="0">
              <a:latin typeface="Verdana" panose="020B0604030504040204" pitchFamily="34" charset="0"/>
            </a:endParaRP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11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4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6"/>
          <p:cNvSpPr>
            <a:spLocks noGrp="1"/>
          </p:cNvSpPr>
          <p:nvPr>
            <p:ph idx="1"/>
          </p:nvPr>
        </p:nvSpPr>
        <p:spPr>
          <a:xfrm>
            <a:off x="1957388" y="173990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Faça um programa que preencha um vetor de 20 posições e exiba todos os valores pares e suas respectivas posições.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12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603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6"/>
          <p:cNvSpPr>
            <a:spLocks noGrp="1"/>
          </p:cNvSpPr>
          <p:nvPr>
            <p:ph idx="1"/>
          </p:nvPr>
        </p:nvSpPr>
        <p:spPr>
          <a:xfrm>
            <a:off x="1957388" y="173990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Faça um programa que preencha um vetor de 20 posições e exiba todos os valores pares e suas respectivas posições.</a:t>
            </a:r>
          </a:p>
        </p:txBody>
      </p:sp>
      <p:pic>
        <p:nvPicPr>
          <p:cNvPr id="16388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2654301"/>
            <a:ext cx="6346825" cy="40878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13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498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6"/>
          <p:cNvSpPr>
            <a:spLocks noGrp="1"/>
          </p:cNvSpPr>
          <p:nvPr>
            <p:ph idx="1"/>
          </p:nvPr>
        </p:nvSpPr>
        <p:spPr>
          <a:xfrm>
            <a:off x="1981201" y="1989138"/>
            <a:ext cx="8012113" cy="4271962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Existe, normalmente, confusão ao que se refere a acessar o elemento dentro do vetor e o índice.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Toda vez que é necessário acessar o elemento dentro do vetor é necessário a composição nome do vetor e posição a ser acessada (seja a posição fixa ou representada por um índice). No exemplo anterior era necessário verificar os valores, ou seja, o que foi inserido pelo usuário no vetor. Então, para acessar é utilizado numeros[i] (nome do vetor e posição representada por índice). Mas ao se mostrar somente a posição, é a variável i (neste caso) que é exibida, pois ela representa a posição.</a:t>
            </a:r>
            <a:endParaRPr lang="pt-BR" altLang="pt-BR" sz="1800" b="0">
              <a:latin typeface="Verdana" panose="020B0604030504040204" pitchFamily="34" charset="0"/>
            </a:endParaRP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14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23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6"/>
          <p:cNvSpPr>
            <a:spLocks noGrp="1"/>
          </p:cNvSpPr>
          <p:nvPr>
            <p:ph idx="1"/>
          </p:nvPr>
        </p:nvSpPr>
        <p:spPr>
          <a:xfrm>
            <a:off x="1957388" y="186055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 err="1">
                <a:latin typeface="Verdana" panose="020B0604030504040204" pitchFamily="34" charset="0"/>
              </a:rPr>
              <a:t>Elabore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algoritmo</a:t>
            </a:r>
            <a:r>
              <a:rPr lang="en-US" altLang="pt-BR" sz="1800" b="0" dirty="0">
                <a:latin typeface="Verdana" panose="020B0604030504040204" pitchFamily="34" charset="0"/>
              </a:rPr>
              <a:t> que </a:t>
            </a:r>
            <a:r>
              <a:rPr lang="en-US" altLang="pt-BR" sz="1800" b="0" dirty="0" err="1">
                <a:latin typeface="Verdana" panose="020B0604030504040204" pitchFamily="34" charset="0"/>
              </a:rPr>
              <a:t>preencha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de 15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posições</a:t>
            </a:r>
            <a:r>
              <a:rPr lang="en-US" altLang="pt-BR" sz="1800" b="0" dirty="0">
                <a:latin typeface="Verdana" panose="020B0604030504040204" pitchFamily="34" charset="0"/>
              </a:rPr>
              <a:t> e o </a:t>
            </a:r>
            <a:r>
              <a:rPr lang="en-US" altLang="pt-BR" sz="1800" b="0" dirty="0" err="1">
                <a:latin typeface="Verdana" panose="020B0604030504040204" pitchFamily="34" charset="0"/>
              </a:rPr>
              <a:t>imprima</a:t>
            </a:r>
            <a:r>
              <a:rPr lang="en-US" altLang="pt-BR" sz="1800" b="0" dirty="0">
                <a:latin typeface="Verdana" panose="020B0604030504040204" pitchFamily="34" charset="0"/>
              </a:rPr>
              <a:t> de forma </a:t>
            </a:r>
            <a:r>
              <a:rPr lang="en-US" altLang="pt-BR" sz="1800" b="0" dirty="0" err="1">
                <a:latin typeface="Verdana" panose="020B0604030504040204" pitchFamily="34" charset="0"/>
              </a:rPr>
              <a:t>invertida</a:t>
            </a:r>
            <a:r>
              <a:rPr lang="en-US" altLang="pt-BR" sz="1800" b="0" dirty="0"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15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08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6"/>
          <p:cNvSpPr>
            <a:spLocks noGrp="1"/>
          </p:cNvSpPr>
          <p:nvPr>
            <p:ph idx="1"/>
          </p:nvPr>
        </p:nvSpPr>
        <p:spPr>
          <a:xfrm>
            <a:off x="1957388" y="1860550"/>
            <a:ext cx="8229600" cy="914400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>
                <a:latin typeface="Verdana" panose="020B0604030504040204" pitchFamily="34" charset="0"/>
              </a:rPr>
              <a:t>Elabore um algoritmo que preencha um vetor de 15 posições e o imprima de forma invertida.</a:t>
            </a:r>
          </a:p>
        </p:txBody>
      </p:sp>
      <p:pic>
        <p:nvPicPr>
          <p:cNvPr id="19460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2754313"/>
            <a:ext cx="6010275" cy="4051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664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6"/>
          <p:cNvSpPr>
            <a:spLocks noGrp="1"/>
          </p:cNvSpPr>
          <p:nvPr>
            <p:ph idx="1"/>
          </p:nvPr>
        </p:nvSpPr>
        <p:spPr>
          <a:xfrm>
            <a:off x="1976439" y="1773238"/>
            <a:ext cx="8066087" cy="4779962"/>
          </a:xfrm>
        </p:spPr>
        <p:txBody>
          <a:bodyPr/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foi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preenchido</a:t>
            </a:r>
            <a:r>
              <a:rPr lang="en-US" altLang="pt-BR" sz="1800" b="0" dirty="0">
                <a:latin typeface="Verdana" panose="020B0604030504040204" pitchFamily="34" charset="0"/>
              </a:rPr>
              <a:t> de forma normal.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A </a:t>
            </a:r>
            <a:r>
              <a:rPr lang="en-US" altLang="pt-BR" sz="1800" b="0" dirty="0" err="1">
                <a:latin typeface="Verdana" panose="020B0604030504040204" pitchFamily="34" charset="0"/>
              </a:rPr>
              <a:t>grande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diferença</a:t>
            </a:r>
            <a:r>
              <a:rPr lang="en-US" altLang="pt-BR" sz="1800" b="0" dirty="0">
                <a:latin typeface="Verdana" panose="020B0604030504040204" pitchFamily="34" charset="0"/>
              </a:rPr>
              <a:t> é que 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precisa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ser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impresso</a:t>
            </a:r>
            <a:r>
              <a:rPr lang="en-US" altLang="pt-BR" sz="1800" b="0" dirty="0">
                <a:latin typeface="Verdana" panose="020B0604030504040204" pitchFamily="34" charset="0"/>
              </a:rPr>
              <a:t> de forma </a:t>
            </a:r>
            <a:r>
              <a:rPr lang="en-US" altLang="pt-BR" sz="1800" b="0" dirty="0" err="1">
                <a:latin typeface="Verdana" panose="020B0604030504040204" pitchFamily="34" charset="0"/>
              </a:rPr>
              <a:t>invertida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ou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seja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iniciar</a:t>
            </a:r>
            <a:r>
              <a:rPr lang="en-US" altLang="pt-BR" sz="1800" b="0" dirty="0">
                <a:latin typeface="Verdana" panose="020B0604030504040204" pitchFamily="34" charset="0"/>
              </a:rPr>
              <a:t> da </a:t>
            </a:r>
            <a:r>
              <a:rPr lang="en-US" altLang="pt-BR" sz="1800" b="0" dirty="0" err="1">
                <a:latin typeface="Verdana" panose="020B0604030504040204" pitchFamily="34" charset="0"/>
              </a:rPr>
              <a:t>última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. </a:t>
            </a:r>
            <a:r>
              <a:rPr lang="en-US" altLang="pt-BR" sz="1800" b="0" dirty="0" err="1">
                <a:latin typeface="Verdana" panose="020B0604030504040204" pitchFamily="34" charset="0"/>
              </a:rPr>
              <a:t>Foi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criado</a:t>
            </a:r>
            <a:r>
              <a:rPr lang="en-US" altLang="pt-BR" sz="1800" b="0" dirty="0">
                <a:latin typeface="Verdana" panose="020B0604030504040204" pitchFamily="34" charset="0"/>
              </a:rPr>
              <a:t>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laço</a:t>
            </a:r>
            <a:r>
              <a:rPr lang="en-US" altLang="pt-BR" sz="1800" b="0" dirty="0">
                <a:latin typeface="Verdana" panose="020B0604030504040204" pitchFamily="34" charset="0"/>
              </a:rPr>
              <a:t> que </a:t>
            </a:r>
            <a:r>
              <a:rPr lang="en-US" altLang="pt-BR" sz="1800" b="0" dirty="0" err="1">
                <a:latin typeface="Verdana" panose="020B0604030504040204" pitchFamily="34" charset="0"/>
              </a:rPr>
              <a:t>iniciou</a:t>
            </a:r>
            <a:r>
              <a:rPr lang="en-US" altLang="pt-BR" sz="1800" b="0" dirty="0">
                <a:latin typeface="Verdana" panose="020B0604030504040204" pitchFamily="34" charset="0"/>
              </a:rPr>
              <a:t> do </a:t>
            </a:r>
            <a:r>
              <a:rPr lang="en-US" altLang="pt-BR" sz="1800" b="0" dirty="0" err="1">
                <a:latin typeface="Verdana" panose="020B0604030504040204" pitchFamily="34" charset="0"/>
              </a:rPr>
              <a:t>tamanho</a:t>
            </a:r>
            <a:r>
              <a:rPr lang="en-US" altLang="pt-BR" sz="1800" b="0" dirty="0">
                <a:latin typeface="Verdana" panose="020B0604030504040204" pitchFamily="34" charset="0"/>
              </a:rPr>
              <a:t> – 1, </a:t>
            </a:r>
            <a:r>
              <a:rPr lang="en-US" altLang="pt-BR" sz="1800" b="0" dirty="0" err="1">
                <a:latin typeface="Verdana" panose="020B0604030504040204" pitchFamily="34" charset="0"/>
              </a:rPr>
              <a:t>ou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seja</a:t>
            </a:r>
            <a:r>
              <a:rPr lang="en-US" altLang="pt-BR" sz="1800" b="0" dirty="0">
                <a:latin typeface="Verdana" panose="020B0604030504040204" pitchFamily="34" charset="0"/>
              </a:rPr>
              <a:t>, se 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possui</a:t>
            </a:r>
            <a:r>
              <a:rPr lang="en-US" altLang="pt-BR" sz="1800" b="0" dirty="0">
                <a:latin typeface="Verdana" panose="020B0604030504040204" pitchFamily="34" charset="0"/>
              </a:rPr>
              <a:t> 15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posições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precisa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iniciar</a:t>
            </a:r>
            <a:r>
              <a:rPr lang="en-US" altLang="pt-BR" sz="1800" b="0" dirty="0">
                <a:latin typeface="Verdana" panose="020B0604030504040204" pitchFamily="34" charset="0"/>
              </a:rPr>
              <a:t> da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14 e </a:t>
            </a:r>
            <a:r>
              <a:rPr lang="en-US" altLang="pt-BR" sz="1800" b="0" dirty="0" err="1">
                <a:latin typeface="Verdana" panose="020B0604030504040204" pitchFamily="34" charset="0"/>
              </a:rPr>
              <a:t>ir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decrementando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até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0.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1800" b="0" dirty="0">
                <a:latin typeface="Verdana" panose="020B0604030504040204" pitchFamily="34" charset="0"/>
              </a:rPr>
              <a:t>Este é um </a:t>
            </a:r>
            <a:r>
              <a:rPr lang="en-US" altLang="pt-BR" sz="1800" b="0" dirty="0" err="1">
                <a:latin typeface="Verdana" panose="020B0604030504040204" pitchFamily="34" charset="0"/>
              </a:rPr>
              <a:t>erro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efetuado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constantemente</a:t>
            </a:r>
            <a:r>
              <a:rPr lang="en-US" altLang="pt-BR" sz="1800" b="0" dirty="0">
                <a:latin typeface="Verdana" panose="020B0604030504040204" pitchFamily="34" charset="0"/>
              </a:rPr>
              <a:t>. </a:t>
            </a:r>
            <a:r>
              <a:rPr lang="en-US" altLang="pt-BR" sz="1800" b="0" dirty="0" err="1">
                <a:latin typeface="Verdana" panose="020B0604030504040204" pitchFamily="34" charset="0"/>
              </a:rPr>
              <a:t>Quando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precisa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acessar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última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utilizar</a:t>
            </a:r>
            <a:r>
              <a:rPr lang="en-US" altLang="pt-BR" sz="1800" b="0" dirty="0">
                <a:latin typeface="Verdana" panose="020B0604030504040204" pitchFamily="34" charset="0"/>
              </a:rPr>
              <a:t> o </a:t>
            </a:r>
            <a:r>
              <a:rPr lang="en-US" altLang="pt-BR" sz="1800" b="0" dirty="0" err="1">
                <a:latin typeface="Verdana" panose="020B0604030504040204" pitchFamily="34" charset="0"/>
              </a:rPr>
              <a:t>tamanho</a:t>
            </a:r>
            <a:r>
              <a:rPr lang="en-US" altLang="pt-BR" sz="1800" b="0" dirty="0">
                <a:latin typeface="Verdana" panose="020B0604030504040204" pitchFamily="34" charset="0"/>
              </a:rPr>
              <a:t> do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. </a:t>
            </a:r>
            <a:r>
              <a:rPr lang="en-US" altLang="pt-BR" sz="1800" b="0" dirty="0" err="1">
                <a:latin typeface="Verdana" panose="020B0604030504040204" pitchFamily="34" charset="0"/>
              </a:rPr>
              <a:t>Lembre</a:t>
            </a:r>
            <a:r>
              <a:rPr lang="en-US" altLang="pt-BR" sz="1800" b="0" dirty="0">
                <a:latin typeface="Verdana" panose="020B0604030504040204" pitchFamily="34" charset="0"/>
              </a:rPr>
              <a:t>-se: a </a:t>
            </a:r>
            <a:r>
              <a:rPr lang="en-US" altLang="pt-BR" sz="1800" b="0" dirty="0" err="1">
                <a:latin typeface="Verdana" panose="020B0604030504040204" pitchFamily="34" charset="0"/>
              </a:rPr>
              <a:t>quantidade</a:t>
            </a:r>
            <a:r>
              <a:rPr lang="en-US" altLang="pt-BR" sz="1800" b="0" dirty="0">
                <a:latin typeface="Verdana" panose="020B0604030504040204" pitchFamily="34" charset="0"/>
              </a:rPr>
              <a:t> total de </a:t>
            </a:r>
            <a:r>
              <a:rPr lang="en-US" altLang="pt-BR" sz="1800" b="0" dirty="0" err="1">
                <a:latin typeface="Verdana" panose="020B0604030504040204" pitchFamily="34" charset="0"/>
              </a:rPr>
              <a:t>elementos</a:t>
            </a:r>
            <a:r>
              <a:rPr lang="en-US" altLang="pt-BR" sz="1800" b="0" dirty="0">
                <a:latin typeface="Verdana" panose="020B0604030504040204" pitchFamily="34" charset="0"/>
              </a:rPr>
              <a:t> é </a:t>
            </a:r>
            <a:r>
              <a:rPr lang="en-US" altLang="pt-BR" sz="1800" b="0" dirty="0" err="1">
                <a:latin typeface="Verdana" panose="020B0604030504040204" pitchFamily="34" charset="0"/>
              </a:rPr>
              <a:t>usado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na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declaração</a:t>
            </a:r>
            <a:r>
              <a:rPr lang="en-US" altLang="pt-BR" sz="1800" b="0" dirty="0">
                <a:latin typeface="Verdana" panose="020B0604030504040204" pitchFamily="34" charset="0"/>
              </a:rPr>
              <a:t> do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. Para </a:t>
            </a:r>
            <a:r>
              <a:rPr lang="en-US" altLang="pt-BR" sz="1800" b="0" dirty="0" err="1">
                <a:latin typeface="Verdana" panose="020B0604030504040204" pitchFamily="34" charset="0"/>
              </a:rPr>
              <a:t>acessar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última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do </a:t>
            </a:r>
            <a:r>
              <a:rPr lang="en-US" altLang="pt-BR" sz="1800" b="0" dirty="0" err="1">
                <a:latin typeface="Verdana" panose="020B0604030504040204" pitchFamily="34" charset="0"/>
              </a:rPr>
              <a:t>vetor</a:t>
            </a:r>
            <a:r>
              <a:rPr lang="en-US" altLang="pt-BR" sz="1800" b="0" dirty="0">
                <a:latin typeface="Verdana" panose="020B0604030504040204" pitchFamily="34" charset="0"/>
              </a:rPr>
              <a:t>, </a:t>
            </a:r>
            <a:r>
              <a:rPr lang="en-US" altLang="pt-BR" sz="1800" b="0" dirty="0" err="1">
                <a:latin typeface="Verdana" panose="020B0604030504040204" pitchFamily="34" charset="0"/>
              </a:rPr>
              <a:t>como</a:t>
            </a:r>
            <a:r>
              <a:rPr lang="en-US" altLang="pt-BR" sz="1800" b="0" dirty="0">
                <a:latin typeface="Verdana" panose="020B0604030504040204" pitchFamily="34" charset="0"/>
              </a:rPr>
              <a:t> o </a:t>
            </a:r>
            <a:r>
              <a:rPr lang="en-US" altLang="pt-BR" sz="1800" b="0" dirty="0" err="1">
                <a:latin typeface="Verdana" panose="020B0604030504040204" pitchFamily="34" charset="0"/>
              </a:rPr>
              <a:t>índice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inicia</a:t>
            </a:r>
            <a:r>
              <a:rPr lang="en-US" altLang="pt-BR" sz="1800" b="0" dirty="0">
                <a:latin typeface="Verdana" panose="020B0604030504040204" pitchFamily="34" charset="0"/>
              </a:rPr>
              <a:t> de 0, é </a:t>
            </a:r>
            <a:r>
              <a:rPr lang="en-US" altLang="pt-BR" sz="1800" b="0" dirty="0" err="1">
                <a:latin typeface="Verdana" panose="020B0604030504040204" pitchFamily="34" charset="0"/>
              </a:rPr>
              <a:t>sempre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tamanho</a:t>
            </a:r>
            <a:r>
              <a:rPr lang="en-US" altLang="pt-BR" sz="1800" b="0" dirty="0">
                <a:latin typeface="Verdana" panose="020B0604030504040204" pitchFamily="34" charset="0"/>
              </a:rPr>
              <a:t> – 1, </a:t>
            </a:r>
            <a:r>
              <a:rPr lang="en-US" altLang="pt-BR" sz="1800" b="0" dirty="0" err="1">
                <a:latin typeface="Verdana" panose="020B0604030504040204" pitchFamily="34" charset="0"/>
              </a:rPr>
              <a:t>ou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seja</a:t>
            </a:r>
            <a:r>
              <a:rPr lang="en-US" altLang="pt-BR" sz="1800" b="0" dirty="0">
                <a:latin typeface="Verdana" panose="020B0604030504040204" pitchFamily="34" charset="0"/>
              </a:rPr>
              <a:t>, se </a:t>
            </a:r>
            <a:r>
              <a:rPr lang="en-US" altLang="pt-BR" sz="1800" b="0" dirty="0" err="1">
                <a:latin typeface="Verdana" panose="020B0604030504040204" pitchFamily="34" charset="0"/>
              </a:rPr>
              <a:t>tiver</a:t>
            </a:r>
            <a:r>
              <a:rPr lang="en-US" altLang="pt-BR" sz="1800" b="0" dirty="0">
                <a:latin typeface="Verdana" panose="020B0604030504040204" pitchFamily="34" charset="0"/>
              </a:rPr>
              <a:t> 100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posições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declaradas</a:t>
            </a:r>
            <a:r>
              <a:rPr lang="en-US" altLang="pt-BR" sz="1800" b="0" dirty="0">
                <a:latin typeface="Verdana" panose="020B0604030504040204" pitchFamily="34" charset="0"/>
              </a:rPr>
              <a:t> a </a:t>
            </a:r>
            <a:r>
              <a:rPr lang="en-US" altLang="pt-BR" sz="1800" b="0" dirty="0" err="1">
                <a:latin typeface="Verdana" panose="020B0604030504040204" pitchFamily="34" charset="0"/>
              </a:rPr>
              <a:t>última</a:t>
            </a:r>
            <a:r>
              <a:rPr lang="en-US" altLang="pt-BR" sz="1800" b="0" dirty="0">
                <a:latin typeface="Verdana" panose="020B0604030504040204" pitchFamily="34" charset="0"/>
              </a:rPr>
              <a:t> </a:t>
            </a:r>
            <a:r>
              <a:rPr lang="en-US" altLang="pt-BR" sz="1800" b="0" dirty="0" err="1">
                <a:latin typeface="Verdana" panose="020B0604030504040204" pitchFamily="34" charset="0"/>
              </a:rPr>
              <a:t>posição</a:t>
            </a:r>
            <a:r>
              <a:rPr lang="en-US" altLang="pt-BR" sz="1800" b="0" dirty="0">
                <a:latin typeface="Verdana" panose="020B0604030504040204" pitchFamily="34" charset="0"/>
              </a:rPr>
              <a:t> é 99.</a:t>
            </a:r>
            <a:endParaRPr lang="pt-BR" altLang="pt-BR" sz="1800" b="0" dirty="0">
              <a:latin typeface="Verdana" panose="020B0604030504040204" pitchFamily="34" charset="0"/>
            </a:endParaRP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61241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17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984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18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15209</TotalTime>
  <Words>1098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Adjacência</vt:lpstr>
      <vt:lpstr>Vetores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Definição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Felski Pereira</cp:lastModifiedBy>
  <cp:revision>626</cp:revision>
  <dcterms:created xsi:type="dcterms:W3CDTF">2014-11-11T18:41:35Z</dcterms:created>
  <dcterms:modified xsi:type="dcterms:W3CDTF">2022-06-05T23:53:34Z</dcterms:modified>
</cp:coreProperties>
</file>
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23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504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15/03/2019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15/03/2019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044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15/03/2019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Desvio Condicional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667556" y="2054655"/>
            <a:ext cx="8632340" cy="4727145"/>
          </a:xfrm>
        </p:spPr>
        <p:txBody>
          <a:bodyPr>
            <a:normAutofit fontScale="92500" lnSpcReduction="10000"/>
          </a:bodyPr>
          <a:lstStyle/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torna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desviar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fluxo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dos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condicional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parte do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poderá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parte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dependendo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um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endParaRPr lang="en-US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estrutura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condicional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deve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ser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analisada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e: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, o(s)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 logo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(s); e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falsa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, outro(s)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021B7C-A0A9-47F8-8606-EC9DBD0F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9B18C94C-D0A7-473D-BBCE-B8E0B152370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8553F6B-4262-4BCE-9799-AF82E91CE3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5A51DA0-7CF0-4176-9C22-E399AA555A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8D8CE7B-3D79-4ACB-A652-47CC727A0A8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588C64F-7653-4F3B-82C2-9583324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</p:spTree>
    <p:extLst>
      <p:ext uri="{BB962C8B-B14F-4D97-AF65-F5344CB8AC3E}">
        <p14:creationId xmlns:p14="http://schemas.microsoft.com/office/powerpoint/2010/main" val="412607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1900" y="1749245"/>
            <a:ext cx="7156310" cy="2287220"/>
          </a:xfrm>
        </p:spPr>
        <p:txBody>
          <a:bodyPr>
            <a:normAutofit/>
          </a:bodyPr>
          <a:lstStyle/>
          <a:p>
            <a:pPr marL="635000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pt-BR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Os desvios condicionais podem ser de três tipos:</a:t>
            </a:r>
            <a:endParaRPr lang="en-US" sz="2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Simples;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Compostos; e 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Encadeados. </a:t>
            </a:r>
            <a:endParaRPr lang="en-US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B0B5F6-B071-40B4-853D-59B5C4EB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AF9ED658-2469-4BBC-9197-068F8FEEE74F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17C638-A36A-411D-AE52-6B68A1FF3D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63C853-5F0D-4DDE-AD1F-618253A7E2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7B5D326-BD0E-4B0F-A10F-EB3CDC4D6B38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159174A6-3A94-46D2-ADAC-32182085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</p:spTree>
    <p:extLst>
      <p:ext uri="{BB962C8B-B14F-4D97-AF65-F5344CB8AC3E}">
        <p14:creationId xmlns:p14="http://schemas.microsoft.com/office/powerpoint/2010/main" val="60892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278376" y="1596541"/>
            <a:ext cx="8043203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Considere o seguinte enunciado: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endParaRPr lang="en-US" sz="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Elabore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solicite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usuário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duas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notas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final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média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aritmética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resolução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seria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sequencial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segue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abaixo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725" y="3276296"/>
            <a:ext cx="4354502" cy="3427775"/>
          </a:xfrm>
          <a:prstGeom prst="rect">
            <a:avLst/>
          </a:prstGeom>
        </p:spPr>
      </p:pic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7D88AD7D-26CD-423A-86C5-A52E7A49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88620EC-4020-4841-A27A-F0E39883D9E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7866B9-64A8-43FE-938D-7062D4435E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E381ED-6A75-4711-AC06-128FB6C857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08FAD2B-E4A3-4C7C-B97C-585EEF73A22F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2">
            <a:extLst>
              <a:ext uri="{FF2B5EF4-FFF2-40B4-BE49-F238E27FC236}">
                <a16:creationId xmlns:a16="http://schemas.microsoft.com/office/drawing/2014/main" id="{99E3C692-4841-4E0F-AE3E-7A1417D6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simples</a:t>
            </a:r>
          </a:p>
        </p:txBody>
      </p:sp>
    </p:spTree>
    <p:extLst>
      <p:ext uri="{BB962C8B-B14F-4D97-AF65-F5344CB8AC3E}">
        <p14:creationId xmlns:p14="http://schemas.microsoft.com/office/powerpoint/2010/main" val="21901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8"/>
          <p:cNvGraphicFramePr>
            <a:graphicFrameLocks noGrp="1"/>
          </p:cNvGraphicFramePr>
          <p:nvPr>
            <p:extLst/>
          </p:nvPr>
        </p:nvGraphicFramePr>
        <p:xfrm>
          <a:off x="4416245" y="4956050"/>
          <a:ext cx="3286148" cy="1577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baseline="0" dirty="0"/>
                        <a:t>C/C++</a:t>
                      </a:r>
                      <a:endParaRPr lang="pt-BR" sz="18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... Bloco de Instruções ...</a:t>
                      </a:r>
                    </a:p>
                    <a:p>
                      <a:r>
                        <a:rPr lang="pt-BR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2583785" y="1901950"/>
            <a:ext cx="753309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Mas, e caso fosse necessário imprimir se o aluno foi aprovado na disciplina? 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tomar</a:t>
            </a:r>
            <a:r>
              <a:rPr lang="en-US" b="1" i="1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b="1" i="1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decisão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feito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(s)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(s)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seja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 for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esse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09E17D86-271C-448D-99EF-96E91B40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684FA19C-F61C-435D-A797-059C86228DD7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16620C-B914-4A34-B6B0-02A5BAA65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010B4FB-77E5-43A4-839D-B9EA3B84C9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6F51D0C-FEE5-4DC7-8F8B-F7CE6C47682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0">
            <a:extLst>
              <a:ext uri="{FF2B5EF4-FFF2-40B4-BE49-F238E27FC236}">
                <a16:creationId xmlns:a16="http://schemas.microsoft.com/office/drawing/2014/main" id="{11BBDFDE-116A-47BA-B044-892678C5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simples</a:t>
            </a:r>
          </a:p>
        </p:txBody>
      </p:sp>
    </p:spTree>
    <p:extLst>
      <p:ext uri="{BB962C8B-B14F-4D97-AF65-F5344CB8AC3E}">
        <p14:creationId xmlns:p14="http://schemas.microsoft.com/office/powerpoint/2010/main" val="214887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278376" y="1803936"/>
            <a:ext cx="8043203" cy="45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Segue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simples: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1764482" y="2583811"/>
            <a:ext cx="8607259" cy="3994033"/>
            <a:chOff x="762000" y="2514600"/>
            <a:chExt cx="8304250" cy="3693593"/>
          </a:xfrm>
        </p:grpSpPr>
        <p:sp>
          <p:nvSpPr>
            <p:cNvPr id="9" name="CaixaDeTexto 8"/>
            <p:cNvSpPr txBox="1"/>
            <p:nvPr/>
          </p:nvSpPr>
          <p:spPr>
            <a:xfrm>
              <a:off x="6932650" y="4876800"/>
              <a:ext cx="2133600" cy="12808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/>
                <a:t>Se a </a:t>
              </a:r>
              <a:r>
                <a:rPr lang="en-US" sz="1400" dirty="0" err="1"/>
                <a:t>média</a:t>
              </a:r>
              <a:r>
                <a:rPr lang="en-US" sz="1400" dirty="0"/>
                <a:t> do </a:t>
              </a:r>
              <a:r>
                <a:rPr lang="en-US" sz="1400" dirty="0" err="1"/>
                <a:t>aluno</a:t>
              </a:r>
              <a:r>
                <a:rPr lang="en-US" sz="1400" dirty="0"/>
                <a:t> for </a:t>
              </a:r>
              <a:r>
                <a:rPr lang="en-US" sz="1400" dirty="0" err="1"/>
                <a:t>maior</a:t>
              </a:r>
              <a:r>
                <a:rPr lang="en-US" sz="1400" dirty="0"/>
                <a:t> </a:t>
              </a:r>
              <a:r>
                <a:rPr lang="en-US" sz="1400" dirty="0" err="1"/>
                <a:t>ou</a:t>
              </a:r>
              <a:r>
                <a:rPr lang="en-US" sz="1400" dirty="0"/>
                <a:t> </a:t>
              </a:r>
              <a:r>
                <a:rPr lang="en-US" sz="1400" dirty="0" err="1"/>
                <a:t>igual</a:t>
              </a:r>
              <a:r>
                <a:rPr lang="en-US" sz="1400" dirty="0"/>
                <a:t> a 6 o </a:t>
              </a:r>
              <a:r>
                <a:rPr lang="en-US" sz="1400" dirty="0" err="1"/>
                <a:t>programa</a:t>
              </a:r>
              <a:r>
                <a:rPr lang="en-US" sz="1400" dirty="0"/>
                <a:t> </a:t>
              </a:r>
              <a:r>
                <a:rPr lang="en-US" sz="1400" dirty="0" err="1"/>
                <a:t>imprimirá</a:t>
              </a:r>
              <a:r>
                <a:rPr lang="en-US" sz="1400" dirty="0"/>
                <a:t> a </a:t>
              </a:r>
              <a:r>
                <a:rPr lang="en-US" sz="1400" dirty="0" err="1"/>
                <a:t>mensagem</a:t>
              </a:r>
              <a:r>
                <a:rPr lang="en-US" sz="1400" dirty="0"/>
                <a:t>. </a:t>
              </a:r>
              <a:r>
                <a:rPr lang="en-US" sz="1400" dirty="0" err="1"/>
                <a:t>Caso</a:t>
              </a:r>
              <a:r>
                <a:rPr lang="en-US" sz="1400" dirty="0"/>
                <a:t> </a:t>
              </a:r>
              <a:r>
                <a:rPr lang="en-US" sz="1400" dirty="0" err="1"/>
                <a:t>seja</a:t>
              </a:r>
              <a:r>
                <a:rPr lang="en-US" sz="1400" dirty="0"/>
                <a:t> </a:t>
              </a:r>
              <a:r>
                <a:rPr lang="en-US" sz="1400" dirty="0" err="1"/>
                <a:t>falso</a:t>
              </a:r>
              <a:r>
                <a:rPr lang="en-US" sz="1400" dirty="0"/>
                <a:t>, </a:t>
              </a:r>
              <a:r>
                <a:rPr lang="en-US" sz="1400" dirty="0" err="1"/>
                <a:t>irá</a:t>
              </a:r>
              <a:r>
                <a:rPr lang="en-US" sz="1400" dirty="0"/>
                <a:t> para o return 0 e </a:t>
              </a:r>
              <a:r>
                <a:rPr lang="en-US" sz="1400" dirty="0" err="1"/>
                <a:t>encerrará</a:t>
              </a:r>
              <a:r>
                <a:rPr lang="en-US" sz="1400" dirty="0"/>
                <a:t> o </a:t>
              </a:r>
              <a:r>
                <a:rPr lang="en-US" sz="1400" dirty="0" err="1"/>
                <a:t>programa</a:t>
              </a:r>
              <a:r>
                <a:rPr lang="en-US" sz="1400" dirty="0"/>
                <a:t>.</a:t>
              </a:r>
              <a:endParaRPr lang="pt-BR" sz="1400" dirty="0"/>
            </a:p>
          </p:txBody>
        </p:sp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514600"/>
              <a:ext cx="5789650" cy="3693593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>
              <a:off x="1752600" y="5220914"/>
              <a:ext cx="4799050" cy="609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Conector de seta reta 7"/>
            <p:cNvCxnSpPr/>
            <p:nvPr/>
          </p:nvCxnSpPr>
          <p:spPr>
            <a:xfrm>
              <a:off x="6551650" y="548640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FEB18AA2-ED9C-432E-AC97-786E7270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 dirty="0"/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9728DD9F-BD4D-473C-9EE3-A579CC2ED03B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8027877-0251-4610-AB3D-9C15B61410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A2EF956-6FB4-483D-AA00-34E3A7B089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C1C54B5-12E1-4238-B7DC-1A1F9C6BB20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D7DAE361-FE38-49E6-9D4F-8012652A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simples</a:t>
            </a:r>
          </a:p>
        </p:txBody>
      </p:sp>
    </p:spTree>
    <p:extLst>
      <p:ext uri="{BB962C8B-B14F-4D97-AF65-F5344CB8AC3E}">
        <p14:creationId xmlns:p14="http://schemas.microsoft.com/office/powerpoint/2010/main" val="21121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8"/>
          <p:cNvGraphicFramePr>
            <a:graphicFrameLocks noGrp="1"/>
          </p:cNvGraphicFramePr>
          <p:nvPr>
            <p:extLst/>
          </p:nvPr>
        </p:nvGraphicFramePr>
        <p:xfrm>
          <a:off x="7085592" y="4497935"/>
          <a:ext cx="3286148" cy="218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baseline="0" dirty="0"/>
                        <a:t>C/C++</a:t>
                      </a:r>
                      <a:endParaRPr lang="pt-BR" sz="18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... Bloco de Instruções ...</a:t>
                      </a:r>
                    </a:p>
                    <a:p>
                      <a:r>
                        <a:rPr lang="pt-BR" sz="2000" kern="1200" baseline="0" dirty="0"/>
                        <a:t>} else {</a:t>
                      </a:r>
                    </a:p>
                    <a:p>
                      <a:r>
                        <a:rPr lang="pt-BR" sz="2000" kern="1200" baseline="0" dirty="0"/>
                        <a:t>   ... Bloco de Instruções ...</a:t>
                      </a:r>
                    </a:p>
                    <a:p>
                      <a:r>
                        <a:rPr lang="pt-BR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2133602" y="1901951"/>
            <a:ext cx="82381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ficou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faltando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anterior. E se fosse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imprimir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aluno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reprovado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 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Nesse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seria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if for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entre o if e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fechamento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chaves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if.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sejam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entre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chaves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else. 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Sintaxe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5E9B1756-14E5-4B0C-9603-BA6BE7B4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D596F6D-2A8F-4F73-8AB9-6C33AC651F5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D27693-2BF2-4250-AFEF-339646AE1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0E32208-EF38-49C7-919F-8E9DAF741D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C067D42-D47B-4436-AA72-D1329C5860E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5C1112EE-44CD-42C5-8EED-E91EFC51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composto</a:t>
            </a:r>
          </a:p>
        </p:txBody>
      </p:sp>
    </p:spTree>
    <p:extLst>
      <p:ext uri="{BB962C8B-B14F-4D97-AF65-F5344CB8AC3E}">
        <p14:creationId xmlns:p14="http://schemas.microsoft.com/office/powerpoint/2010/main" val="1625093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013850" y="1675459"/>
            <a:ext cx="8043203" cy="45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Segue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820261" y="2302994"/>
            <a:ext cx="8654151" cy="4523354"/>
            <a:chOff x="630148" y="2438400"/>
            <a:chExt cx="8436102" cy="4142354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148" y="2438400"/>
              <a:ext cx="6075452" cy="4142354"/>
            </a:xfrm>
            <a:prstGeom prst="rect">
              <a:avLst/>
            </a:prstGeom>
          </p:spPr>
        </p:pic>
        <p:sp>
          <p:nvSpPr>
            <p:cNvPr id="8" name="CaixaDeTexto 7"/>
            <p:cNvSpPr txBox="1"/>
            <p:nvPr/>
          </p:nvSpPr>
          <p:spPr>
            <a:xfrm>
              <a:off x="6932650" y="4876800"/>
              <a:ext cx="2133600" cy="126833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/>
                <a:t>Se a </a:t>
              </a:r>
              <a:r>
                <a:rPr lang="en-US" sz="1400" dirty="0" err="1"/>
                <a:t>média</a:t>
              </a:r>
              <a:r>
                <a:rPr lang="en-US" sz="1400" dirty="0"/>
                <a:t> do </a:t>
              </a:r>
              <a:r>
                <a:rPr lang="en-US" sz="1400" dirty="0" err="1"/>
                <a:t>aluno</a:t>
              </a:r>
              <a:r>
                <a:rPr lang="en-US" sz="1400" dirty="0"/>
                <a:t> for </a:t>
              </a:r>
              <a:r>
                <a:rPr lang="en-US" sz="1400" dirty="0" err="1"/>
                <a:t>maior</a:t>
              </a:r>
              <a:r>
                <a:rPr lang="en-US" sz="1400" dirty="0"/>
                <a:t> </a:t>
              </a:r>
              <a:r>
                <a:rPr lang="en-US" sz="1400" dirty="0" err="1"/>
                <a:t>ou</a:t>
              </a:r>
              <a:r>
                <a:rPr lang="en-US" sz="1400" dirty="0"/>
                <a:t> </a:t>
              </a:r>
              <a:r>
                <a:rPr lang="en-US" sz="1400" dirty="0" err="1"/>
                <a:t>igual</a:t>
              </a:r>
              <a:r>
                <a:rPr lang="en-US" sz="1400" dirty="0"/>
                <a:t> a 6 o </a:t>
              </a:r>
              <a:r>
                <a:rPr lang="en-US" sz="1400" dirty="0" err="1"/>
                <a:t>programa</a:t>
              </a:r>
              <a:r>
                <a:rPr lang="en-US" sz="1400" dirty="0"/>
                <a:t> </a:t>
              </a:r>
              <a:r>
                <a:rPr lang="en-US" sz="1400" dirty="0" err="1"/>
                <a:t>imprimirá</a:t>
              </a:r>
              <a:r>
                <a:rPr lang="en-US" sz="1400" dirty="0"/>
                <a:t> a </a:t>
              </a:r>
              <a:r>
                <a:rPr lang="en-US" sz="1400" dirty="0" err="1"/>
                <a:t>mensagem</a:t>
              </a:r>
              <a:r>
                <a:rPr lang="en-US" sz="1400" dirty="0"/>
                <a:t>. </a:t>
              </a:r>
              <a:r>
                <a:rPr lang="en-US" sz="1400" dirty="0" err="1"/>
                <a:t>Caso</a:t>
              </a:r>
              <a:r>
                <a:rPr lang="en-US" sz="1400" dirty="0"/>
                <a:t> </a:t>
              </a:r>
              <a:r>
                <a:rPr lang="en-US" sz="1400" dirty="0" err="1"/>
                <a:t>seja</a:t>
              </a:r>
              <a:r>
                <a:rPr lang="en-US" sz="1400" dirty="0"/>
                <a:t> </a:t>
              </a:r>
              <a:r>
                <a:rPr lang="en-US" sz="1400" dirty="0" err="1"/>
                <a:t>falso</a:t>
              </a:r>
              <a:r>
                <a:rPr lang="en-US" sz="1400" dirty="0"/>
                <a:t>, </a:t>
              </a:r>
              <a:r>
                <a:rPr lang="en-US" sz="1400" dirty="0" err="1"/>
                <a:t>imprimirá</a:t>
              </a:r>
              <a:r>
                <a:rPr lang="en-US" sz="1400" dirty="0"/>
                <a:t> a </a:t>
              </a:r>
              <a:r>
                <a:rPr lang="en-US" sz="1400" dirty="0" err="1"/>
                <a:t>mensagem</a:t>
              </a:r>
              <a:r>
                <a:rPr lang="en-US" sz="1400" dirty="0"/>
                <a:t> do else.</a:t>
              </a:r>
              <a:endParaRPr lang="pt-BR" sz="1400" dirty="0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1600200" y="5181600"/>
              <a:ext cx="4951450" cy="990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" name="Conector de seta reta 9"/>
            <p:cNvCxnSpPr/>
            <p:nvPr/>
          </p:nvCxnSpPr>
          <p:spPr>
            <a:xfrm>
              <a:off x="6551650" y="548640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DF1AED64-788E-40F2-AE9C-E8775F2A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 dirty="0"/>
          </a:p>
        </p:txBody>
      </p:sp>
      <p:sp>
        <p:nvSpPr>
          <p:cNvPr id="13" name="Espaço Reservado para Número de Slide 3">
            <a:extLst>
              <a:ext uri="{FF2B5EF4-FFF2-40B4-BE49-F238E27FC236}">
                <a16:creationId xmlns:a16="http://schemas.microsoft.com/office/drawing/2014/main" id="{983C30E1-DADE-4791-B7DA-A529FC0893AF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1113C22-D656-4E4A-8300-85DA2F6311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A7FCC90-C92B-43CE-84CE-5DD47608A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A66AA20-C981-4929-869C-BF659FA2CCC9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8CFCE8CE-526E-48E1-916D-36747398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composto</a:t>
            </a:r>
          </a:p>
        </p:txBody>
      </p:sp>
    </p:spTree>
    <p:extLst>
      <p:ext uri="{BB962C8B-B14F-4D97-AF65-F5344CB8AC3E}">
        <p14:creationId xmlns:p14="http://schemas.microsoft.com/office/powerpoint/2010/main" val="210113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992370" y="1640881"/>
            <a:ext cx="8379371" cy="86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Outro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Solicite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bissexto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992369" y="2597510"/>
            <a:ext cx="8229600" cy="4191000"/>
            <a:chOff x="838200" y="2743200"/>
            <a:chExt cx="7922455" cy="3870402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743200"/>
              <a:ext cx="6477000" cy="3870402"/>
            </a:xfrm>
            <a:prstGeom prst="rect">
              <a:avLst/>
            </a:prstGeom>
          </p:spPr>
        </p:pic>
        <p:sp>
          <p:nvSpPr>
            <p:cNvPr id="11" name="Retângulo 10"/>
            <p:cNvSpPr/>
            <p:nvPr/>
          </p:nvSpPr>
          <p:spPr>
            <a:xfrm>
              <a:off x="1828800" y="5029200"/>
              <a:ext cx="5486400" cy="1066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Conector de seta reta 12"/>
            <p:cNvCxnSpPr/>
            <p:nvPr/>
          </p:nvCxnSpPr>
          <p:spPr>
            <a:xfrm flipV="1">
              <a:off x="5715000" y="4343400"/>
              <a:ext cx="838200" cy="685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/>
            <p:cNvSpPr txBox="1"/>
            <p:nvPr/>
          </p:nvSpPr>
          <p:spPr>
            <a:xfrm>
              <a:off x="6627055" y="3508850"/>
              <a:ext cx="2133600" cy="10800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 err="1"/>
                <a:t>Quando</a:t>
              </a:r>
              <a:r>
                <a:rPr lang="en-US" sz="1400" dirty="0"/>
                <a:t> é </a:t>
              </a:r>
              <a:r>
                <a:rPr lang="en-US" sz="1400" dirty="0" err="1"/>
                <a:t>necessário</a:t>
              </a:r>
              <a:r>
                <a:rPr lang="en-US" sz="1400" dirty="0"/>
                <a:t> </a:t>
              </a:r>
              <a:r>
                <a:rPr lang="en-US" sz="1400" dirty="0" err="1"/>
                <a:t>mais</a:t>
              </a:r>
              <a:r>
                <a:rPr lang="en-US" sz="1400" dirty="0"/>
                <a:t> </a:t>
              </a:r>
              <a:r>
                <a:rPr lang="en-US" sz="1400" dirty="0" err="1"/>
                <a:t>que</a:t>
              </a:r>
              <a:r>
                <a:rPr lang="en-US" sz="1400" dirty="0"/>
                <a:t> um </a:t>
              </a:r>
              <a:r>
                <a:rPr lang="en-US" sz="1400" dirty="0" err="1"/>
                <a:t>teste</a:t>
              </a:r>
              <a:r>
                <a:rPr lang="en-US" sz="1400" dirty="0"/>
                <a:t> </a:t>
              </a:r>
              <a:r>
                <a:rPr lang="en-US" sz="1400" dirty="0" err="1"/>
                <a:t>lógico</a:t>
              </a:r>
              <a:r>
                <a:rPr lang="en-US" sz="1400" dirty="0"/>
                <a:t>, </a:t>
              </a:r>
              <a:r>
                <a:rPr lang="en-US" sz="1400" dirty="0" err="1"/>
                <a:t>os</a:t>
              </a:r>
              <a:r>
                <a:rPr lang="en-US" sz="1400" dirty="0"/>
                <a:t> </a:t>
              </a:r>
              <a:r>
                <a:rPr lang="en-US" sz="1400" dirty="0" err="1"/>
                <a:t>mesmos</a:t>
              </a:r>
              <a:r>
                <a:rPr lang="en-US" sz="1400" dirty="0"/>
                <a:t> </a:t>
              </a:r>
              <a:r>
                <a:rPr lang="en-US" sz="1400" dirty="0" err="1"/>
                <a:t>devem</a:t>
              </a:r>
              <a:r>
                <a:rPr lang="en-US" sz="1400" dirty="0"/>
                <a:t> </a:t>
              </a:r>
              <a:r>
                <a:rPr lang="en-US" sz="1400" dirty="0" err="1"/>
                <a:t>estar</a:t>
              </a:r>
              <a:r>
                <a:rPr lang="en-US" sz="1400" dirty="0"/>
                <a:t> </a:t>
              </a:r>
              <a:r>
                <a:rPr lang="en-US" sz="1400" dirty="0" err="1"/>
                <a:t>interligados</a:t>
              </a:r>
              <a:r>
                <a:rPr lang="en-US" sz="1400" dirty="0"/>
                <a:t> com </a:t>
              </a:r>
              <a:r>
                <a:rPr lang="en-US" sz="1400" dirty="0" err="1"/>
                <a:t>operadores</a:t>
              </a:r>
              <a:r>
                <a:rPr lang="en-US" sz="1400" dirty="0"/>
                <a:t> </a:t>
              </a:r>
              <a:r>
                <a:rPr lang="en-US" sz="1400" dirty="0" err="1"/>
                <a:t>lógicos</a:t>
              </a:r>
              <a:r>
                <a:rPr lang="en-US" sz="1400" dirty="0"/>
                <a:t>.</a:t>
              </a:r>
              <a:endParaRPr lang="pt-BR" sz="1400" dirty="0"/>
            </a:p>
          </p:txBody>
        </p:sp>
      </p:grp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69F81F11-5BE7-4FB8-81EC-7B187CD0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 dirty="0"/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0CA9FB4-9FB3-44A2-8460-FD51C2851A67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A02E509-A75F-4673-9BA6-7F7927E6E5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8F923AD-628E-45D4-8FC4-C5858FBAC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3FF2021-9560-4735-95D9-3D8ABE633CF2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6">
            <a:extLst>
              <a:ext uri="{FF2B5EF4-FFF2-40B4-BE49-F238E27FC236}">
                <a16:creationId xmlns:a16="http://schemas.microsoft.com/office/drawing/2014/main" id="{E0551AB6-C13D-4A38-A9A0-51DBCA97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composto</a:t>
            </a:r>
          </a:p>
        </p:txBody>
      </p:sp>
    </p:spTree>
    <p:extLst>
      <p:ext uri="{BB962C8B-B14F-4D97-AF65-F5344CB8AC3E}">
        <p14:creationId xmlns:p14="http://schemas.microsoft.com/office/powerpoint/2010/main" val="105878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905002" y="1901951"/>
            <a:ext cx="846673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anteriormente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permite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conjuntos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seja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satisfeita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também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logo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possível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incluir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dentro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outro.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feito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três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testadas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encadear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tomar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cuidado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chave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local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errado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Existem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várias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encadeamento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dependendo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solicitado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Alguns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CC13922-9CB5-4739-B2F9-A7D620E9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569CF039-EDF9-4A4A-BA2B-1EA438A5D37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2C772EB-FDE5-4F22-9206-3B9B968F30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512EA95-F1DB-4DAF-BA7D-524256FD19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9BF8EDE-7285-4BFF-9464-4113381DB83E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760E4750-77E7-4058-93AF-C23943F8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</a:t>
            </a:r>
          </a:p>
        </p:txBody>
      </p:sp>
    </p:spTree>
    <p:extLst>
      <p:ext uri="{BB962C8B-B14F-4D97-AF65-F5344CB8AC3E}">
        <p14:creationId xmlns:p14="http://schemas.microsoft.com/office/powerpoint/2010/main" val="308242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8"/>
          <p:cNvGraphicFramePr>
            <a:graphicFrameLocks noGrp="1"/>
          </p:cNvGraphicFramePr>
          <p:nvPr>
            <p:extLst/>
          </p:nvPr>
        </p:nvGraphicFramePr>
        <p:xfrm>
          <a:off x="2278375" y="3123590"/>
          <a:ext cx="3581400" cy="27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baseline="0" dirty="0"/>
                        <a:t>C/C++</a:t>
                      </a:r>
                      <a:endParaRPr lang="pt-BR" sz="18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   ... Bloco de Instruções ...</a:t>
                      </a:r>
                    </a:p>
                    <a:p>
                      <a:r>
                        <a:rPr lang="pt-BR" sz="2000" kern="1200" baseline="0" dirty="0"/>
                        <a:t>} else </a:t>
                      </a:r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   ... Bloco de Instruções ...</a:t>
                      </a:r>
                    </a:p>
                    <a:p>
                      <a:r>
                        <a:rPr lang="pt-BR" sz="2000" kern="1200" baseline="0" dirty="0"/>
                        <a:t>} </a:t>
                      </a:r>
                      <a:r>
                        <a:rPr lang="pt-BR" sz="2000" kern="1200" baseline="0" dirty="0" err="1"/>
                        <a:t>else</a:t>
                      </a:r>
                      <a:r>
                        <a:rPr lang="pt-BR" sz="2000" kern="1200" baseline="0" dirty="0"/>
                        <a:t> 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/>
                        <a:t>     </a:t>
                      </a:r>
                      <a:r>
                        <a:rPr lang="pt-BR" sz="2000" kern="1200" baseline="0" dirty="0"/>
                        <a:t>... Bloco de Instruções ...</a:t>
                      </a:r>
                      <a:endParaRPr lang="en-US" sz="2000" kern="1200" baseline="0" dirty="0"/>
                    </a:p>
                    <a:p>
                      <a:r>
                        <a:rPr lang="en-US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ela 8"/>
          <p:cNvGraphicFramePr>
            <a:graphicFrameLocks noGrp="1"/>
          </p:cNvGraphicFramePr>
          <p:nvPr>
            <p:extLst/>
          </p:nvPr>
        </p:nvGraphicFramePr>
        <p:xfrm>
          <a:off x="6298676" y="2054656"/>
          <a:ext cx="4038600" cy="302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673"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baseline="0" dirty="0"/>
                        <a:t>C/C++</a:t>
                      </a:r>
                      <a:endParaRPr lang="pt-BR" sz="18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871">
                <a:tc>
                  <a:txBody>
                    <a:bodyPr/>
                    <a:lstStyle/>
                    <a:p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   ... Bloco de Instruções ...</a:t>
                      </a:r>
                    </a:p>
                    <a:p>
                      <a:r>
                        <a:rPr lang="en-US" sz="2000" kern="1200" baseline="0" dirty="0"/>
                        <a:t>      if (</a:t>
                      </a:r>
                      <a:r>
                        <a:rPr lang="pt-BR" sz="2000" kern="1200" baseline="0" dirty="0"/>
                        <a:t>teste(s) lógico(s)</a:t>
                      </a:r>
                      <a:r>
                        <a:rPr lang="en-US" sz="2000" kern="1200" baseline="0" dirty="0"/>
                        <a:t>) 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kern="1200" baseline="0" dirty="0"/>
                        <a:t>          ... Bloco de Instruções ...</a:t>
                      </a:r>
                      <a:endParaRPr lang="en-US" sz="2000" kern="1200" baseline="0" dirty="0"/>
                    </a:p>
                    <a:p>
                      <a:r>
                        <a:rPr lang="en-US" sz="2000" kern="1200" baseline="0" dirty="0"/>
                        <a:t>      }</a:t>
                      </a:r>
                      <a:endParaRPr lang="pt-BR" sz="2000" kern="1200" baseline="0" dirty="0"/>
                    </a:p>
                    <a:p>
                      <a:r>
                        <a:rPr lang="pt-BR" sz="2000" kern="1200" baseline="0" dirty="0"/>
                        <a:t>} else </a:t>
                      </a:r>
                      <a:r>
                        <a:rPr lang="pt-BR" sz="2000" kern="1200" baseline="0" dirty="0" err="1"/>
                        <a:t>if</a:t>
                      </a:r>
                      <a:r>
                        <a:rPr lang="pt-BR" sz="2000" kern="1200" baseline="0" dirty="0"/>
                        <a:t> (teste(s) lógico(s)) {</a:t>
                      </a:r>
                    </a:p>
                    <a:p>
                      <a:r>
                        <a:rPr lang="pt-BR" sz="2000" kern="1200" baseline="0" dirty="0"/>
                        <a:t>       ... Bloco de Instruções ...</a:t>
                      </a:r>
                    </a:p>
                    <a:p>
                      <a:r>
                        <a:rPr lang="pt-BR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4059E501-5638-454B-B9C7-C8DB8A3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11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5E6CC875-71B9-479F-AD22-46B87E4ECDEF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7AECB41-C660-4548-B940-3DA9E07DB3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A093374-D9E1-4911-A3C1-46F75EE10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1F41E68-B3CF-4220-9262-DF0A615C1D64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26D139DF-56D2-4AA6-82D7-406515BB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</a:t>
            </a:r>
          </a:p>
        </p:txBody>
      </p:sp>
    </p:spTree>
    <p:extLst>
      <p:ext uri="{BB962C8B-B14F-4D97-AF65-F5344CB8AC3E}">
        <p14:creationId xmlns:p14="http://schemas.microsoft.com/office/powerpoint/2010/main" val="12288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242382" y="1803152"/>
            <a:ext cx="8043203" cy="86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Veja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Solicite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valor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zero.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242382" y="2849593"/>
            <a:ext cx="7823949" cy="3786213"/>
            <a:chOff x="614908" y="2819400"/>
            <a:chExt cx="7823949" cy="3786213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908" y="2819400"/>
              <a:ext cx="5252492" cy="3786213"/>
            </a:xfrm>
            <a:prstGeom prst="rect">
              <a:avLst/>
            </a:prstGeom>
          </p:spPr>
        </p:pic>
        <p:sp>
          <p:nvSpPr>
            <p:cNvPr id="8" name="Retângulo 7"/>
            <p:cNvSpPr/>
            <p:nvPr/>
          </p:nvSpPr>
          <p:spPr>
            <a:xfrm>
              <a:off x="1219200" y="4800600"/>
              <a:ext cx="4648200" cy="12954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Conector de seta reta 8"/>
            <p:cNvCxnSpPr/>
            <p:nvPr/>
          </p:nvCxnSpPr>
          <p:spPr>
            <a:xfrm flipV="1">
              <a:off x="5448300" y="4114800"/>
              <a:ext cx="838200" cy="685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/>
            <p:cNvSpPr txBox="1"/>
            <p:nvPr/>
          </p:nvSpPr>
          <p:spPr>
            <a:xfrm>
              <a:off x="6305257" y="3530024"/>
              <a:ext cx="2133600" cy="160043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/>
                <a:t>Se a </a:t>
              </a:r>
              <a:r>
                <a:rPr lang="en-US" sz="1400" dirty="0" err="1"/>
                <a:t>primeira</a:t>
              </a:r>
              <a:r>
                <a:rPr lang="en-US" sz="1400" dirty="0"/>
                <a:t> </a:t>
              </a:r>
              <a:r>
                <a:rPr lang="en-US" sz="1400" dirty="0" err="1"/>
                <a:t>condição</a:t>
              </a:r>
              <a:r>
                <a:rPr lang="en-US" sz="1400" dirty="0"/>
                <a:t> for </a:t>
              </a:r>
              <a:r>
                <a:rPr lang="en-US" sz="1400" dirty="0" err="1"/>
                <a:t>verdadeira</a:t>
              </a:r>
              <a:r>
                <a:rPr lang="en-US" sz="1400" dirty="0"/>
                <a:t>, </a:t>
              </a:r>
              <a:r>
                <a:rPr lang="en-US" sz="1400" dirty="0" err="1"/>
                <a:t>executa</a:t>
              </a:r>
              <a:r>
                <a:rPr lang="en-US" sz="1400" dirty="0"/>
                <a:t> o </a:t>
              </a:r>
              <a:r>
                <a:rPr lang="en-US" sz="1400" dirty="0" err="1"/>
                <a:t>código</a:t>
              </a:r>
              <a:r>
                <a:rPr lang="en-US" sz="1400" dirty="0"/>
                <a:t> entre </a:t>
              </a:r>
              <a:r>
                <a:rPr lang="en-US" sz="1400" dirty="0" err="1"/>
                <a:t>chaves</a:t>
              </a:r>
              <a:r>
                <a:rPr lang="en-US" sz="1400" dirty="0"/>
                <a:t> e </a:t>
              </a:r>
              <a:r>
                <a:rPr lang="en-US" sz="1400" dirty="0" err="1"/>
                <a:t>não</a:t>
              </a:r>
              <a:r>
                <a:rPr lang="en-US" sz="1400" dirty="0"/>
                <a:t> </a:t>
              </a:r>
              <a:r>
                <a:rPr lang="en-US" sz="1400" dirty="0" err="1"/>
                <a:t>testa</a:t>
              </a:r>
              <a:r>
                <a:rPr lang="en-US" sz="1400" dirty="0"/>
                <a:t> as </a:t>
              </a:r>
              <a:r>
                <a:rPr lang="en-US" sz="1400" dirty="0" err="1"/>
                <a:t>outras</a:t>
              </a:r>
              <a:r>
                <a:rPr lang="en-US" sz="1400" dirty="0"/>
                <a:t> </a:t>
              </a:r>
              <a:r>
                <a:rPr lang="en-US" sz="1400" dirty="0" err="1"/>
                <a:t>duas</a:t>
              </a:r>
              <a:r>
                <a:rPr lang="en-US" sz="1400" dirty="0"/>
                <a:t>. </a:t>
              </a:r>
              <a:r>
                <a:rPr lang="en-US" sz="1400" dirty="0" err="1"/>
                <a:t>Caso</a:t>
              </a:r>
              <a:r>
                <a:rPr lang="en-US" sz="1400" dirty="0"/>
                <a:t> </a:t>
              </a:r>
              <a:r>
                <a:rPr lang="en-US" sz="1400" dirty="0" err="1"/>
                <a:t>seja</a:t>
              </a:r>
              <a:r>
                <a:rPr lang="en-US" sz="1400" dirty="0"/>
                <a:t> </a:t>
              </a:r>
              <a:r>
                <a:rPr lang="en-US" sz="1400" dirty="0" err="1"/>
                <a:t>falsa</a:t>
              </a:r>
              <a:r>
                <a:rPr lang="en-US" sz="1400" dirty="0"/>
                <a:t> </a:t>
              </a:r>
              <a:r>
                <a:rPr lang="en-US" sz="1400" dirty="0" err="1"/>
                <a:t>irá</a:t>
              </a:r>
              <a:r>
                <a:rPr lang="en-US" sz="1400" dirty="0"/>
                <a:t> </a:t>
              </a:r>
              <a:r>
                <a:rPr lang="en-US" sz="1400" dirty="0" err="1"/>
                <a:t>testar</a:t>
              </a:r>
              <a:r>
                <a:rPr lang="en-US" sz="1400" dirty="0"/>
                <a:t> a </a:t>
              </a:r>
              <a:r>
                <a:rPr lang="en-US" sz="1400" dirty="0" err="1"/>
                <a:t>segunda</a:t>
              </a:r>
              <a:r>
                <a:rPr lang="en-US" sz="1400" dirty="0"/>
                <a:t> </a:t>
              </a:r>
              <a:r>
                <a:rPr lang="en-US" sz="1400" dirty="0" err="1"/>
                <a:t>condição</a:t>
              </a:r>
              <a:r>
                <a:rPr lang="en-US" sz="1400" dirty="0"/>
                <a:t>, e </a:t>
              </a:r>
              <a:r>
                <a:rPr lang="en-US" sz="1400" dirty="0" err="1"/>
                <a:t>assim</a:t>
              </a:r>
              <a:r>
                <a:rPr lang="en-US" sz="1400" dirty="0"/>
                <a:t> </a:t>
              </a:r>
              <a:r>
                <a:rPr lang="en-US" sz="1400" dirty="0" err="1"/>
                <a:t>sucessivamente</a:t>
              </a:r>
              <a:r>
                <a:rPr lang="en-US" sz="1400" dirty="0"/>
                <a:t>. </a:t>
              </a:r>
              <a:endParaRPr lang="pt-BR" sz="1400" dirty="0"/>
            </a:p>
          </p:txBody>
        </p:sp>
      </p:grp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6B643494-99EF-4CD6-8B32-F47F4E76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12</a:t>
            </a:fld>
            <a:endParaRPr lang="pt-BR" dirty="0"/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66E18377-F942-4E35-8633-D5F62ED0E95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EED6CED-A1BE-4D1E-9F0D-A37ADA4378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3C102E9-52B3-4ECD-8F32-D2DA4E9295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50C7B8F-2323-4221-90ED-2E00D2A4E1CC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6">
            <a:extLst>
              <a:ext uri="{FF2B5EF4-FFF2-40B4-BE49-F238E27FC236}">
                <a16:creationId xmlns:a16="http://schemas.microsoft.com/office/drawing/2014/main" id="{9CB677DE-F4C5-4967-9E54-BC3FD37E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</a:t>
            </a:r>
          </a:p>
        </p:txBody>
      </p:sp>
    </p:spTree>
    <p:extLst>
      <p:ext uri="{BB962C8B-B14F-4D97-AF65-F5344CB8AC3E}">
        <p14:creationId xmlns:p14="http://schemas.microsoft.com/office/powerpoint/2010/main" val="298671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701981" y="1596540"/>
            <a:ext cx="2714264" cy="295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Faça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solicite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usuário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média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a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frequência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final de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disciplina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o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aluno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aprovado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reprovado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reprovação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nota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média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4555275" y="1946675"/>
            <a:ext cx="5969170" cy="4689130"/>
            <a:chOff x="2133600" y="1582126"/>
            <a:chExt cx="6570231" cy="5161298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600" y="1582126"/>
              <a:ext cx="6564369" cy="5161298"/>
            </a:xfrm>
            <a:prstGeom prst="rect">
              <a:avLst/>
            </a:prstGeom>
          </p:spPr>
        </p:pic>
        <p:sp>
          <p:nvSpPr>
            <p:cNvPr id="11" name="Retângulo 10"/>
            <p:cNvSpPr/>
            <p:nvPr/>
          </p:nvSpPr>
          <p:spPr>
            <a:xfrm>
              <a:off x="2866293" y="4572000"/>
              <a:ext cx="5837538" cy="16764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4B86E8D4-6993-4AC0-9E8D-75908E99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13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3AF4DA92-6625-431E-A7B1-B2110088E6A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42553DA-3411-41BE-AEE9-F51F697707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99A944B-7DB2-4E43-BAE4-4F114737BB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CF1AAE2-712B-4955-BA4A-14D569F6B161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B6925F8C-9BF4-45D8-AE27-A161AFCC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</a:t>
            </a:r>
          </a:p>
        </p:txBody>
      </p:sp>
    </p:spTree>
    <p:extLst>
      <p:ext uri="{BB962C8B-B14F-4D97-AF65-F5344CB8AC3E}">
        <p14:creationId xmlns:p14="http://schemas.microsoft.com/office/powerpoint/2010/main" val="4276273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057400" y="1676400"/>
            <a:ext cx="8167662" cy="2819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Chamado também de Desvio por Associação.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None/>
            </a:pPr>
            <a:endParaRPr lang="pt-BR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Encontrada uma associação, a instrução é executada.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None/>
            </a:pPr>
            <a:endParaRPr lang="pt-BR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A variável é testada contra uma lista de inteiros ou constantes caracteres.</a:t>
            </a:r>
          </a:p>
          <a:p>
            <a:pPr>
              <a:buNone/>
            </a:pP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2667000" y="4648200"/>
          <a:ext cx="6553200" cy="1447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 marL="274320" marR="0" lvl="0" indent="-2743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5000"/>
                        <a:buFont typeface="Wingdings 2"/>
                        <a:buNone/>
                        <a:tabLst/>
                        <a:defRPr/>
                      </a:pPr>
                      <a:r>
                        <a:rPr kumimoji="0" lang="pt-BR" sz="1800" b="1" u="sng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Dica</a:t>
                      </a: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731520" lvl="1" indent="-274320">
                        <a:spcBef>
                          <a:spcPts val="580"/>
                        </a:spcBef>
                        <a:buClr>
                          <a:schemeClr val="accent1"/>
                        </a:buClr>
                        <a:buSzPct val="85000"/>
                        <a:buFont typeface="Arial" pitchFamily="34" charset="0"/>
                        <a:buChar char="•"/>
                      </a:pPr>
                      <a:r>
                        <a:rPr kumimoji="0" lang="pt-BR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Utilize o comando switch para menus,</a:t>
                      </a:r>
                      <a:r>
                        <a:rPr kumimoji="0" lang="pt-BR" sz="1800" b="0" u="none" strike="noStrike" kern="120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pois ele fica mais claro que o comando </a:t>
                      </a:r>
                      <a:r>
                        <a:rPr kumimoji="0" lang="pt-BR" sz="1800" b="0" u="none" strike="noStrike" kern="1200" cap="none" spc="0" normalizeH="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if</a:t>
                      </a:r>
                      <a:r>
                        <a:rPr kumimoji="0" lang="pt-BR" sz="1800" b="0" u="none" strike="noStrike" kern="120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... else.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892F2DF0-ADEA-48C4-8C3D-70C5D166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switch</a:t>
            </a:r>
          </a:p>
        </p:txBody>
      </p:sp>
    </p:spTree>
    <p:extLst>
      <p:ext uri="{BB962C8B-B14F-4D97-AF65-F5344CB8AC3E}">
        <p14:creationId xmlns:p14="http://schemas.microsoft.com/office/powerpoint/2010/main" val="3087565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 txBox="1">
            <a:spLocks noGrp="1"/>
          </p:cNvSpPr>
          <p:nvPr>
            <p:ph sz="quarter" idx="1"/>
          </p:nvPr>
        </p:nvSpPr>
        <p:spPr>
          <a:xfrm>
            <a:off x="2057400" y="1752600"/>
            <a:ext cx="4429156" cy="49530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Sintaxe: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switch (</a:t>
            </a:r>
            <a:r>
              <a:rPr lang="pt-BR" sz="1900" dirty="0" err="1">
                <a:latin typeface="Courier New" pitchFamily="49" charset="0"/>
                <a:ea typeface="Verdana" pitchFamily="34" charset="0"/>
                <a:cs typeface="Courier New" pitchFamily="49" charset="0"/>
              </a:rPr>
              <a:t>expressao_de_controle</a:t>
            </a: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) {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case &lt;constante_1&gt; :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&lt;comando(s)&gt;;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</a:t>
            </a:r>
            <a:r>
              <a:rPr lang="pt-BR" sz="1900" dirty="0" err="1">
                <a:latin typeface="Courier New" pitchFamily="49" charset="0"/>
                <a:ea typeface="Verdana" pitchFamily="34" charset="0"/>
                <a:cs typeface="Courier New" pitchFamily="49" charset="0"/>
              </a:rPr>
              <a:t>break</a:t>
            </a: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;</a:t>
            </a:r>
          </a:p>
          <a:p>
            <a:pPr marL="274320" indent="-274320">
              <a:spcBef>
                <a:spcPts val="580"/>
              </a:spcBef>
              <a:buSzPct val="85000"/>
              <a:buNone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case &lt;constante_2&gt; :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&lt;comando(s)&gt;;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</a:t>
            </a:r>
            <a:r>
              <a:rPr lang="pt-BR" sz="1900" dirty="0" err="1">
                <a:latin typeface="Courier New" pitchFamily="49" charset="0"/>
                <a:ea typeface="Verdana" pitchFamily="34" charset="0"/>
                <a:cs typeface="Courier New" pitchFamily="49" charset="0"/>
              </a:rPr>
              <a:t>break</a:t>
            </a: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;</a:t>
            </a:r>
          </a:p>
          <a:p>
            <a:pPr marL="274320" indent="-274320">
              <a:spcBef>
                <a:spcPts val="580"/>
              </a:spcBef>
              <a:buSzPct val="85000"/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...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...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case &lt;</a:t>
            </a:r>
            <a:r>
              <a:rPr lang="pt-BR" sz="1900" dirty="0" err="1">
                <a:latin typeface="Courier New" pitchFamily="49" charset="0"/>
                <a:ea typeface="Verdana" pitchFamily="34" charset="0"/>
                <a:cs typeface="Courier New" pitchFamily="49" charset="0"/>
              </a:rPr>
              <a:t>constante_n</a:t>
            </a: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&gt;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 &lt;comando(s)&gt;;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  </a:t>
            </a:r>
            <a:r>
              <a:rPr lang="pt-BR" sz="1900" dirty="0" err="1">
                <a:latin typeface="Courier New" pitchFamily="49" charset="0"/>
                <a:ea typeface="Verdana" pitchFamily="34" charset="0"/>
                <a:cs typeface="Courier New" pitchFamily="49" charset="0"/>
              </a:rPr>
              <a:t>break</a:t>
            </a: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;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default: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            &lt;comando(s)&gt;;</a:t>
            </a:r>
          </a:p>
          <a:p>
            <a:pPr lvl="0">
              <a:buNone/>
              <a:defRPr/>
            </a:pPr>
            <a:r>
              <a:rPr lang="pt-BR" sz="1900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}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748410" y="2819400"/>
          <a:ext cx="3462390" cy="2758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6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8440">
                <a:tc>
                  <a:txBody>
                    <a:bodyPr/>
                    <a:lstStyle/>
                    <a:p>
                      <a:pPr marL="274320" marR="0" lvl="0" indent="-2743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5000"/>
                        <a:buFont typeface="Wingdings 2"/>
                        <a:buNone/>
                        <a:tabLst/>
                        <a:defRPr/>
                      </a:pPr>
                      <a:r>
                        <a:rPr kumimoji="0" lang="pt-BR" sz="1800" u="sng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Armadilha: </a:t>
                      </a:r>
                      <a:endParaRPr kumimoji="0" lang="pt-BR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274320" indent="-274320">
                        <a:spcBef>
                          <a:spcPts val="580"/>
                        </a:spcBef>
                        <a:buClr>
                          <a:schemeClr val="bg1"/>
                        </a:buClr>
                        <a:buSzPct val="85000"/>
                        <a:buFont typeface="Arial" pitchFamily="34" charset="0"/>
                        <a:buChar char="•"/>
                      </a:pPr>
                      <a:r>
                        <a:rPr kumimoji="0" lang="pt-BR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Ao esquecer um</a:t>
                      </a:r>
                      <a:r>
                        <a:rPr kumimoji="0" lang="pt-BR" sz="1800" b="0" u="none" strike="noStrike" kern="120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break no comando switch, o compilador não emitirá mensagem de erro, mas não será efetuado o que você desejava</a:t>
                      </a:r>
                      <a:r>
                        <a:rPr kumimoji="0" lang="pt-BR" sz="1800" u="none" strike="noStrike" kern="120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85AD2417-BE4A-4266-BFCB-6DFBC1C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switch</a:t>
            </a:r>
          </a:p>
        </p:txBody>
      </p:sp>
    </p:spTree>
    <p:extLst>
      <p:ext uri="{BB962C8B-B14F-4D97-AF65-F5344CB8AC3E}">
        <p14:creationId xmlns:p14="http://schemas.microsoft.com/office/powerpoint/2010/main" val="932005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1905001" y="1676401"/>
            <a:ext cx="6876419" cy="4705189"/>
            <a:chOff x="381000" y="1676400"/>
            <a:chExt cx="6876419" cy="4705189"/>
          </a:xfrm>
        </p:grpSpPr>
        <p:sp>
          <p:nvSpPr>
            <p:cNvPr id="17" name="Retângulo 16"/>
            <p:cNvSpPr/>
            <p:nvPr/>
          </p:nvSpPr>
          <p:spPr>
            <a:xfrm>
              <a:off x="381000" y="3795714"/>
              <a:ext cx="1214446" cy="5715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Se o usuário digitar 0 entra nesta opção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576254" y="4529095"/>
              <a:ext cx="1214446" cy="57150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Se o usuário digitar 1 entra nesta opção</a:t>
              </a:r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728654" y="5244517"/>
              <a:ext cx="1214446" cy="78581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Qualquer outro valor digitado entra nesta opção</a:t>
              </a:r>
            </a:p>
          </p:txBody>
        </p:sp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4100" y="1676400"/>
              <a:ext cx="4933319" cy="4705189"/>
            </a:xfrm>
            <a:prstGeom prst="rect">
              <a:avLst/>
            </a:prstGeom>
          </p:spPr>
        </p:pic>
        <p:sp>
          <p:nvSpPr>
            <p:cNvPr id="9" name="Retângulo 8"/>
            <p:cNvSpPr/>
            <p:nvPr/>
          </p:nvSpPr>
          <p:spPr>
            <a:xfrm>
              <a:off x="3390900" y="3657600"/>
              <a:ext cx="1214446" cy="214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de seta reta 10"/>
            <p:cNvCxnSpPr>
              <a:stCxn id="9" idx="1"/>
            </p:cNvCxnSpPr>
            <p:nvPr/>
          </p:nvCxnSpPr>
          <p:spPr>
            <a:xfrm flipH="1">
              <a:off x="1638300" y="3764757"/>
              <a:ext cx="1752600" cy="39568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tângulo 12"/>
            <p:cNvSpPr/>
            <p:nvPr/>
          </p:nvSpPr>
          <p:spPr>
            <a:xfrm>
              <a:off x="3390900" y="4382887"/>
              <a:ext cx="1214446" cy="214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" name="Conector de seta reta 13"/>
            <p:cNvCxnSpPr>
              <a:stCxn id="13" idx="1"/>
            </p:cNvCxnSpPr>
            <p:nvPr/>
          </p:nvCxnSpPr>
          <p:spPr>
            <a:xfrm flipH="1">
              <a:off x="1790700" y="4490044"/>
              <a:ext cx="1600200" cy="36532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/>
            <p:cNvSpPr/>
            <p:nvPr/>
          </p:nvSpPr>
          <p:spPr>
            <a:xfrm>
              <a:off x="3390900" y="5105400"/>
              <a:ext cx="1214446" cy="214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Conector de seta reta 15"/>
            <p:cNvCxnSpPr>
              <a:stCxn id="15" idx="1"/>
            </p:cNvCxnSpPr>
            <p:nvPr/>
          </p:nvCxnSpPr>
          <p:spPr>
            <a:xfrm flipH="1">
              <a:off x="1943100" y="5212557"/>
              <a:ext cx="1447800" cy="3571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2AEB782-A73B-43DB-8EC8-F8C6835D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switch</a:t>
            </a:r>
          </a:p>
        </p:txBody>
      </p:sp>
    </p:spTree>
    <p:extLst>
      <p:ext uri="{BB962C8B-B14F-4D97-AF65-F5344CB8AC3E}">
        <p14:creationId xmlns:p14="http://schemas.microsoft.com/office/powerpoint/2010/main" val="270626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447801"/>
            <a:ext cx="3657600" cy="53140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6AF180F-C2F5-4CE3-9FC8-4F91F8C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switch</a:t>
            </a:r>
          </a:p>
        </p:txBody>
      </p:sp>
    </p:spTree>
    <p:extLst>
      <p:ext uri="{BB962C8B-B14F-4D97-AF65-F5344CB8AC3E}">
        <p14:creationId xmlns:p14="http://schemas.microsoft.com/office/powerpoint/2010/main" val="3618039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33600" y="1500174"/>
            <a:ext cx="8229600" cy="14287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Conhecido também como operador ternário ou </a:t>
            </a:r>
            <a:r>
              <a:rPr lang="pt-BR" sz="21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if</a:t>
            </a:r>
            <a:r>
              <a:rPr lang="pt-BR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 aritmético.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É um operador, e não uma estrutura de controle.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90000"/>
              <a:buFont typeface="Arial" pitchFamily="34" charset="0"/>
              <a:buChar char="•"/>
            </a:pPr>
            <a:r>
              <a:rPr lang="pt-BR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Único operador ternário do C++.</a:t>
            </a:r>
          </a:p>
          <a:p>
            <a:pPr>
              <a:buNone/>
            </a:pPr>
            <a:endParaRPr lang="pt-B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209800" y="4495800"/>
            <a:ext cx="8001000" cy="1828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lnSpc>
                <a:spcPct val="110000"/>
              </a:lnSpc>
              <a:spcBef>
                <a:spcPts val="580"/>
              </a:spcBef>
              <a:buClr>
                <a:srgbClr val="FF0000"/>
              </a:buClr>
              <a:buSzPct val="90000"/>
              <a:buFont typeface="Arial" pitchFamily="34" charset="0"/>
              <a:buChar char="•"/>
              <a:defRPr/>
            </a:pPr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O primeiro operando é uma condição.</a:t>
            </a:r>
          </a:p>
          <a:p>
            <a:pPr marL="274320" indent="-274320">
              <a:lnSpc>
                <a:spcPct val="110000"/>
              </a:lnSpc>
              <a:spcBef>
                <a:spcPts val="580"/>
              </a:spcBef>
              <a:buClr>
                <a:srgbClr val="FF0000"/>
              </a:buClr>
              <a:buSzPct val="90000"/>
              <a:buFont typeface="Arial" pitchFamily="34" charset="0"/>
              <a:buChar char="•"/>
              <a:defRPr/>
            </a:pPr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O segundo operando é o valor para a expressão condicional inteira  se a condição é verdadeira.</a:t>
            </a:r>
          </a:p>
          <a:p>
            <a:pPr marL="274320" indent="-274320">
              <a:lnSpc>
                <a:spcPct val="110000"/>
              </a:lnSpc>
              <a:spcBef>
                <a:spcPts val="580"/>
              </a:spcBef>
              <a:buClr>
                <a:srgbClr val="FF0000"/>
              </a:buClr>
              <a:buSzPct val="90000"/>
              <a:buFont typeface="Arial" pitchFamily="34" charset="0"/>
              <a:buChar char="•"/>
              <a:defRPr/>
            </a:pPr>
            <a:r>
              <a:rPr lang="pt-BR" dirty="0">
                <a:latin typeface="Verdana" pitchFamily="34" charset="0"/>
                <a:ea typeface="Verdana" pitchFamily="34" charset="0"/>
                <a:cs typeface="Verdana" pitchFamily="34" charset="0"/>
              </a:rPr>
              <a:t>O terceiro operando é o valor para a expressão condicional inteira, se a condição é falsa.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/>
          </p:nvPr>
        </p:nvGraphicFramePr>
        <p:xfrm>
          <a:off x="3062246" y="3200400"/>
          <a:ext cx="5929354" cy="10668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592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8694">
                <a:tc>
                  <a:txBody>
                    <a:bodyPr/>
                    <a:lstStyle/>
                    <a:p>
                      <a:pPr marL="274320" marR="0" lvl="0" indent="-2743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5000"/>
                        <a:buFont typeface="Wingdings 2"/>
                        <a:buNone/>
                        <a:tabLst/>
                        <a:defRPr/>
                      </a:pPr>
                      <a:r>
                        <a:rPr kumimoji="0" lang="pt-BR" sz="1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Sintaxe:</a:t>
                      </a:r>
                    </a:p>
                    <a:p>
                      <a:pPr marL="274320" marR="0" lvl="0" indent="-2743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5000"/>
                        <a:buFont typeface="Wingdings 2"/>
                        <a:buNone/>
                        <a:tabLst/>
                        <a:defRPr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       </a:t>
                      </a:r>
                      <a:r>
                        <a:rPr lang="pt-BR" sz="1800" b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variável = (</a:t>
                      </a:r>
                      <a:r>
                        <a:rPr lang="pt-BR" sz="1800" b="0" dirty="0" err="1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condicao</a:t>
                      </a:r>
                      <a:r>
                        <a:rPr lang="pt-BR" sz="1800" b="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) ? verdadeiro : falso;</a:t>
                      </a:r>
                    </a:p>
                    <a:p>
                      <a:pPr marL="274320" marR="0" lvl="0" indent="-2743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5000"/>
                        <a:buFont typeface="Wingdings 2"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       C ? A : B;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97E18283-2D8E-420B-8662-DA2F6904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Condicional :?</a:t>
            </a:r>
          </a:p>
        </p:txBody>
      </p:sp>
    </p:spTree>
    <p:extLst>
      <p:ext uri="{BB962C8B-B14F-4D97-AF65-F5344CB8AC3E}">
        <p14:creationId xmlns:p14="http://schemas.microsoft.com/office/powerpoint/2010/main" val="1480206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19282" y="1642523"/>
            <a:ext cx="7772400" cy="552440"/>
          </a:xfrm>
        </p:spPr>
        <p:txBody>
          <a:bodyPr/>
          <a:lstStyle/>
          <a:p>
            <a:pPr>
              <a:buNone/>
            </a:pPr>
            <a:r>
              <a:rPr lang="pt-BR" sz="20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80" y="2176463"/>
            <a:ext cx="4057220" cy="27220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663" y="4657835"/>
            <a:ext cx="5105129" cy="19619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2" name="Conector reto 11"/>
          <p:cNvCxnSpPr/>
          <p:nvPr/>
        </p:nvCxnSpPr>
        <p:spPr>
          <a:xfrm>
            <a:off x="4888974" y="3644452"/>
            <a:ext cx="4712226" cy="2181233"/>
          </a:xfrm>
          <a:prstGeom prst="line">
            <a:avLst/>
          </a:prstGeom>
          <a:ln w="38100">
            <a:solidFill>
              <a:srgbClr val="FF0000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B396CDCA-D39E-4B94-867E-3627F39A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Condicional :?</a:t>
            </a:r>
          </a:p>
        </p:txBody>
      </p:sp>
    </p:spTree>
    <p:extLst>
      <p:ext uri="{BB962C8B-B14F-4D97-AF65-F5344CB8AC3E}">
        <p14:creationId xmlns:p14="http://schemas.microsoft.com/office/powerpoint/2010/main" val="1393810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438400" y="1784896"/>
            <a:ext cx="7772400" cy="552440"/>
          </a:xfrm>
        </p:spPr>
        <p:txBody>
          <a:bodyPr/>
          <a:lstStyle/>
          <a:p>
            <a:pPr>
              <a:buNone/>
            </a:pPr>
            <a:r>
              <a:rPr lang="pt-BR" sz="2000" b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pt-BR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337336"/>
            <a:ext cx="4656638" cy="37586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C8BA36B-DD42-426B-B758-8C616A826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Condicional :?</a:t>
            </a:r>
          </a:p>
        </p:txBody>
      </p:sp>
    </p:spTree>
    <p:extLst>
      <p:ext uri="{BB962C8B-B14F-4D97-AF65-F5344CB8AC3E}">
        <p14:creationId xmlns:p14="http://schemas.microsoft.com/office/powerpoint/2010/main" val="794075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21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F42466-33B4-4D95-B47F-8A7D68770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14946</TotalTime>
  <Words>1134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Times New Roman</vt:lpstr>
      <vt:lpstr>Verdana</vt:lpstr>
      <vt:lpstr>Wingdings</vt:lpstr>
      <vt:lpstr>Wingdings 2</vt:lpstr>
      <vt:lpstr>Adjacência</vt:lpstr>
      <vt:lpstr>Desvio Condicional</vt:lpstr>
      <vt:lpstr>Definições</vt:lpstr>
      <vt:lpstr>Definições</vt:lpstr>
      <vt:lpstr>Desvio condicional simples</vt:lpstr>
      <vt:lpstr>Desvio condicional simples</vt:lpstr>
      <vt:lpstr>Desvio condicional simples</vt:lpstr>
      <vt:lpstr>Desvio condicional composto</vt:lpstr>
      <vt:lpstr>Desvio condicional composto</vt:lpstr>
      <vt:lpstr>Desvio condicional composto</vt:lpstr>
      <vt:lpstr>Desvio condicional encadeado</vt:lpstr>
      <vt:lpstr>Desvio condicional encadeado</vt:lpstr>
      <vt:lpstr>Desvio condicional encadeado</vt:lpstr>
      <vt:lpstr>Desvio condicional encadeado</vt:lpstr>
      <vt:lpstr>Comando switch</vt:lpstr>
      <vt:lpstr>Comando switch</vt:lpstr>
      <vt:lpstr>Comando switch</vt:lpstr>
      <vt:lpstr>Comando switch</vt:lpstr>
      <vt:lpstr>Operador Condicional :?</vt:lpstr>
      <vt:lpstr>Operador Condicional :?</vt:lpstr>
      <vt:lpstr>Operador Condicional :?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Pereira</cp:lastModifiedBy>
  <cp:revision>614</cp:revision>
  <dcterms:created xsi:type="dcterms:W3CDTF">2014-11-11T18:41:35Z</dcterms:created>
  <dcterms:modified xsi:type="dcterms:W3CDTF">2019-03-15T19:26:20Z</dcterms:modified>
</cp:coreProperties>
</file>
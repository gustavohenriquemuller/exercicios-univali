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17"/>
  </p:notesMasterIdLst>
  <p:sldIdLst>
    <p:sldId id="256" r:id="rId2"/>
    <p:sldId id="474" r:id="rId3"/>
    <p:sldId id="377" r:id="rId4"/>
    <p:sldId id="467" r:id="rId5"/>
    <p:sldId id="470" r:id="rId6"/>
    <p:sldId id="493" r:id="rId7"/>
    <p:sldId id="498" r:id="rId8"/>
    <p:sldId id="472" r:id="rId9"/>
    <p:sldId id="499" r:id="rId10"/>
    <p:sldId id="500" r:id="rId11"/>
    <p:sldId id="501" r:id="rId12"/>
    <p:sldId id="502" r:id="rId13"/>
    <p:sldId id="503" r:id="rId14"/>
    <p:sldId id="505" r:id="rId15"/>
    <p:sldId id="50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03" autoAdjust="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6DF6F3E0-DD4F-44BC-9188-6513FC5D3B0A}"/>
  </pc:docChgLst>
  <pc:docChgLst>
    <pc:chgData userId="1bb33b6d150db90b" providerId="LiveId" clId="{F9B35A3E-3BBF-42D5-8D98-ACFDA8B42226}"/>
  </pc:docChgLst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Alex Luciano Roesler Rese" userId="1bb33b6d150db90b" providerId="LiveId" clId="{BE0E5D8C-9DD7-4DC8-BF41-C3CF6E733D60}"/>
  </pc:docChgLst>
  <pc:docChgLst>
    <pc:chgData name="Rafael Marini" userId="S::rafaelmarini@edu.univali.br::50055c5f-03a2-432d-b5f9-e31f497d20ab" providerId="AD" clId="Web-{6B7372B4-DA91-4CCE-BFE3-1FB923F3A418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22/02/2019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4952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0811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169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6765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2197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6881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589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179F2-03BF-491E-9A74-31122EDDB4F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617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22/02/2019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22/02/2019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org/" TargetMode="External"/><Relationship Id="rId2" Type="http://schemas.openxmlformats.org/officeDocument/2006/relationships/hyperlink" Target="http://www.plastelina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hyperlink" Target="http://lightbot.com/" TargetMode="External"/><Relationship Id="rId4" Type="http://schemas.openxmlformats.org/officeDocument/2006/relationships/hyperlink" Target="https://www.kongregate.com/games/coolio_niato/light-bo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Lógica e Algoritmos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Plano de Aula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2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9950896" cy="4800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pt-BR" sz="3200" dirty="0"/>
              <a:t>Objetivo</a:t>
            </a:r>
          </a:p>
          <a:p>
            <a:pPr lvl="1"/>
            <a:r>
              <a:rPr lang="pt-BR" sz="3000" dirty="0"/>
              <a:t>Compreender os conceitos de lógica de programação para aplicação de algoritmos..</a:t>
            </a:r>
          </a:p>
          <a:p>
            <a:pPr lvl="1"/>
            <a:endParaRPr lang="pt-BR" sz="3000" dirty="0"/>
          </a:p>
          <a:p>
            <a:r>
              <a:rPr lang="pt-BR" sz="3200" dirty="0"/>
              <a:t>Referência</a:t>
            </a:r>
          </a:p>
          <a:p>
            <a:pPr lvl="1"/>
            <a:r>
              <a:rPr lang="pt-BR" dirty="0"/>
              <a:t>FARRER, Harry. Algoritmos estruturados. 3. ed. Rio de Janeiro, RJ: Livros Técnicos e Científicos, c 1999, 2010. 284 p. (Programação Estruturada de Computadores) ISBN 9788521611806.</a:t>
            </a:r>
          </a:p>
          <a:p>
            <a:pPr lvl="1"/>
            <a:r>
              <a:rPr lang="pt-BR" dirty="0"/>
              <a:t>(2) MANZANO, José Augusto N. G; OLIVEIRA, </a:t>
            </a:r>
            <a:r>
              <a:rPr lang="pt-BR" dirty="0" err="1"/>
              <a:t>Jayr</a:t>
            </a:r>
            <a:r>
              <a:rPr lang="pt-BR" dirty="0"/>
              <a:t> Figueiredo de. Algoritmos: lógica para desenvolvimento de programação de computadores. 27. ed. rev. São Paulo, SP: Editora Érica, c2013. 328 p. ISBN 9788536502212. (5 exemplares)</a:t>
            </a:r>
          </a:p>
          <a:p>
            <a:pPr lvl="1"/>
            <a:r>
              <a:rPr lang="pt-BR" dirty="0"/>
              <a:t>(3) BORATTI, Isaias Camilo; OLIVEIRA, Álvaro Borges de. Introdução à programação: algoritmos. 4. ed. Florianópolis, SC: Visual Books, 2013. 182 p. ISBN 9788575022832.</a:t>
            </a:r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2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Como o computador funciona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3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9950896" cy="48006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pt-BR" sz="2800" dirty="0"/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2"/>
              </a:buClr>
              <a:buNone/>
            </a:pPr>
            <a:endParaRPr lang="pt-BR" sz="3800" dirty="0">
              <a:cs typeface="Calibri"/>
            </a:endParaRPr>
          </a:p>
          <a:p>
            <a:pPr marL="114300" indent="0">
              <a:buNone/>
            </a:pPr>
            <a:endParaRPr lang="pt-BR" sz="2400" dirty="0"/>
          </a:p>
          <a:p>
            <a:pPr marL="411480" lvl="1" indent="0">
              <a:buNone/>
            </a:pPr>
            <a:r>
              <a:rPr lang="pt-BR" sz="2400" dirty="0"/>
              <a:t>		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DF1429F4-9C4F-47E3-A96B-5C87E1067150}"/>
              </a:ext>
            </a:extLst>
          </p:cNvPr>
          <p:cNvSpPr txBox="1"/>
          <p:nvPr/>
        </p:nvSpPr>
        <p:spPr>
          <a:xfrm>
            <a:off x="1824839" y="2514187"/>
            <a:ext cx="1978025" cy="862013"/>
          </a:xfrm>
          <a:prstGeom prst="rect">
            <a:avLst/>
          </a:prstGeom>
          <a:solidFill>
            <a:srgbClr val="0033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endParaRPr lang="pt-BR" sz="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lang="pt-BR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Código Fonte</a:t>
            </a:r>
          </a:p>
          <a:p>
            <a:pPr>
              <a:defRPr/>
            </a:pPr>
            <a:endParaRPr lang="pt-BR" sz="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C66FD39-7236-4A5E-975A-9F59B1BA5FCD}"/>
              </a:ext>
            </a:extLst>
          </p:cNvPr>
          <p:cNvSpPr txBox="1"/>
          <p:nvPr/>
        </p:nvSpPr>
        <p:spPr>
          <a:xfrm>
            <a:off x="1824839" y="3728625"/>
            <a:ext cx="1978025" cy="55403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endParaRPr lang="pt-BR" sz="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lang="pt-BR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Compilador</a:t>
            </a:r>
          </a:p>
          <a:p>
            <a:pPr>
              <a:defRPr/>
            </a:pPr>
            <a:endParaRPr lang="pt-BR" sz="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253DAA3-0B69-424B-89B8-3935331AA412}"/>
              </a:ext>
            </a:extLst>
          </p:cNvPr>
          <p:cNvSpPr txBox="1"/>
          <p:nvPr/>
        </p:nvSpPr>
        <p:spPr>
          <a:xfrm>
            <a:off x="1824839" y="4960525"/>
            <a:ext cx="1978025" cy="554037"/>
          </a:xfrm>
          <a:prstGeom prst="rect">
            <a:avLst/>
          </a:prstGeom>
          <a:solidFill>
            <a:srgbClr val="3333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endParaRPr lang="pt-BR" sz="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lang="pt-BR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Montador</a:t>
            </a:r>
          </a:p>
          <a:p>
            <a:pPr>
              <a:defRPr/>
            </a:pPr>
            <a:endParaRPr lang="pt-BR" sz="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6" name="Conector de seta reta 19">
            <a:extLst>
              <a:ext uri="{FF2B5EF4-FFF2-40B4-BE49-F238E27FC236}">
                <a16:creationId xmlns:a16="http://schemas.microsoft.com/office/drawing/2014/main" id="{82D77716-B897-403E-AEDE-59B02C2E9866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2813851" y="3376200"/>
            <a:ext cx="0" cy="352425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0">
            <a:extLst>
              <a:ext uri="{FF2B5EF4-FFF2-40B4-BE49-F238E27FC236}">
                <a16:creationId xmlns:a16="http://schemas.microsoft.com/office/drawing/2014/main" id="{7E83E8A6-39C7-4F7D-BEBF-FEF72530B57A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2813851" y="4282662"/>
            <a:ext cx="0" cy="677863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eta para a direita 21">
            <a:extLst>
              <a:ext uri="{FF2B5EF4-FFF2-40B4-BE49-F238E27FC236}">
                <a16:creationId xmlns:a16="http://schemas.microsoft.com/office/drawing/2014/main" id="{3E57DB16-244F-4A7C-A90F-FE0CF787ADC7}"/>
              </a:ext>
            </a:extLst>
          </p:cNvPr>
          <p:cNvSpPr/>
          <p:nvPr/>
        </p:nvSpPr>
        <p:spPr>
          <a:xfrm>
            <a:off x="4396589" y="2553875"/>
            <a:ext cx="382587" cy="174625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29" name="Seta para a direita 22">
            <a:extLst>
              <a:ext uri="{FF2B5EF4-FFF2-40B4-BE49-F238E27FC236}">
                <a16:creationId xmlns:a16="http://schemas.microsoft.com/office/drawing/2014/main" id="{51D45DA5-9D21-4F9A-91D4-E2A6F381F3DF}"/>
              </a:ext>
            </a:extLst>
          </p:cNvPr>
          <p:cNvSpPr/>
          <p:nvPr/>
        </p:nvSpPr>
        <p:spPr>
          <a:xfrm>
            <a:off x="4396589" y="3768312"/>
            <a:ext cx="382587" cy="174625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0" name="Seta para a direita 23">
            <a:extLst>
              <a:ext uri="{FF2B5EF4-FFF2-40B4-BE49-F238E27FC236}">
                <a16:creationId xmlns:a16="http://schemas.microsoft.com/office/drawing/2014/main" id="{9EA4D3F5-6083-4545-8033-DF85070DAB46}"/>
              </a:ext>
            </a:extLst>
          </p:cNvPr>
          <p:cNvSpPr/>
          <p:nvPr/>
        </p:nvSpPr>
        <p:spPr>
          <a:xfrm>
            <a:off x="4396589" y="4982750"/>
            <a:ext cx="382587" cy="174625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1" name="Explosão 1 24">
            <a:extLst>
              <a:ext uri="{FF2B5EF4-FFF2-40B4-BE49-F238E27FC236}">
                <a16:creationId xmlns:a16="http://schemas.microsoft.com/office/drawing/2014/main" id="{25255992-EC35-4AB9-8783-9F894AA45EC3}"/>
              </a:ext>
            </a:extLst>
          </p:cNvPr>
          <p:cNvSpPr/>
          <p:nvPr/>
        </p:nvSpPr>
        <p:spPr>
          <a:xfrm>
            <a:off x="5210976" y="2198275"/>
            <a:ext cx="3990975" cy="1152525"/>
          </a:xfrm>
          <a:prstGeom prst="irregularSeal1">
            <a:avLst/>
          </a:prstGeom>
          <a:solidFill>
            <a:srgbClr val="0033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Programa digitado pelo usuário</a:t>
            </a:r>
          </a:p>
        </p:txBody>
      </p:sp>
      <p:sp>
        <p:nvSpPr>
          <p:cNvPr id="32" name="Explosão 1 25">
            <a:extLst>
              <a:ext uri="{FF2B5EF4-FFF2-40B4-BE49-F238E27FC236}">
                <a16:creationId xmlns:a16="http://schemas.microsoft.com/office/drawing/2014/main" id="{7345A042-0BD2-45A4-B0C6-5EE8AB48C16E}"/>
              </a:ext>
            </a:extLst>
          </p:cNvPr>
          <p:cNvSpPr/>
          <p:nvPr/>
        </p:nvSpPr>
        <p:spPr>
          <a:xfrm>
            <a:off x="4869664" y="3280950"/>
            <a:ext cx="5080000" cy="1323975"/>
          </a:xfrm>
          <a:prstGeom prst="irregularSeal1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 o código fonte em linguagem </a:t>
            </a:r>
            <a:r>
              <a:rPr lang="pt-BR" sz="1400" b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Assembly</a:t>
            </a:r>
            <a:r>
              <a:rPr lang="pt-BR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33" name="Explosão 1 26">
            <a:extLst>
              <a:ext uri="{FF2B5EF4-FFF2-40B4-BE49-F238E27FC236}">
                <a16:creationId xmlns:a16="http://schemas.microsoft.com/office/drawing/2014/main" id="{7C167987-0DE3-453A-8D9F-9949FFC52F7E}"/>
              </a:ext>
            </a:extLst>
          </p:cNvPr>
          <p:cNvSpPr/>
          <p:nvPr/>
        </p:nvSpPr>
        <p:spPr>
          <a:xfrm>
            <a:off x="4769651" y="4527137"/>
            <a:ext cx="4854575" cy="1195388"/>
          </a:xfrm>
          <a:prstGeom prst="irregularSeal1">
            <a:avLst/>
          </a:prstGeom>
          <a:solidFill>
            <a:srgbClr val="FFFFA3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bg1">
                    <a:lumMod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 o código na linguagem </a:t>
            </a:r>
            <a:r>
              <a:rPr lang="pt-BR" sz="1400" b="1" dirty="0" err="1">
                <a:solidFill>
                  <a:schemeClr val="bg1">
                    <a:lumMod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Assembly</a:t>
            </a:r>
            <a:r>
              <a:rPr lang="pt-BR" sz="1400" b="1" dirty="0">
                <a:solidFill>
                  <a:schemeClr val="bg1">
                    <a:lumMod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em linguagem de máquina</a:t>
            </a:r>
          </a:p>
        </p:txBody>
      </p:sp>
      <p:sp>
        <p:nvSpPr>
          <p:cNvPr id="34" name="Retângulo de cantos arredondados 27">
            <a:extLst>
              <a:ext uri="{FF2B5EF4-FFF2-40B4-BE49-F238E27FC236}">
                <a16:creationId xmlns:a16="http://schemas.microsoft.com/office/drawing/2014/main" id="{099CDD1F-879D-4F66-9FE9-E88554687C79}"/>
              </a:ext>
            </a:extLst>
          </p:cNvPr>
          <p:cNvSpPr/>
          <p:nvPr/>
        </p:nvSpPr>
        <p:spPr>
          <a:xfrm>
            <a:off x="1610526" y="3400012"/>
            <a:ext cx="2360613" cy="2185988"/>
          </a:xfrm>
          <a:prstGeom prst="round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85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Lógica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4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4800600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endParaRPr lang="pt-BR" sz="2800" dirty="0"/>
          </a:p>
          <a:p>
            <a:pPr>
              <a:lnSpc>
                <a:spcPct val="140000"/>
              </a:lnSpc>
            </a:pPr>
            <a:r>
              <a:rPr lang="pt-BR" sz="11200" dirty="0">
                <a:sym typeface="Symbol" pitchFamily="18" charset="2"/>
              </a:rPr>
              <a:t>Lógica (do grego clássico </a:t>
            </a:r>
            <a:r>
              <a:rPr lang="pt-BR" sz="11200" dirty="0" err="1">
                <a:sym typeface="Symbol" pitchFamily="18" charset="2"/>
              </a:rPr>
              <a:t>λογική</a:t>
            </a:r>
            <a:r>
              <a:rPr lang="pt-BR" sz="11200" dirty="0">
                <a:sym typeface="Symbol" pitchFamily="18" charset="2"/>
              </a:rPr>
              <a:t> logos, que significa palavra, pensamento, </a:t>
            </a:r>
            <a:r>
              <a:rPr lang="pt-BR" sz="11200" dirty="0" err="1">
                <a:sym typeface="Symbol" pitchFamily="18" charset="2"/>
              </a:rPr>
              <a:t>idéia</a:t>
            </a:r>
            <a:r>
              <a:rPr lang="pt-BR" sz="11200" dirty="0">
                <a:sym typeface="Symbol" pitchFamily="18" charset="2"/>
              </a:rPr>
              <a:t>, argumento, relato, razão lógica ou princípio lógico), considerada uma ciência formal, </a:t>
            </a:r>
            <a:r>
              <a:rPr lang="pt-BR" sz="11200" b="1" dirty="0">
                <a:sym typeface="Symbol" pitchFamily="18" charset="2"/>
              </a:rPr>
              <a:t>é o estudo formal sistemático dos princípios da inferência válida e do pensamento correto. </a:t>
            </a:r>
            <a:endParaRPr lang="pt-BR" sz="3800" b="1" dirty="0">
              <a:cs typeface="Calibri"/>
            </a:endParaRPr>
          </a:p>
          <a:p>
            <a:pPr marL="114300" indent="0">
              <a:buNone/>
            </a:pPr>
            <a:endParaRPr lang="pt-BR" sz="2400" dirty="0"/>
          </a:p>
          <a:p>
            <a:pPr marL="411480" lvl="1" indent="0">
              <a:buNone/>
            </a:pPr>
            <a:r>
              <a:rPr lang="pt-BR" sz="2400" dirty="0"/>
              <a:t>		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5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Lógica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5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4800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200" dirty="0"/>
              <a:t>Já que o pensamento é a manifestação do conhecimento, e que o conhecimento busca a verdade, é preciso estabelecer algumas regras para que essa meta possa ser atingida. Assim, </a:t>
            </a:r>
            <a:r>
              <a:rPr lang="pt-BR" sz="3200" i="1" u="sng" dirty="0">
                <a:solidFill>
                  <a:srgbClr val="FF0000"/>
                </a:solidFill>
              </a:rPr>
              <a:t>a lógica é o ramo da filosofia que cuida das regras do bem pensar, ou do pensar correto</a:t>
            </a:r>
            <a:r>
              <a:rPr lang="pt-BR" sz="3200" dirty="0"/>
              <a:t>, sendo, portanto, um instrumento do pensar.</a:t>
            </a:r>
            <a:endParaRPr lang="pt-BR" sz="4000" dirty="0"/>
          </a:p>
          <a:p>
            <a:pPr marL="114300" indent="0">
              <a:buNone/>
            </a:pPr>
            <a:endParaRPr lang="pt-BR" sz="2400" dirty="0"/>
          </a:p>
          <a:p>
            <a:pPr marL="411480" lvl="1" indent="0">
              <a:buNone/>
            </a:pPr>
            <a:r>
              <a:rPr lang="pt-BR" sz="2400" dirty="0"/>
              <a:t>		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3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Lógica de Programação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6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4800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pt-BR" sz="4000" b="1" dirty="0"/>
              <a:t>Lógica de programação </a:t>
            </a:r>
            <a:r>
              <a:rPr lang="pt-BR" sz="4000" dirty="0"/>
              <a:t>é a técnica de encadear pensamentos para atingir determinado objetivo.</a:t>
            </a:r>
          </a:p>
          <a:p>
            <a:pPr>
              <a:lnSpc>
                <a:spcPct val="140000"/>
              </a:lnSpc>
            </a:pPr>
            <a:endParaRPr lang="pt-BR" sz="4000" dirty="0"/>
          </a:p>
          <a:p>
            <a:pPr>
              <a:lnSpc>
                <a:spcPct val="140000"/>
              </a:lnSpc>
            </a:pPr>
            <a:r>
              <a:rPr lang="pt-BR" sz="4000" b="1" dirty="0"/>
              <a:t>Sequência lógica </a:t>
            </a:r>
            <a:r>
              <a:rPr lang="pt-BR" sz="4000" dirty="0"/>
              <a:t>são passos executados até atingir um objetivo ou solução de um problema.</a:t>
            </a:r>
          </a:p>
          <a:p>
            <a:pPr marL="114300" indent="0">
              <a:buNone/>
            </a:pPr>
            <a:endParaRPr lang="pt-BR" sz="2400" dirty="0"/>
          </a:p>
          <a:p>
            <a:pPr marL="411480" lvl="1" indent="0">
              <a:buNone/>
            </a:pPr>
            <a:r>
              <a:rPr lang="pt-BR" sz="2400" dirty="0"/>
              <a:t>		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0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Algoritmos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7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3556992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40000"/>
              </a:lnSpc>
            </a:pPr>
            <a:r>
              <a:rPr lang="pt-BR" sz="4000" b="1" dirty="0"/>
              <a:t>Algoritmo, de forma geral, </a:t>
            </a:r>
            <a:r>
              <a:rPr lang="pt-BR" sz="4000" dirty="0"/>
              <a:t>é uma </a:t>
            </a:r>
            <a:r>
              <a:rPr lang="pt-BR" sz="4000" dirty="0" err="1"/>
              <a:t>seqüência</a:t>
            </a:r>
            <a:r>
              <a:rPr lang="pt-BR" sz="4000" dirty="0"/>
              <a:t> de passos finita para solução de um determinado problema. </a:t>
            </a:r>
          </a:p>
          <a:p>
            <a:pPr>
              <a:lnSpc>
                <a:spcPct val="140000"/>
              </a:lnSpc>
            </a:pPr>
            <a:r>
              <a:rPr lang="pt-BR" sz="4000" b="1" dirty="0"/>
              <a:t>Algoritmo, em Computação, </a:t>
            </a:r>
            <a:r>
              <a:rPr lang="pt-BR" sz="4000" dirty="0"/>
              <a:t>é uma </a:t>
            </a:r>
            <a:r>
              <a:rPr lang="pt-BR" sz="4000" dirty="0" err="1"/>
              <a:t>seqüência</a:t>
            </a:r>
            <a:r>
              <a:rPr lang="pt-BR" sz="4000" dirty="0"/>
              <a:t> finita de instruções ou operações cuja execução, em tempo finito, resolve um problema computacional. </a:t>
            </a:r>
          </a:p>
          <a:p>
            <a:pPr>
              <a:lnSpc>
                <a:spcPct val="140000"/>
              </a:lnSpc>
            </a:pPr>
            <a:r>
              <a:rPr lang="pt-BR" sz="4000" b="1" dirty="0"/>
              <a:t>Exemplos de Algoritmos:</a:t>
            </a:r>
            <a:endParaRPr lang="pt-BR" sz="2400" dirty="0"/>
          </a:p>
          <a:p>
            <a:pPr marL="411480" lvl="1" indent="0">
              <a:buNone/>
            </a:pPr>
            <a:r>
              <a:rPr lang="pt-BR" sz="2400" dirty="0"/>
              <a:t>		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9" name="Picture 2" descr="C:\Users\Elis\AppData\Local\Microsoft\Windows\Temporary Internet Files\Content.IE5\R3PQ8RLU\MCj03527320000[1].wmf">
            <a:extLst>
              <a:ext uri="{FF2B5EF4-FFF2-40B4-BE49-F238E27FC236}">
                <a16:creationId xmlns:a16="http://schemas.microsoft.com/office/drawing/2014/main" id="{609AE68A-1BF3-4066-BF4C-DF22089D3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625" y="4881835"/>
            <a:ext cx="1671638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 descr="C:\Users\Elis\AppData\Local\Microsoft\Windows\Temporary Internet Files\Content.IE5\320TGF2T\MCj02384670000[1].wmf">
            <a:extLst>
              <a:ext uri="{FF2B5EF4-FFF2-40B4-BE49-F238E27FC236}">
                <a16:creationId xmlns:a16="http://schemas.microsoft.com/office/drawing/2014/main" id="{03F75451-F9B4-4360-AA21-A016AF1F2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825" y="4810397"/>
            <a:ext cx="1368425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C:\Users\Elis\AppData\Local\Microsoft\Windows\Temporary Internet Files\Content.IE5\R3PQ8RLU\MCj01504690000[1].wmf">
            <a:extLst>
              <a:ext uri="{FF2B5EF4-FFF2-40B4-BE49-F238E27FC236}">
                <a16:creationId xmlns:a16="http://schemas.microsoft.com/office/drawing/2014/main" id="{6D163010-84FB-47EC-AEC9-89D06739F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638" y="5167585"/>
            <a:ext cx="922337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63DC651-9484-494D-AD28-495759966227}"/>
              </a:ext>
            </a:extLst>
          </p:cNvPr>
          <p:cNvSpPr txBox="1"/>
          <p:nvPr/>
        </p:nvSpPr>
        <p:spPr>
          <a:xfrm>
            <a:off x="4929063" y="4524647"/>
            <a:ext cx="1571625" cy="3079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400" b="1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Trocar um pneu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E53FFB-6182-45E7-947A-533E5C8B6565}"/>
              </a:ext>
            </a:extLst>
          </p:cNvPr>
          <p:cNvSpPr txBox="1"/>
          <p:nvPr/>
        </p:nvSpPr>
        <p:spPr>
          <a:xfrm>
            <a:off x="8678738" y="4524647"/>
            <a:ext cx="1881758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pt-BR" sz="1400" b="1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Preparar uma pizza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47CD931-4960-4BA9-8288-D212ADBE50BE}"/>
              </a:ext>
            </a:extLst>
          </p:cNvPr>
          <p:cNvSpPr txBox="1"/>
          <p:nvPr/>
        </p:nvSpPr>
        <p:spPr>
          <a:xfrm>
            <a:off x="6886450" y="4524647"/>
            <a:ext cx="1571625" cy="3079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400" b="1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Lavar o cabelo</a:t>
            </a:r>
          </a:p>
        </p:txBody>
      </p:sp>
    </p:spTree>
    <p:extLst>
      <p:ext uri="{BB962C8B-B14F-4D97-AF65-F5344CB8AC3E}">
        <p14:creationId xmlns:p14="http://schemas.microsoft.com/office/powerpoint/2010/main" val="403950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Representação de Algoritmos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8</a:t>
            </a:fld>
            <a:endParaRPr lang="pt-BR"/>
          </a:p>
        </p:txBody>
      </p:sp>
      <p:cxnSp>
        <p:nvCxnSpPr>
          <p:cNvPr id="5" name="Conector reto 4"/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609600" y="1600200"/>
            <a:ext cx="9950896" cy="4800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pt-BR" sz="3200" b="1" dirty="0"/>
              <a:t>Formas de representação de um Algoritmo</a:t>
            </a:r>
          </a:p>
          <a:p>
            <a:pPr lvl="1"/>
            <a:r>
              <a:rPr lang="pt-BR" sz="3000" dirty="0"/>
              <a:t>Linguagem Narrativa</a:t>
            </a:r>
          </a:p>
          <a:p>
            <a:pPr lvl="1"/>
            <a:r>
              <a:rPr lang="pt-BR" sz="3000" dirty="0"/>
              <a:t>Fluxograma</a:t>
            </a:r>
          </a:p>
          <a:p>
            <a:pPr lvl="1"/>
            <a:r>
              <a:rPr lang="pt-BR" sz="3000" dirty="0" err="1"/>
              <a:t>Portugol</a:t>
            </a:r>
            <a:endParaRPr lang="pt-BR" sz="3000" dirty="0"/>
          </a:p>
          <a:p>
            <a:pPr lvl="1"/>
            <a:r>
              <a:rPr lang="pt-BR" sz="3000" dirty="0"/>
              <a:t>Linguagem de Programação</a:t>
            </a:r>
          </a:p>
          <a:p>
            <a:r>
              <a:rPr lang="pt-BR" sz="3200" b="1" dirty="0"/>
              <a:t>Linguagem Narrativa</a:t>
            </a:r>
          </a:p>
          <a:p>
            <a:pPr lvl="1"/>
            <a:r>
              <a:rPr lang="pt-BR" sz="3000" dirty="0"/>
              <a:t>Calcular a soma de três números digitados </a:t>
            </a:r>
            <a:br>
              <a:rPr lang="pt-BR" sz="3000" dirty="0"/>
            </a:br>
            <a:r>
              <a:rPr lang="pt-BR" sz="3000" dirty="0"/>
              <a:t>  Passo 1 - Solicitar a digitação dos números </a:t>
            </a:r>
            <a:br>
              <a:rPr lang="pt-BR" sz="3000" dirty="0"/>
            </a:br>
            <a:r>
              <a:rPr lang="pt-BR" sz="3000" dirty="0"/>
              <a:t>  Passo 2 - Calcular a soma </a:t>
            </a:r>
            <a:br>
              <a:rPr lang="pt-BR" sz="3000" dirty="0"/>
            </a:br>
            <a:r>
              <a:rPr lang="pt-BR" sz="3000" dirty="0"/>
              <a:t>  Passo 3 - Exibir o resultado </a:t>
            </a:r>
            <a:r>
              <a:rPr lang="pt-BR" sz="2400" dirty="0"/>
              <a:t>	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464952-021B-4A01-9EEC-2ABC8AFDC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5081A-B8FC-44C7-9D8E-0EFE16FC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985EB5-3E66-4423-ADFF-B3291A605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1396752"/>
          </a:xfrm>
        </p:spPr>
        <p:txBody>
          <a:bodyPr/>
          <a:lstStyle/>
          <a:p>
            <a:r>
              <a:rPr lang="pt-BR" altLang="pt-BR" sz="2400" dirty="0"/>
              <a:t>O </a:t>
            </a:r>
            <a:r>
              <a:rPr lang="pt-BR" altLang="pt-BR" sz="2400" b="1" dirty="0"/>
              <a:t>Fluxograma Estendido </a:t>
            </a:r>
            <a:r>
              <a:rPr lang="pt-BR" altLang="pt-BR" sz="2400" dirty="0"/>
              <a:t>é uma forma de representação gráfica para os algoritmos. Ele facilita a visualização da </a:t>
            </a:r>
            <a:r>
              <a:rPr lang="pt-BR" altLang="pt-BR" sz="2400" dirty="0" err="1"/>
              <a:t>seqüência</a:t>
            </a:r>
            <a:r>
              <a:rPr lang="pt-BR" altLang="pt-BR" sz="2400" dirty="0"/>
              <a:t> de execução das instruções e também auxilia no planejamento de programas.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935598-6B25-4ED6-A132-6A5AAB1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9</a:t>
            </a:fld>
            <a:endParaRPr lang="pt-BR" dirty="0"/>
          </a:p>
        </p:txBody>
      </p:sp>
      <p:sp>
        <p:nvSpPr>
          <p:cNvPr id="5" name="Retângulo de cantos arredondados 3">
            <a:extLst>
              <a:ext uri="{FF2B5EF4-FFF2-40B4-BE49-F238E27FC236}">
                <a16:creationId xmlns:a16="http://schemas.microsoft.com/office/drawing/2014/main" id="{5FB15203-147C-4901-8FD3-EC86F85EAC67}"/>
              </a:ext>
            </a:extLst>
          </p:cNvPr>
          <p:cNvSpPr/>
          <p:nvPr/>
        </p:nvSpPr>
        <p:spPr>
          <a:xfrm>
            <a:off x="3125862" y="2708920"/>
            <a:ext cx="1785937" cy="428625"/>
          </a:xfrm>
          <a:prstGeom prst="roundRect">
            <a:avLst/>
          </a:prstGeom>
          <a:solidFill>
            <a:srgbClr val="00B050"/>
          </a:solidFill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inteiro a, b, c, soma</a:t>
            </a:r>
          </a:p>
        </p:txBody>
      </p:sp>
      <p:sp>
        <p:nvSpPr>
          <p:cNvPr id="6" name="Retângulo de cantos arredondados 4">
            <a:extLst>
              <a:ext uri="{FF2B5EF4-FFF2-40B4-BE49-F238E27FC236}">
                <a16:creationId xmlns:a16="http://schemas.microsoft.com/office/drawing/2014/main" id="{F39877D2-AC22-4D18-8D84-CB18F3EDC984}"/>
              </a:ext>
            </a:extLst>
          </p:cNvPr>
          <p:cNvSpPr/>
          <p:nvPr/>
        </p:nvSpPr>
        <p:spPr>
          <a:xfrm>
            <a:off x="3483049" y="3351858"/>
            <a:ext cx="1071563" cy="357187"/>
          </a:xfrm>
          <a:prstGeom prst="roundRect">
            <a:avLst/>
          </a:prstGeom>
          <a:solidFill>
            <a:srgbClr val="00B050"/>
          </a:solidFill>
          <a:ln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7" name="Fluxograma: Exibir 6">
            <a:extLst>
              <a:ext uri="{FF2B5EF4-FFF2-40B4-BE49-F238E27FC236}">
                <a16:creationId xmlns:a16="http://schemas.microsoft.com/office/drawing/2014/main" id="{8D60F72C-7C2C-46AA-8721-195D67FCADFD}"/>
              </a:ext>
            </a:extLst>
          </p:cNvPr>
          <p:cNvSpPr/>
          <p:nvPr/>
        </p:nvSpPr>
        <p:spPr>
          <a:xfrm>
            <a:off x="2768674" y="3923358"/>
            <a:ext cx="2500313" cy="428625"/>
          </a:xfrm>
          <a:prstGeom prst="flowChartDisplay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“Digite 3 valores: ”</a:t>
            </a:r>
          </a:p>
        </p:txBody>
      </p:sp>
      <p:sp>
        <p:nvSpPr>
          <p:cNvPr id="8" name="Fluxograma: Entrada manual 6">
            <a:extLst>
              <a:ext uri="{FF2B5EF4-FFF2-40B4-BE49-F238E27FC236}">
                <a16:creationId xmlns:a16="http://schemas.microsoft.com/office/drawing/2014/main" id="{6C07A8D2-2FFB-4A7E-97AE-151BD3BB1B7F}"/>
              </a:ext>
            </a:extLst>
          </p:cNvPr>
          <p:cNvSpPr/>
          <p:nvPr/>
        </p:nvSpPr>
        <p:spPr>
          <a:xfrm>
            <a:off x="3554487" y="4566295"/>
            <a:ext cx="928687" cy="428625"/>
          </a:xfrm>
          <a:prstGeom prst="flowChartManualInpu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a, b, c</a:t>
            </a:r>
          </a:p>
        </p:txBody>
      </p:sp>
      <p:sp>
        <p:nvSpPr>
          <p:cNvPr id="9" name="Fluxograma: Processo 8">
            <a:extLst>
              <a:ext uri="{FF2B5EF4-FFF2-40B4-BE49-F238E27FC236}">
                <a16:creationId xmlns:a16="http://schemas.microsoft.com/office/drawing/2014/main" id="{9C7530D8-5337-4E01-AC84-B8BC01713FF0}"/>
              </a:ext>
            </a:extLst>
          </p:cNvPr>
          <p:cNvSpPr/>
          <p:nvPr/>
        </p:nvSpPr>
        <p:spPr>
          <a:xfrm>
            <a:off x="3197299" y="5209233"/>
            <a:ext cx="1571625" cy="357187"/>
          </a:xfrm>
          <a:prstGeom prst="flowChartProcess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soma &lt;- a + b + c</a:t>
            </a:r>
          </a:p>
        </p:txBody>
      </p:sp>
      <p:sp>
        <p:nvSpPr>
          <p:cNvPr id="10" name="Fluxograma: Exibir 9">
            <a:extLst>
              <a:ext uri="{FF2B5EF4-FFF2-40B4-BE49-F238E27FC236}">
                <a16:creationId xmlns:a16="http://schemas.microsoft.com/office/drawing/2014/main" id="{9BA7DF22-4B4F-4101-9CA1-4BFD476EB90C}"/>
              </a:ext>
            </a:extLst>
          </p:cNvPr>
          <p:cNvSpPr/>
          <p:nvPr/>
        </p:nvSpPr>
        <p:spPr>
          <a:xfrm>
            <a:off x="2768674" y="5780733"/>
            <a:ext cx="2500313" cy="428625"/>
          </a:xfrm>
          <a:prstGeom prst="flowChartDisplay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“Resultado: ”,soma</a:t>
            </a:r>
          </a:p>
        </p:txBody>
      </p:sp>
      <p:sp>
        <p:nvSpPr>
          <p:cNvPr id="11" name="Retângulo de cantos arredondados 9">
            <a:extLst>
              <a:ext uri="{FF2B5EF4-FFF2-40B4-BE49-F238E27FC236}">
                <a16:creationId xmlns:a16="http://schemas.microsoft.com/office/drawing/2014/main" id="{F9CBE891-F12C-4CC6-A56E-370259FB936A}"/>
              </a:ext>
            </a:extLst>
          </p:cNvPr>
          <p:cNvSpPr/>
          <p:nvPr/>
        </p:nvSpPr>
        <p:spPr>
          <a:xfrm>
            <a:off x="3483049" y="6423670"/>
            <a:ext cx="1071563" cy="357188"/>
          </a:xfrm>
          <a:prstGeom prst="roundRect">
            <a:avLst/>
          </a:prstGeom>
          <a:solidFill>
            <a:srgbClr val="00B050"/>
          </a:solidFill>
          <a:ln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solidFill>
                  <a:schemeClr val="bg1"/>
                </a:solidFill>
              </a:rPr>
              <a:t>fim</a:t>
            </a:r>
          </a:p>
        </p:txBody>
      </p:sp>
      <p:cxnSp>
        <p:nvCxnSpPr>
          <p:cNvPr id="12" name="Conector de seta reta 10">
            <a:extLst>
              <a:ext uri="{FF2B5EF4-FFF2-40B4-BE49-F238E27FC236}">
                <a16:creationId xmlns:a16="http://schemas.microsoft.com/office/drawing/2014/main" id="{F9B67192-86D5-4172-A8F6-C9A400A4057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3911674" y="3243908"/>
            <a:ext cx="214313" cy="1587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1">
            <a:extLst>
              <a:ext uri="{FF2B5EF4-FFF2-40B4-BE49-F238E27FC236}">
                <a16:creationId xmlns:a16="http://schemas.microsoft.com/office/drawing/2014/main" id="{7D748B93-2A45-4F56-92D9-7212F6A5F995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3911674" y="3815408"/>
            <a:ext cx="214313" cy="1587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2">
            <a:extLst>
              <a:ext uri="{FF2B5EF4-FFF2-40B4-BE49-F238E27FC236}">
                <a16:creationId xmlns:a16="http://schemas.microsoft.com/office/drawing/2014/main" id="{28642A28-8C90-4609-9DFC-A55C0FF67D2C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3890243" y="4479777"/>
            <a:ext cx="257175" cy="1587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3">
            <a:extLst>
              <a:ext uri="{FF2B5EF4-FFF2-40B4-BE49-F238E27FC236}">
                <a16:creationId xmlns:a16="http://schemas.microsoft.com/office/drawing/2014/main" id="{0D37A372-3190-4A34-988C-746FA2DF68FA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3893418" y="5084614"/>
            <a:ext cx="214313" cy="34925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4">
            <a:extLst>
              <a:ext uri="{FF2B5EF4-FFF2-40B4-BE49-F238E27FC236}">
                <a16:creationId xmlns:a16="http://schemas.microsoft.com/office/drawing/2014/main" id="{79339FC5-5FBC-4E74-BC11-D183C9F17230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16200000" flipH="1">
            <a:off x="3893418" y="5656114"/>
            <a:ext cx="214313" cy="34925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5">
            <a:extLst>
              <a:ext uri="{FF2B5EF4-FFF2-40B4-BE49-F238E27FC236}">
                <a16:creationId xmlns:a16="http://schemas.microsoft.com/office/drawing/2014/main" id="{1FC6746A-2EB1-4C73-B519-3C2BC827E23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911675" y="6315720"/>
            <a:ext cx="214312" cy="1587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aptop">
            <a:extLst>
              <a:ext uri="{FF2B5EF4-FFF2-40B4-BE49-F238E27FC236}">
                <a16:creationId xmlns:a16="http://schemas.microsoft.com/office/drawing/2014/main" id="{77E2B4DE-8089-42A0-B68E-5B67BE67A88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83299" y="3066108"/>
            <a:ext cx="4429125" cy="3500437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C3F4529-525D-482B-BAC2-7BB356AD4DAC}"/>
              </a:ext>
            </a:extLst>
          </p:cNvPr>
          <p:cNvSpPr txBox="1"/>
          <p:nvPr/>
        </p:nvSpPr>
        <p:spPr>
          <a:xfrm>
            <a:off x="6411987" y="3423295"/>
            <a:ext cx="191611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Digite 3 valores: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0B88CDD-E099-4769-B3AA-BD2E6AD82F65}"/>
              </a:ext>
            </a:extLst>
          </p:cNvPr>
          <p:cNvSpPr txBox="1"/>
          <p:nvPr/>
        </p:nvSpPr>
        <p:spPr>
          <a:xfrm>
            <a:off x="6483424" y="3709045"/>
            <a:ext cx="357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3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3140494-6A39-427E-B93C-D01946A204A0}"/>
              </a:ext>
            </a:extLst>
          </p:cNvPr>
          <p:cNvSpPr txBox="1"/>
          <p:nvPr/>
        </p:nvSpPr>
        <p:spPr>
          <a:xfrm>
            <a:off x="6483424" y="3994795"/>
            <a:ext cx="357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5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81F13DE-E274-4C91-B3F4-9D81B5A08956}"/>
              </a:ext>
            </a:extLst>
          </p:cNvPr>
          <p:cNvSpPr txBox="1"/>
          <p:nvPr/>
        </p:nvSpPr>
        <p:spPr>
          <a:xfrm>
            <a:off x="6483424" y="4329758"/>
            <a:ext cx="357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2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E442FDE-61C5-4602-A202-67477892DAC0}"/>
              </a:ext>
            </a:extLst>
          </p:cNvPr>
          <p:cNvSpPr txBox="1"/>
          <p:nvPr/>
        </p:nvSpPr>
        <p:spPr>
          <a:xfrm>
            <a:off x="6483424" y="4637733"/>
            <a:ext cx="1500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Resultado: 10</a:t>
            </a:r>
          </a:p>
        </p:txBody>
      </p:sp>
      <p:sp>
        <p:nvSpPr>
          <p:cNvPr id="24" name="Seta para a direita 22">
            <a:extLst>
              <a:ext uri="{FF2B5EF4-FFF2-40B4-BE49-F238E27FC236}">
                <a16:creationId xmlns:a16="http://schemas.microsoft.com/office/drawing/2014/main" id="{6E47E884-5754-40EB-9279-98D5FDED37B1}"/>
              </a:ext>
            </a:extLst>
          </p:cNvPr>
          <p:cNvSpPr/>
          <p:nvPr/>
        </p:nvSpPr>
        <p:spPr>
          <a:xfrm>
            <a:off x="1911424" y="2780358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5" name="Seta para a direita 23">
            <a:extLst>
              <a:ext uri="{FF2B5EF4-FFF2-40B4-BE49-F238E27FC236}">
                <a16:creationId xmlns:a16="http://schemas.microsoft.com/office/drawing/2014/main" id="{0643F3BB-574C-44F5-B9A3-CD1A9F26D626}"/>
              </a:ext>
            </a:extLst>
          </p:cNvPr>
          <p:cNvSpPr/>
          <p:nvPr/>
        </p:nvSpPr>
        <p:spPr>
          <a:xfrm>
            <a:off x="1911424" y="3351858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6" name="Seta para a direita 24">
            <a:extLst>
              <a:ext uri="{FF2B5EF4-FFF2-40B4-BE49-F238E27FC236}">
                <a16:creationId xmlns:a16="http://schemas.microsoft.com/office/drawing/2014/main" id="{A33C2E15-F7FB-4B7F-8A79-29FCF8FDF3A0}"/>
              </a:ext>
            </a:extLst>
          </p:cNvPr>
          <p:cNvSpPr/>
          <p:nvPr/>
        </p:nvSpPr>
        <p:spPr>
          <a:xfrm>
            <a:off x="1911424" y="3994795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7" name="Seta para a direita 25">
            <a:extLst>
              <a:ext uri="{FF2B5EF4-FFF2-40B4-BE49-F238E27FC236}">
                <a16:creationId xmlns:a16="http://schemas.microsoft.com/office/drawing/2014/main" id="{BE59C90F-D997-4746-8CC8-8FEE6EFC6096}"/>
              </a:ext>
            </a:extLst>
          </p:cNvPr>
          <p:cNvSpPr/>
          <p:nvPr/>
        </p:nvSpPr>
        <p:spPr>
          <a:xfrm>
            <a:off x="1911424" y="4709170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8" name="Seta para a direita 26">
            <a:extLst>
              <a:ext uri="{FF2B5EF4-FFF2-40B4-BE49-F238E27FC236}">
                <a16:creationId xmlns:a16="http://schemas.microsoft.com/office/drawing/2014/main" id="{798D0FBE-EE90-4CE3-8A64-59E115082591}"/>
              </a:ext>
            </a:extLst>
          </p:cNvPr>
          <p:cNvSpPr/>
          <p:nvPr/>
        </p:nvSpPr>
        <p:spPr>
          <a:xfrm>
            <a:off x="1911424" y="5280670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9" name="Seta para a direita 27">
            <a:extLst>
              <a:ext uri="{FF2B5EF4-FFF2-40B4-BE49-F238E27FC236}">
                <a16:creationId xmlns:a16="http://schemas.microsoft.com/office/drawing/2014/main" id="{B85198F7-2DF7-4EC8-B8C5-7279762F19D0}"/>
              </a:ext>
            </a:extLst>
          </p:cNvPr>
          <p:cNvSpPr/>
          <p:nvPr/>
        </p:nvSpPr>
        <p:spPr>
          <a:xfrm>
            <a:off x="1911424" y="5852170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0" name="Seta para a direita 28">
            <a:extLst>
              <a:ext uri="{FF2B5EF4-FFF2-40B4-BE49-F238E27FC236}">
                <a16:creationId xmlns:a16="http://schemas.microsoft.com/office/drawing/2014/main" id="{5D960CE9-C159-46CE-AD97-55F66E8198C2}"/>
              </a:ext>
            </a:extLst>
          </p:cNvPr>
          <p:cNvSpPr/>
          <p:nvPr/>
        </p:nvSpPr>
        <p:spPr>
          <a:xfrm>
            <a:off x="1911424" y="6495108"/>
            <a:ext cx="571500" cy="285750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201619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9" grpId="0"/>
      <p:bldP spid="20" grpId="0"/>
      <p:bldP spid="21" grpId="0"/>
      <p:bldP spid="22" grpId="0"/>
      <p:bldP spid="23" grpId="0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1B03D-A67C-4A8C-9487-B15D1324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78DDDF-319E-4DFA-AA22-7E9B74A1F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1143000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 err="1"/>
              <a:t>Portugol</a:t>
            </a:r>
            <a:r>
              <a:rPr lang="pt-BR" dirty="0"/>
              <a:t> é uma representação que se assemelha bastante com as linguagens de programação, porém é escrito em português. A </a:t>
            </a:r>
            <a:r>
              <a:rPr lang="pt-BR" dirty="0" err="1"/>
              <a:t>idéia</a:t>
            </a:r>
            <a:r>
              <a:rPr lang="pt-BR" dirty="0"/>
              <a:t> é facilitar a construção e a leitura dos algoritmos usando uma linguagem mais fácil aos alunos.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0C46BE-89D3-436A-8DE8-612AEFF4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10</a:t>
            </a:fld>
            <a:endParaRPr lang="pt-BR" dirty="0"/>
          </a:p>
        </p:txBody>
      </p:sp>
      <p:sp>
        <p:nvSpPr>
          <p:cNvPr id="5" name="laptop">
            <a:extLst>
              <a:ext uri="{FF2B5EF4-FFF2-40B4-BE49-F238E27FC236}">
                <a16:creationId xmlns:a16="http://schemas.microsoft.com/office/drawing/2014/main" id="{79F08A19-AD7E-453D-B4FE-1D96978DFA6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9480" y="2959100"/>
            <a:ext cx="4429125" cy="3500438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16CE57-87EB-4EC5-92D4-AE32AA4E4D44}"/>
              </a:ext>
            </a:extLst>
          </p:cNvPr>
          <p:cNvSpPr txBox="1"/>
          <p:nvPr/>
        </p:nvSpPr>
        <p:spPr>
          <a:xfrm>
            <a:off x="6408168" y="3316288"/>
            <a:ext cx="21621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Digite 3 valores: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9A83E2A-3076-4D97-A09C-A3704C580EDA}"/>
              </a:ext>
            </a:extLst>
          </p:cNvPr>
          <p:cNvSpPr txBox="1"/>
          <p:nvPr/>
        </p:nvSpPr>
        <p:spPr>
          <a:xfrm>
            <a:off x="6479605" y="3602038"/>
            <a:ext cx="357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3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C3898A-E82D-4833-B018-6A5ABD4C7983}"/>
              </a:ext>
            </a:extLst>
          </p:cNvPr>
          <p:cNvSpPr txBox="1"/>
          <p:nvPr/>
        </p:nvSpPr>
        <p:spPr>
          <a:xfrm>
            <a:off x="6479605" y="3887788"/>
            <a:ext cx="357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5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9411E1E-676C-4661-A3C3-35FCA502B032}"/>
              </a:ext>
            </a:extLst>
          </p:cNvPr>
          <p:cNvSpPr txBox="1"/>
          <p:nvPr/>
        </p:nvSpPr>
        <p:spPr>
          <a:xfrm>
            <a:off x="6479605" y="4222750"/>
            <a:ext cx="357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2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E9C44D-6236-4BA6-87BF-FA663A8CCBB8}"/>
              </a:ext>
            </a:extLst>
          </p:cNvPr>
          <p:cNvSpPr txBox="1"/>
          <p:nvPr/>
        </p:nvSpPr>
        <p:spPr>
          <a:xfrm>
            <a:off x="6479605" y="4530725"/>
            <a:ext cx="1500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Resultado: 10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82E60EA-48D9-406E-BB1F-A77D69AE2447}"/>
              </a:ext>
            </a:extLst>
          </p:cNvPr>
          <p:cNvSpPr/>
          <p:nvPr/>
        </p:nvSpPr>
        <p:spPr>
          <a:xfrm>
            <a:off x="2058418" y="3305175"/>
            <a:ext cx="263525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programa calculo</a:t>
            </a:r>
          </a:p>
        </p:txBody>
      </p:sp>
      <p:sp>
        <p:nvSpPr>
          <p:cNvPr id="12" name="Seta para a direita 36">
            <a:extLst>
              <a:ext uri="{FF2B5EF4-FFF2-40B4-BE49-F238E27FC236}">
                <a16:creationId xmlns:a16="http://schemas.microsoft.com/office/drawing/2014/main" id="{FFD5F2D8-7636-4BAD-B393-1752A463662B}"/>
              </a:ext>
            </a:extLst>
          </p:cNvPr>
          <p:cNvSpPr/>
          <p:nvPr/>
        </p:nvSpPr>
        <p:spPr>
          <a:xfrm>
            <a:off x="1415480" y="338772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083D7B-156F-4C9F-ACB3-43346A3BC105}"/>
              </a:ext>
            </a:extLst>
          </p:cNvPr>
          <p:cNvSpPr/>
          <p:nvPr/>
        </p:nvSpPr>
        <p:spPr>
          <a:xfrm>
            <a:off x="2058418" y="3590925"/>
            <a:ext cx="16129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declarações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AA5AA26-1C99-40AB-A62F-3FA5334B4DEB}"/>
              </a:ext>
            </a:extLst>
          </p:cNvPr>
          <p:cNvSpPr/>
          <p:nvPr/>
        </p:nvSpPr>
        <p:spPr>
          <a:xfrm>
            <a:off x="2361630" y="3887788"/>
            <a:ext cx="2392363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inteiro a, b, c, soma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2A801C-0445-412A-9A9C-8C7EA4F11E85}"/>
              </a:ext>
            </a:extLst>
          </p:cNvPr>
          <p:cNvSpPr/>
          <p:nvPr/>
        </p:nvSpPr>
        <p:spPr>
          <a:xfrm>
            <a:off x="2063180" y="4173538"/>
            <a:ext cx="7651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inicio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3627007-8F08-49EB-A38B-A163CD527C00}"/>
              </a:ext>
            </a:extLst>
          </p:cNvPr>
          <p:cNvSpPr/>
          <p:nvPr/>
        </p:nvSpPr>
        <p:spPr>
          <a:xfrm>
            <a:off x="2188593" y="4459288"/>
            <a:ext cx="3722687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escreva (“Digite os valores : ”)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C34EB02-AB71-4BD4-9D43-DE064E2A5985}"/>
              </a:ext>
            </a:extLst>
          </p:cNvPr>
          <p:cNvSpPr/>
          <p:nvPr/>
        </p:nvSpPr>
        <p:spPr>
          <a:xfrm>
            <a:off x="2201293" y="4745038"/>
            <a:ext cx="15906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leia (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a,b,c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DCD3DF2-4ADB-4563-B129-A0B6F22C329E}"/>
              </a:ext>
            </a:extLst>
          </p:cNvPr>
          <p:cNvSpPr/>
          <p:nvPr/>
        </p:nvSpPr>
        <p:spPr>
          <a:xfrm>
            <a:off x="2179068" y="5019675"/>
            <a:ext cx="23209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soma &lt;- a + b + c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8EE49A6-5710-4E51-9EB5-C4FDC45C3982}"/>
              </a:ext>
            </a:extLst>
          </p:cNvPr>
          <p:cNvSpPr/>
          <p:nvPr/>
        </p:nvSpPr>
        <p:spPr>
          <a:xfrm>
            <a:off x="2155255" y="5292725"/>
            <a:ext cx="37036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escreva (“Resultado :”, soma)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A7CD437-6802-41A6-8624-15AD9A31AB69}"/>
              </a:ext>
            </a:extLst>
          </p:cNvPr>
          <p:cNvSpPr/>
          <p:nvPr/>
        </p:nvSpPr>
        <p:spPr>
          <a:xfrm>
            <a:off x="2058418" y="5591175"/>
            <a:ext cx="5207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fim</a:t>
            </a:r>
          </a:p>
        </p:txBody>
      </p:sp>
      <p:sp>
        <p:nvSpPr>
          <p:cNvPr id="21" name="Seta para a direita 45">
            <a:extLst>
              <a:ext uri="{FF2B5EF4-FFF2-40B4-BE49-F238E27FC236}">
                <a16:creationId xmlns:a16="http://schemas.microsoft.com/office/drawing/2014/main" id="{A4365AEF-27E3-4613-AC54-C7FBF1205151}"/>
              </a:ext>
            </a:extLst>
          </p:cNvPr>
          <p:cNvSpPr/>
          <p:nvPr/>
        </p:nvSpPr>
        <p:spPr>
          <a:xfrm>
            <a:off x="1415480" y="367347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2" name="Seta para a direita 46">
            <a:extLst>
              <a:ext uri="{FF2B5EF4-FFF2-40B4-BE49-F238E27FC236}">
                <a16:creationId xmlns:a16="http://schemas.microsoft.com/office/drawing/2014/main" id="{276E75A1-E097-4DA3-9230-A4E94FEDA724}"/>
              </a:ext>
            </a:extLst>
          </p:cNvPr>
          <p:cNvSpPr/>
          <p:nvPr/>
        </p:nvSpPr>
        <p:spPr>
          <a:xfrm>
            <a:off x="1415480" y="395922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3" name="Seta para a direita 47">
            <a:extLst>
              <a:ext uri="{FF2B5EF4-FFF2-40B4-BE49-F238E27FC236}">
                <a16:creationId xmlns:a16="http://schemas.microsoft.com/office/drawing/2014/main" id="{B113758E-E6C2-47BA-B279-7F473E9BC6E9}"/>
              </a:ext>
            </a:extLst>
          </p:cNvPr>
          <p:cNvSpPr/>
          <p:nvPr/>
        </p:nvSpPr>
        <p:spPr>
          <a:xfrm>
            <a:off x="1415480" y="424497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4" name="Seta para a direita 48">
            <a:extLst>
              <a:ext uri="{FF2B5EF4-FFF2-40B4-BE49-F238E27FC236}">
                <a16:creationId xmlns:a16="http://schemas.microsoft.com/office/drawing/2014/main" id="{2C909A2E-EFAA-40C2-B7C3-973798BC1EE6}"/>
              </a:ext>
            </a:extLst>
          </p:cNvPr>
          <p:cNvSpPr/>
          <p:nvPr/>
        </p:nvSpPr>
        <p:spPr>
          <a:xfrm>
            <a:off x="1415480" y="453072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5" name="Seta para a direita 49">
            <a:extLst>
              <a:ext uri="{FF2B5EF4-FFF2-40B4-BE49-F238E27FC236}">
                <a16:creationId xmlns:a16="http://schemas.microsoft.com/office/drawing/2014/main" id="{0CC4A596-D150-41F5-A570-F1B452654239}"/>
              </a:ext>
            </a:extLst>
          </p:cNvPr>
          <p:cNvSpPr/>
          <p:nvPr/>
        </p:nvSpPr>
        <p:spPr>
          <a:xfrm>
            <a:off x="1415480" y="481647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6" name="Seta para a direita 50">
            <a:extLst>
              <a:ext uri="{FF2B5EF4-FFF2-40B4-BE49-F238E27FC236}">
                <a16:creationId xmlns:a16="http://schemas.microsoft.com/office/drawing/2014/main" id="{E7A5A9A9-ACE8-4F7A-835A-51B0864BCB33}"/>
              </a:ext>
            </a:extLst>
          </p:cNvPr>
          <p:cNvSpPr/>
          <p:nvPr/>
        </p:nvSpPr>
        <p:spPr>
          <a:xfrm>
            <a:off x="1415480" y="510222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7" name="Seta para a direita 51">
            <a:extLst>
              <a:ext uri="{FF2B5EF4-FFF2-40B4-BE49-F238E27FC236}">
                <a16:creationId xmlns:a16="http://schemas.microsoft.com/office/drawing/2014/main" id="{EE04E973-0C3A-4A84-87A6-9DB616264E1D}"/>
              </a:ext>
            </a:extLst>
          </p:cNvPr>
          <p:cNvSpPr/>
          <p:nvPr/>
        </p:nvSpPr>
        <p:spPr>
          <a:xfrm>
            <a:off x="1415480" y="538797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8" name="Seta para a direita 52">
            <a:extLst>
              <a:ext uri="{FF2B5EF4-FFF2-40B4-BE49-F238E27FC236}">
                <a16:creationId xmlns:a16="http://schemas.microsoft.com/office/drawing/2014/main" id="{E26D9D52-A130-49D9-9DC3-623CE1E70A28}"/>
              </a:ext>
            </a:extLst>
          </p:cNvPr>
          <p:cNvSpPr/>
          <p:nvPr/>
        </p:nvSpPr>
        <p:spPr>
          <a:xfrm>
            <a:off x="1415480" y="5673725"/>
            <a:ext cx="571500" cy="214313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38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2" grpId="1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6E0DC-281E-46E1-AA2D-C39C7F15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597F0-4F76-43FC-9E4B-A67660EFD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/>
              <a:t>Um </a:t>
            </a:r>
            <a:r>
              <a:rPr lang="pt-BR" sz="2800" b="1" dirty="0"/>
              <a:t>programa de computador </a:t>
            </a:r>
            <a:r>
              <a:rPr lang="pt-BR" sz="2800" dirty="0"/>
              <a:t>é um conjunto de  instruções que representam um algoritmo para a resolução de algum problema. Estas instruções são escritas através de um conjunto de códigos (símbolos e palavras). </a:t>
            </a:r>
          </a:p>
          <a:p>
            <a:pPr lvl="8"/>
            <a:endParaRPr lang="pt-BR" sz="2000" dirty="0"/>
          </a:p>
          <a:p>
            <a:r>
              <a:rPr lang="pt-BR" sz="2800" dirty="0"/>
              <a:t>Este conjunto de códigos possui</a:t>
            </a:r>
            <a:r>
              <a:rPr lang="pt-BR" sz="2800" b="1" dirty="0"/>
              <a:t> regras de estruturação lógica e sintática própria</a:t>
            </a:r>
            <a:r>
              <a:rPr lang="pt-BR" sz="2800" dirty="0"/>
              <a:t>. Dizemos que este conjunto de símbolos e regras formam uma </a:t>
            </a:r>
            <a:r>
              <a:rPr lang="pt-BR" sz="2800" b="1" dirty="0"/>
              <a:t>linguagem de programação</a:t>
            </a:r>
            <a:r>
              <a:rPr lang="pt-BR" sz="2800" dirty="0"/>
              <a:t>.</a:t>
            </a:r>
          </a:p>
          <a:p>
            <a:r>
              <a:rPr lang="pt-BR" sz="2800" dirty="0"/>
              <a:t>As linguagens são divididas em:</a:t>
            </a:r>
          </a:p>
          <a:p>
            <a:pPr lvl="1"/>
            <a:r>
              <a:rPr lang="pt-BR" sz="2600" dirty="0"/>
              <a:t>Linguagens de Baixo Nível – voltadas para a máquina.</a:t>
            </a:r>
          </a:p>
          <a:p>
            <a:pPr lvl="1"/>
            <a:r>
              <a:rPr lang="pt-BR" sz="2600" dirty="0"/>
              <a:t>Linguagens de Alto Nível – voltadas para o ser humano.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18A725-1416-4576-B624-98681357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6845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F9265-5DB0-41B0-81BE-C4474F92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2EA37B-3EBB-47BF-B1B1-F47630AFF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460648"/>
          </a:xfrm>
        </p:spPr>
        <p:txBody>
          <a:bodyPr/>
          <a:lstStyle/>
          <a:p>
            <a:r>
              <a:rPr lang="pt-BR" dirty="0"/>
              <a:t>Um exemplo de programa em C++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B3364F-26F8-4B78-BC99-1BB92DAB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12</a:t>
            </a:fld>
            <a:endParaRPr lang="pt-BR" dirty="0"/>
          </a:p>
        </p:txBody>
      </p:sp>
      <p:sp>
        <p:nvSpPr>
          <p:cNvPr id="5" name="laptop">
            <a:extLst>
              <a:ext uri="{FF2B5EF4-FFF2-40B4-BE49-F238E27FC236}">
                <a16:creationId xmlns:a16="http://schemas.microsoft.com/office/drawing/2014/main" id="{60D7E7A4-5A02-4174-963B-D2B73D51372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67313" y="2580312"/>
            <a:ext cx="4429125" cy="3500438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556FCD-B7FB-4A73-94BA-BB338F061529}"/>
              </a:ext>
            </a:extLst>
          </p:cNvPr>
          <p:cNvSpPr txBox="1"/>
          <p:nvPr/>
        </p:nvSpPr>
        <p:spPr>
          <a:xfrm>
            <a:off x="6096000" y="2937500"/>
            <a:ext cx="21621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Digite 3 valores: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4DD59C3-B3B0-47F0-961F-40822277226E}"/>
              </a:ext>
            </a:extLst>
          </p:cNvPr>
          <p:cNvSpPr txBox="1"/>
          <p:nvPr/>
        </p:nvSpPr>
        <p:spPr>
          <a:xfrm>
            <a:off x="6167438" y="3223250"/>
            <a:ext cx="35718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3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161A4B8-8002-4F87-B1DE-38CCF3EE43F4}"/>
              </a:ext>
            </a:extLst>
          </p:cNvPr>
          <p:cNvSpPr txBox="1"/>
          <p:nvPr/>
        </p:nvSpPr>
        <p:spPr>
          <a:xfrm>
            <a:off x="6167438" y="3509000"/>
            <a:ext cx="35718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5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8ACCF7-4DF1-4CCE-88A8-DE640FCAF066}"/>
              </a:ext>
            </a:extLst>
          </p:cNvPr>
          <p:cNvSpPr txBox="1"/>
          <p:nvPr/>
        </p:nvSpPr>
        <p:spPr>
          <a:xfrm>
            <a:off x="6167438" y="3843962"/>
            <a:ext cx="35718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2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8E55BA-D642-4493-A513-AA129A32485D}"/>
              </a:ext>
            </a:extLst>
          </p:cNvPr>
          <p:cNvSpPr txBox="1"/>
          <p:nvPr/>
        </p:nvSpPr>
        <p:spPr>
          <a:xfrm>
            <a:off x="6167438" y="4151937"/>
            <a:ext cx="150018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solidFill>
                  <a:schemeClr val="bg1">
                    <a:lumMod val="10000"/>
                  </a:schemeClr>
                </a:solidFill>
              </a:rPr>
              <a:t>Resultado: 10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6AC3E4E-39A0-41DD-8407-BC78A90FEC9C}"/>
              </a:ext>
            </a:extLst>
          </p:cNvPr>
          <p:cNvSpPr/>
          <p:nvPr/>
        </p:nvSpPr>
        <p:spPr>
          <a:xfrm>
            <a:off x="2032000" y="2567612"/>
            <a:ext cx="2786063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#include &lt;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iostream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&gt;</a:t>
            </a:r>
          </a:p>
        </p:txBody>
      </p:sp>
      <p:sp>
        <p:nvSpPr>
          <p:cNvPr id="12" name="Seta para a direita 58">
            <a:extLst>
              <a:ext uri="{FF2B5EF4-FFF2-40B4-BE49-F238E27FC236}">
                <a16:creationId xmlns:a16="http://schemas.microsoft.com/office/drawing/2014/main" id="{9E2D2A56-FB49-4634-88A9-399086965785}"/>
              </a:ext>
            </a:extLst>
          </p:cNvPr>
          <p:cNvSpPr/>
          <p:nvPr/>
        </p:nvSpPr>
        <p:spPr>
          <a:xfrm>
            <a:off x="1389063" y="265175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74B6012-FE08-42F0-9F6A-79A001D8A529}"/>
              </a:ext>
            </a:extLst>
          </p:cNvPr>
          <p:cNvSpPr/>
          <p:nvPr/>
        </p:nvSpPr>
        <p:spPr>
          <a:xfrm>
            <a:off x="2032000" y="3151812"/>
            <a:ext cx="14557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int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main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 () {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0066166-C050-46E0-993E-696F937D22E3}"/>
              </a:ext>
            </a:extLst>
          </p:cNvPr>
          <p:cNvSpPr/>
          <p:nvPr/>
        </p:nvSpPr>
        <p:spPr>
          <a:xfrm>
            <a:off x="2317750" y="3437562"/>
            <a:ext cx="2039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int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 a, b, c, soma;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B8F21F-31BA-4767-98DE-97A216A0D89B}"/>
              </a:ext>
            </a:extLst>
          </p:cNvPr>
          <p:cNvSpPr/>
          <p:nvPr/>
        </p:nvSpPr>
        <p:spPr>
          <a:xfrm>
            <a:off x="2160588" y="3723312"/>
            <a:ext cx="3349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std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::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cout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&lt;&lt;“Digite 3 valores : ”;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9E9E1FD-720B-4336-B25D-2B0A59D51266}"/>
              </a:ext>
            </a:extLst>
          </p:cNvPr>
          <p:cNvSpPr/>
          <p:nvPr/>
        </p:nvSpPr>
        <p:spPr>
          <a:xfrm>
            <a:off x="2174875" y="4009062"/>
            <a:ext cx="2200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it-IT" dirty="0">
                <a:solidFill>
                  <a:schemeClr val="bg1">
                    <a:lumMod val="10000"/>
                  </a:schemeClr>
                </a:solidFill>
              </a:rPr>
              <a:t>std::cin&gt;&gt;a&gt;&gt;b&gt;&gt;c;</a:t>
            </a:r>
            <a:endParaRPr lang="pt-BR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A580B4-8D6F-48A5-851E-91601ED175AD}"/>
              </a:ext>
            </a:extLst>
          </p:cNvPr>
          <p:cNvSpPr/>
          <p:nvPr/>
        </p:nvSpPr>
        <p:spPr>
          <a:xfrm>
            <a:off x="2151063" y="4282112"/>
            <a:ext cx="230822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soma = a + b + c;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893BB01-0494-499D-8BF3-11D03474426B}"/>
              </a:ext>
            </a:extLst>
          </p:cNvPr>
          <p:cNvSpPr/>
          <p:nvPr/>
        </p:nvSpPr>
        <p:spPr>
          <a:xfrm>
            <a:off x="2128838" y="4556750"/>
            <a:ext cx="3711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>
              <a:defRPr/>
            </a:pP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std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::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cout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&lt;&lt;"\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nResultado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: “&lt;&lt;soma;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17FF0D1-6F8A-44F0-8A0B-5A518A3D263F}"/>
              </a:ext>
            </a:extLst>
          </p:cNvPr>
          <p:cNvSpPr/>
          <p:nvPr/>
        </p:nvSpPr>
        <p:spPr>
          <a:xfrm>
            <a:off x="2032000" y="4853612"/>
            <a:ext cx="1644650" cy="647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     </a:t>
            </a:r>
            <a:r>
              <a:rPr lang="pt-BR" dirty="0" err="1">
                <a:solidFill>
                  <a:schemeClr val="bg1">
                    <a:lumMod val="10000"/>
                  </a:schemeClr>
                </a:solidFill>
              </a:rPr>
              <a:t>return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 (0); </a:t>
            </a:r>
          </a:p>
          <a:p>
            <a:pPr>
              <a:defRPr/>
            </a:pPr>
            <a:r>
              <a:rPr lang="pt-BR" dirty="0">
                <a:solidFill>
                  <a:schemeClr val="bg1">
                    <a:lumMod val="10000"/>
                  </a:schemeClr>
                </a:solidFill>
              </a:rPr>
              <a:t>}</a:t>
            </a:r>
          </a:p>
        </p:txBody>
      </p:sp>
      <p:sp>
        <p:nvSpPr>
          <p:cNvPr id="20" name="Seta para a direita 66">
            <a:extLst>
              <a:ext uri="{FF2B5EF4-FFF2-40B4-BE49-F238E27FC236}">
                <a16:creationId xmlns:a16="http://schemas.microsoft.com/office/drawing/2014/main" id="{4C46E4B1-70F0-452B-BEFA-8CCD1CB57E99}"/>
              </a:ext>
            </a:extLst>
          </p:cNvPr>
          <p:cNvSpPr/>
          <p:nvPr/>
        </p:nvSpPr>
        <p:spPr>
          <a:xfrm>
            <a:off x="1389063" y="322325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1" name="Seta para a direita 67">
            <a:extLst>
              <a:ext uri="{FF2B5EF4-FFF2-40B4-BE49-F238E27FC236}">
                <a16:creationId xmlns:a16="http://schemas.microsoft.com/office/drawing/2014/main" id="{2335391F-D16F-405A-91BA-37C20285A207}"/>
              </a:ext>
            </a:extLst>
          </p:cNvPr>
          <p:cNvSpPr/>
          <p:nvPr/>
        </p:nvSpPr>
        <p:spPr>
          <a:xfrm>
            <a:off x="1389063" y="350900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2" name="Seta para a direita 68">
            <a:extLst>
              <a:ext uri="{FF2B5EF4-FFF2-40B4-BE49-F238E27FC236}">
                <a16:creationId xmlns:a16="http://schemas.microsoft.com/office/drawing/2014/main" id="{4A6A136A-A0A9-40B7-A179-7CB54BD3EFEA}"/>
              </a:ext>
            </a:extLst>
          </p:cNvPr>
          <p:cNvSpPr/>
          <p:nvPr/>
        </p:nvSpPr>
        <p:spPr>
          <a:xfrm>
            <a:off x="1389063" y="379475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3" name="Seta para a direita 69">
            <a:extLst>
              <a:ext uri="{FF2B5EF4-FFF2-40B4-BE49-F238E27FC236}">
                <a16:creationId xmlns:a16="http://schemas.microsoft.com/office/drawing/2014/main" id="{1D71253D-33D4-4BB8-98AB-7F35092C8D94}"/>
              </a:ext>
            </a:extLst>
          </p:cNvPr>
          <p:cNvSpPr/>
          <p:nvPr/>
        </p:nvSpPr>
        <p:spPr>
          <a:xfrm>
            <a:off x="1389063" y="408050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4" name="Seta para a direita 70">
            <a:extLst>
              <a:ext uri="{FF2B5EF4-FFF2-40B4-BE49-F238E27FC236}">
                <a16:creationId xmlns:a16="http://schemas.microsoft.com/office/drawing/2014/main" id="{9D47AAE8-9E52-48E2-AAC5-4095CA502F41}"/>
              </a:ext>
            </a:extLst>
          </p:cNvPr>
          <p:cNvSpPr/>
          <p:nvPr/>
        </p:nvSpPr>
        <p:spPr>
          <a:xfrm>
            <a:off x="1389063" y="436625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5" name="Seta para a direita 71">
            <a:extLst>
              <a:ext uri="{FF2B5EF4-FFF2-40B4-BE49-F238E27FC236}">
                <a16:creationId xmlns:a16="http://schemas.microsoft.com/office/drawing/2014/main" id="{01819066-9FA1-4705-82CC-F16BA97CBDA1}"/>
              </a:ext>
            </a:extLst>
          </p:cNvPr>
          <p:cNvSpPr/>
          <p:nvPr/>
        </p:nvSpPr>
        <p:spPr>
          <a:xfrm>
            <a:off x="1389063" y="465200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6" name="Seta para a direita 72">
            <a:extLst>
              <a:ext uri="{FF2B5EF4-FFF2-40B4-BE49-F238E27FC236}">
                <a16:creationId xmlns:a16="http://schemas.microsoft.com/office/drawing/2014/main" id="{20E2595D-3A0E-45B6-9D82-D0C3634C45DB}"/>
              </a:ext>
            </a:extLst>
          </p:cNvPr>
          <p:cNvSpPr/>
          <p:nvPr/>
        </p:nvSpPr>
        <p:spPr>
          <a:xfrm>
            <a:off x="1389063" y="4937750"/>
            <a:ext cx="571500" cy="214312"/>
          </a:xfrm>
          <a:prstGeom prst="rightArrow">
            <a:avLst/>
          </a:prstGeom>
          <a:solidFill>
            <a:srgbClr val="FF33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42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2" grpId="1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9F89E-F773-4ACD-A4C7-6B705BA8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de algoritmos pode jogar?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214012-A1B3-44F3-8C80-FD0F6FFD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alguns </a:t>
            </a:r>
            <a:r>
              <a:rPr lang="pt-BR" u="sng" dirty="0"/>
              <a:t>jogos</a:t>
            </a:r>
            <a:r>
              <a:rPr lang="pt-BR" dirty="0"/>
              <a:t>, muito legais, que nos auxiliam com a </a:t>
            </a:r>
            <a:r>
              <a:rPr lang="pt-BR" u="sng" dirty="0"/>
              <a:t>lógica de programação</a:t>
            </a:r>
            <a:r>
              <a:rPr lang="pt-BR" dirty="0"/>
              <a:t>:</a:t>
            </a:r>
          </a:p>
          <a:p>
            <a:pPr lvl="1"/>
            <a:r>
              <a:rPr lang="pt-BR" dirty="0">
                <a:hlinkClick r:id="rId2"/>
              </a:rPr>
              <a:t>http://www.plastelina.net/</a:t>
            </a:r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>
                <a:hlinkClick r:id="rId3"/>
              </a:rPr>
              <a:t>http://code.org/</a:t>
            </a:r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b="1" dirty="0" err="1"/>
              <a:t>LightBot</a:t>
            </a:r>
            <a:endParaRPr lang="pt-BR" b="1" dirty="0"/>
          </a:p>
          <a:p>
            <a:pPr lvl="2"/>
            <a:r>
              <a:rPr lang="pt-BR" dirty="0">
                <a:hlinkClick r:id="rId4"/>
              </a:rPr>
              <a:t>https://www.kongregate.com/games/coolio_niato/light-bot</a:t>
            </a:r>
            <a:endParaRPr lang="pt-BR" dirty="0"/>
          </a:p>
          <a:p>
            <a:pPr lvl="2"/>
            <a:r>
              <a:rPr lang="pt-BR" dirty="0">
                <a:hlinkClick r:id="rId5"/>
              </a:rPr>
              <a:t>http://lightbot.com/</a:t>
            </a:r>
            <a:endParaRPr lang="pt-BR" dirty="0"/>
          </a:p>
          <a:p>
            <a:pPr lvl="2"/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4CBAA2-C858-4641-90E7-2D4E3FC9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13</a:t>
            </a:fld>
            <a:endParaRPr lang="pt-BR" dirty="0"/>
          </a:p>
        </p:txBody>
      </p:sp>
      <p:pic>
        <p:nvPicPr>
          <p:cNvPr id="3076" name="Picture 4" descr="Image result for ps4 controller">
            <a:extLst>
              <a:ext uri="{FF2B5EF4-FFF2-40B4-BE49-F238E27FC236}">
                <a16:creationId xmlns:a16="http://schemas.microsoft.com/office/drawing/2014/main" id="{D5EC607E-602A-47B9-B602-963EB90ED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4197084"/>
            <a:ext cx="3991372" cy="266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898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6015F-AA7C-4B7E-A19E-2575A838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LightBot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13A2A7-E1EF-4B5F-B422-9869CA0B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892696"/>
          </a:xfrm>
        </p:spPr>
        <p:txBody>
          <a:bodyPr>
            <a:normAutofit/>
          </a:bodyPr>
          <a:lstStyle/>
          <a:p>
            <a:r>
              <a:rPr lang="pt-BR" dirty="0"/>
              <a:t>“</a:t>
            </a:r>
            <a:r>
              <a:rPr lang="pt-BR" dirty="0" err="1"/>
              <a:t>LightBot</a:t>
            </a:r>
            <a:r>
              <a:rPr lang="pt-BR" dirty="0"/>
              <a:t> é um jogo de quebra-cabeça baseado em codificação. Ele ensina secretamente lógica de programação enquanto você joga!”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B46A97-670C-4131-8B65-BAB6176C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14</a:t>
            </a:fld>
            <a:endParaRPr lang="pt-BR" dirty="0"/>
          </a:p>
        </p:txBody>
      </p:sp>
      <p:pic>
        <p:nvPicPr>
          <p:cNvPr id="1026" name="Picture 2" descr="http://lightbot.com/img/screen_basic.png">
            <a:extLst>
              <a:ext uri="{FF2B5EF4-FFF2-40B4-BE49-F238E27FC236}">
                <a16:creationId xmlns:a16="http://schemas.microsoft.com/office/drawing/2014/main" id="{D8E37A76-893A-4CC5-85BB-0804299EA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44" y="3902646"/>
            <a:ext cx="4820556" cy="2710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lightbot.com/img/screen_proc.png">
            <a:extLst>
              <a:ext uri="{FF2B5EF4-FFF2-40B4-BE49-F238E27FC236}">
                <a16:creationId xmlns:a16="http://schemas.microsoft.com/office/drawing/2014/main" id="{0B954B31-4628-4CE6-8235-ACE13AC4F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988" y="2780928"/>
            <a:ext cx="4820556" cy="271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689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14490</TotalTime>
  <Words>832</Words>
  <Application>Microsoft Office PowerPoint</Application>
  <PresentationFormat>Widescreen</PresentationFormat>
  <Paragraphs>159</Paragraphs>
  <Slides>15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Symbol</vt:lpstr>
      <vt:lpstr>Times New Roman</vt:lpstr>
      <vt:lpstr>Verdana</vt:lpstr>
      <vt:lpstr>Adjacência</vt:lpstr>
      <vt:lpstr>Lógica e Algoritmos</vt:lpstr>
      <vt:lpstr>Plano de Aula</vt:lpstr>
      <vt:lpstr>Como o computador funciona</vt:lpstr>
      <vt:lpstr>Lógica</vt:lpstr>
      <vt:lpstr>Lógica</vt:lpstr>
      <vt:lpstr>Lógica de Programação</vt:lpstr>
      <vt:lpstr>Algoritmos</vt:lpstr>
      <vt:lpstr>Representação de Algoritmos</vt:lpstr>
      <vt:lpstr>Representação de Algoritmos</vt:lpstr>
      <vt:lpstr>Representação de Algoritmos</vt:lpstr>
      <vt:lpstr>Representação de Algoritmos</vt:lpstr>
      <vt:lpstr>Representação de Algoritmos</vt:lpstr>
      <vt:lpstr>Na aula de algoritmos pode jogar?</vt:lpstr>
      <vt:lpstr>LightBot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Pereira</cp:lastModifiedBy>
  <cp:revision>608</cp:revision>
  <dcterms:created xsi:type="dcterms:W3CDTF">2014-11-11T18:41:35Z</dcterms:created>
  <dcterms:modified xsi:type="dcterms:W3CDTF">2019-02-22T21:02:44Z</dcterms:modified>
</cp:coreProperties>
</file>
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60" r:id="rId4"/>
    <p:sldId id="258" r:id="rId5"/>
    <p:sldId id="505" r:id="rId6"/>
    <p:sldId id="506" r:id="rId7"/>
    <p:sldId id="507" r:id="rId8"/>
    <p:sldId id="508" r:id="rId9"/>
    <p:sldId id="509" r:id="rId10"/>
    <p:sldId id="510" r:id="rId11"/>
    <p:sldId id="511" r:id="rId12"/>
    <p:sldId id="512" r:id="rId13"/>
    <p:sldId id="513" r:id="rId14"/>
    <p:sldId id="514" r:id="rId15"/>
    <p:sldId id="515" r:id="rId16"/>
    <p:sldId id="516" r:id="rId17"/>
    <p:sldId id="517" r:id="rId18"/>
    <p:sldId id="261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504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359"/>
    <a:srgbClr val="FFFF99"/>
    <a:srgbClr val="242424"/>
    <a:srgbClr val="9CCCE4"/>
    <a:srgbClr val="99CC00"/>
    <a:srgbClr val="CCFF33"/>
    <a:srgbClr val="1F1F1F"/>
    <a:srgbClr val="161616"/>
    <a:srgbClr val="151515"/>
    <a:srgbClr val="645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03" autoAdjust="0"/>
  </p:normalViewPr>
  <p:slideViewPr>
    <p:cSldViewPr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84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A83C8-9780-4A31-8569-38B0DA8D1358}" type="datetimeFigureOut">
              <a:rPr lang="pt-BR" smtClean="0"/>
              <a:t>05/06/2022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179F2-03BF-491E-9A74-31122EDDB4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126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6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7C3F-9A52-4101-8413-9D2B16ECC92F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D2D2-9CF4-4A96-89FB-B7C44793EFCB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1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4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D5BD-D1B7-4CAF-B5CD-1F8583B92866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2D673-A7B6-48F7-8858-269D20D456AA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AC0A-F8C1-4AE2-808B-983FCA275C1F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0C662-DFE5-4E23-9D4D-634F983BC77C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88BA-DAB1-41E5-B3E3-07CE213228C6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5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126BB-49DF-4CD4-B860-04894E56CDFD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CF7FC-4871-4DC1-8ADD-D3E891B494BE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5AF9-834A-46E1-BAAC-1564EABDA2DF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336800" cy="58515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4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A593-29BF-4603-9DB3-D6EB9A083068}" type="datetime1">
              <a:rPr lang="pt-BR" smtClean="0"/>
              <a:t>05/06/2022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65C6C26-6F80-468D-9566-90F3CCA6C4F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33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74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9482F01-9CD8-4D33-8E66-0C342BCD037D}" type="datetime1">
              <a:rPr lang="pt-BR" smtClean="0"/>
              <a:t>05/06/2022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45704" y="1412780"/>
            <a:ext cx="7990656" cy="3600401"/>
          </a:xfrm>
        </p:spPr>
        <p:txBody>
          <a:bodyPr/>
          <a:lstStyle/>
          <a:p>
            <a:r>
              <a:rPr lang="pt-BR" sz="6000" dirty="0"/>
              <a:t>Aritmética Binária</a:t>
            </a:r>
            <a:endParaRPr lang="pt-BR" sz="6000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45704" y="5157192"/>
            <a:ext cx="6844522" cy="936104"/>
          </a:xfrm>
        </p:spPr>
        <p:txBody>
          <a:bodyPr>
            <a:normAutofit fontScale="92500" lnSpcReduction="10000"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Thiago Felski Pereira,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Adaptado: Paulo Roberto Valim</a:t>
            </a:r>
          </a:p>
        </p:txBody>
      </p:sp>
      <p:sp>
        <p:nvSpPr>
          <p:cNvPr id="4" name="Retângulo 3"/>
          <p:cNvSpPr/>
          <p:nvPr/>
        </p:nvSpPr>
        <p:spPr>
          <a:xfrm>
            <a:off x="0" y="6"/>
            <a:ext cx="11280576" cy="10079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2000" b="1" dirty="0">
                <a:latin typeface="+mj-lt"/>
                <a:cs typeface="Times New Roman" panose="02020603050405020304" pitchFamily="18" charset="0"/>
              </a:rPr>
              <a:t>UNIVERSIDADE DO VALE DO ITAJAÍ</a:t>
            </a:r>
            <a:br>
              <a:rPr lang="pt-BR" sz="2000" b="1" dirty="0">
                <a:latin typeface="+mj-lt"/>
                <a:cs typeface="Times New Roman" panose="02020603050405020304" pitchFamily="18" charset="0"/>
              </a:rPr>
            </a:br>
            <a:r>
              <a:rPr lang="pt-BR" sz="2000" b="1" dirty="0">
                <a:latin typeface="+mj-lt"/>
                <a:cs typeface="Times New Roman" panose="02020603050405020304" pitchFamily="18" charset="0"/>
              </a:rPr>
              <a:t>LABORATÓRIO DE INTELIGÊNCIA APLICADA</a:t>
            </a:r>
          </a:p>
          <a:p>
            <a:pPr algn="r"/>
            <a:r>
              <a:rPr lang="pt-BR" sz="2000" b="1" dirty="0">
                <a:latin typeface="+mj-lt"/>
                <a:cs typeface="Times New Roman" panose="02020603050405020304" pitchFamily="18" charset="0"/>
              </a:rPr>
              <a:t>LABORATÓRIO DE SISTEMAS EMBARCADOS E DISTRIBUÍDOS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1</a:t>
            </a:fld>
            <a:endParaRPr lang="pt-BR" dirty="0"/>
          </a:p>
        </p:txBody>
      </p:sp>
      <p:cxnSp>
        <p:nvCxnSpPr>
          <p:cNvPr id="8" name="Conector reto 7"/>
          <p:cNvCxnSpPr>
            <a:cxnSpLocks/>
          </p:cNvCxnSpPr>
          <p:nvPr/>
        </p:nvCxnSpPr>
        <p:spPr>
          <a:xfrm>
            <a:off x="1289720" y="5085184"/>
            <a:ext cx="89046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" y="0"/>
            <a:ext cx="1268597" cy="100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C5F52E2-3DA2-4445-B01A-1F34B77BB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1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263073"/>
          </a:xfrm>
        </p:spPr>
        <p:txBody>
          <a:bodyPr/>
          <a:lstStyle/>
          <a:p>
            <a:r>
              <a:rPr lang="pt-BR" dirty="0"/>
              <a:t>A soma de números binários é similar a soma em decimal: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640" y="3084945"/>
            <a:ext cx="5104525" cy="23876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3D9462C-5039-43EF-8667-7E23487F3465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0A042FA0-B7E9-423E-8553-8BF45C96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748FB311-75CE-462C-9EF6-FC33578366E4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57D6A27-9E9E-496A-96F8-738C269BBA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8EB891D-8D62-4A7F-A87A-4D5E5AA225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92703A4-DC79-4324-9F3B-05B9BAB05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31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263073"/>
          </a:xfrm>
        </p:spPr>
        <p:txBody>
          <a:bodyPr/>
          <a:lstStyle/>
          <a:p>
            <a:r>
              <a:rPr lang="pt-BR" dirty="0"/>
              <a:t>A soma de números binários é similar a soma em decimal: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964" y="3071091"/>
            <a:ext cx="5394036" cy="365732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285F7F5-3B58-40E5-B2EF-EF419B47A28C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31CF55F9-AB9F-4722-8569-AB15E70F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3</a:t>
            </a:fld>
            <a:endParaRPr lang="pt-BR" dirty="0"/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E8851AD5-D8AF-475A-A823-8215C6733600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383FD7A-2CD8-4ED8-AE6A-8C398DF7E0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EAD81B1-6B70-4FCA-85ED-01345E579A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72F6AB5-4494-411E-9758-891A0A001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81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Meio somador</a:t>
            </a:r>
          </a:p>
          <a:p>
            <a:pPr lvl="1"/>
            <a:r>
              <a:rPr lang="pt-BR" dirty="0"/>
              <a:t>Realiza a soma de dois bits</a:t>
            </a:r>
          </a:p>
          <a:p>
            <a:pPr lvl="1"/>
            <a:r>
              <a:rPr lang="pt-BR" dirty="0"/>
              <a:t>Não considera o </a:t>
            </a:r>
            <a:r>
              <a:rPr lang="pt-BR" dirty="0" err="1"/>
              <a:t>carry-in</a:t>
            </a:r>
            <a:endParaRPr lang="pt-B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365" y="2688937"/>
            <a:ext cx="2513445" cy="19132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300" y="4079724"/>
            <a:ext cx="3494520" cy="2208076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F035B25-C0A7-402B-9026-93E20315AA82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2738CBB0-6FE5-4738-8B63-290AA082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4</a:t>
            </a:fld>
            <a:endParaRPr lang="pt-BR" dirty="0"/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5C47B3CE-683D-42B2-8587-6648D70B55E5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4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4E2ECFD-FAA2-472A-9751-EC3873BA49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A1ED8D9-E5D9-475B-AAD6-EC6B0A52C8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A2FBB04-FEE9-4D98-A3DB-C9ED3B54F2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9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309" y="2586207"/>
            <a:ext cx="6004236" cy="35399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Meio somador</a:t>
            </a:r>
          </a:p>
          <a:p>
            <a:pPr lvl="1"/>
            <a:r>
              <a:rPr lang="pt-BR" dirty="0"/>
              <a:t>Realiza a soma de dois bits</a:t>
            </a:r>
          </a:p>
          <a:p>
            <a:pPr lvl="1"/>
            <a:r>
              <a:rPr lang="pt-BR" dirty="0"/>
              <a:t>Não considera o </a:t>
            </a:r>
            <a:r>
              <a:rPr lang="pt-BR" dirty="0" err="1"/>
              <a:t>carry-in</a:t>
            </a:r>
            <a:endParaRPr lang="pt-B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727" y="4623842"/>
            <a:ext cx="2794000" cy="1917451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6C5396-5669-4C4E-9147-0628161793E6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10888D8C-EA96-4D67-9CD3-2E34FB06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5</a:t>
            </a:fld>
            <a:endParaRPr lang="pt-BR" dirty="0"/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6BBEC4B1-539D-4491-9CA8-C396A01067BC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5</a:t>
            </a:fld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F18B97B-6B56-4BB8-A315-AE934E50C8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CB2ADEB-79A5-4838-A226-AE3CF433CF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A4CB46C-58B2-44FE-982E-1173CA1F4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39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Meio somador</a:t>
            </a:r>
          </a:p>
          <a:p>
            <a:pPr lvl="1"/>
            <a:r>
              <a:rPr lang="pt-BR" dirty="0"/>
              <a:t>Realiza a soma de dois bits</a:t>
            </a:r>
          </a:p>
          <a:p>
            <a:pPr lvl="1"/>
            <a:r>
              <a:rPr lang="pt-BR" dirty="0"/>
              <a:t>Não considera o </a:t>
            </a:r>
            <a:r>
              <a:rPr lang="pt-BR" dirty="0" err="1"/>
              <a:t>carry-in</a:t>
            </a:r>
            <a:endParaRPr lang="pt-B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27" y="1740149"/>
            <a:ext cx="2794000" cy="19174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0000" contrast="7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0909" y="3311235"/>
            <a:ext cx="3546765" cy="3546765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EEBB46D-C74A-4D4D-B240-BF830A35F381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CD34CCB3-2052-4CC1-9DE8-15C2A6CE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6</a:t>
            </a:fld>
            <a:endParaRPr lang="pt-BR" dirty="0"/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8897F01A-5667-4D35-8750-65547EDF7EC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6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B7E4ADF-3E30-49B5-9026-0A22820659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94C2AB-42A5-4F59-A7A2-15781115B3F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E963014-8F78-4175-A13F-29764E2299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0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Somador completo</a:t>
            </a:r>
          </a:p>
          <a:p>
            <a:pPr lvl="1"/>
            <a:r>
              <a:rPr lang="pt-BR" dirty="0"/>
              <a:t>Realiza a soma de dois bits,</a:t>
            </a:r>
          </a:p>
          <a:p>
            <a:pPr lvl="1"/>
            <a:r>
              <a:rPr lang="pt-BR" dirty="0"/>
              <a:t>Considera o </a:t>
            </a:r>
            <a:r>
              <a:rPr lang="pt-BR" dirty="0" err="1"/>
              <a:t>carry-in</a:t>
            </a:r>
            <a:r>
              <a:rPr lang="pt-BR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764" y="3396673"/>
            <a:ext cx="3276600" cy="3251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373" y="2489200"/>
            <a:ext cx="2197100" cy="1866900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67E9C2C-9601-41A4-BB5C-56AD1A45CC1A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D70E2817-F213-4D3B-A73C-1BCDC5A0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7</a:t>
            </a:fld>
            <a:endParaRPr lang="pt-BR" dirty="0"/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C5CF9356-D873-4BC7-80A9-B1529366E91F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497E357-1502-470C-9741-2BE369E563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99F66DC-485B-4A43-9AA0-E0B5904252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242545D-FAAC-4FBB-BD2F-5CE6446E17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67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Somador completo</a:t>
            </a:r>
          </a:p>
          <a:p>
            <a:pPr lvl="1"/>
            <a:r>
              <a:rPr lang="pt-BR" dirty="0"/>
              <a:t>Realiza a soma de dois bits,</a:t>
            </a:r>
          </a:p>
          <a:p>
            <a:pPr lvl="1"/>
            <a:r>
              <a:rPr lang="pt-BR" dirty="0"/>
              <a:t>Considera o </a:t>
            </a:r>
            <a:r>
              <a:rPr lang="pt-BR" dirty="0" err="1"/>
              <a:t>carry-in</a:t>
            </a:r>
            <a:r>
              <a:rPr lang="pt-BR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373" y="2489200"/>
            <a:ext cx="2197100" cy="1866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550" y="3422650"/>
            <a:ext cx="3086100" cy="3213100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5E8C02D-663C-41D3-BE93-0173277646FA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6CB6B544-9ED2-476C-805A-F3347E33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8</a:t>
            </a:fld>
            <a:endParaRPr lang="pt-BR" dirty="0"/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F7EE59EA-A270-46C0-B118-2C124F2EEAC6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8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E0A2F74-CDC8-4335-9D1F-49653A5CF5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1D52FF5-4172-47D5-8776-23C77CE5B76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F890A51-DAD3-4F84-812E-F6554C18F6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86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8000" contrast="7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8923" y="1971388"/>
            <a:ext cx="4380506" cy="47105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Somador completo</a:t>
            </a:r>
          </a:p>
          <a:p>
            <a:pPr lvl="1"/>
            <a:r>
              <a:rPr lang="pt-BR" dirty="0"/>
              <a:t>Realiza a soma de dois bits,</a:t>
            </a:r>
          </a:p>
          <a:p>
            <a:pPr lvl="1"/>
            <a:r>
              <a:rPr lang="pt-BR" dirty="0"/>
              <a:t>Considera o </a:t>
            </a:r>
            <a:r>
              <a:rPr lang="pt-BR" dirty="0" err="1"/>
              <a:t>carry-in</a:t>
            </a:r>
            <a:r>
              <a:rPr lang="pt-BR" dirty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550" y="3422650"/>
            <a:ext cx="3086100" cy="321310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AA08E92-A4BB-4CF4-86F5-571A342FF89F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260B2D45-C0F2-4BFC-9EBE-E59E195D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9</a:t>
            </a:fld>
            <a:endParaRPr lang="pt-BR" dirty="0"/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7E184163-53F1-4BEF-AC4E-6106AB9F18C5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9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A3E5C39-2591-4E1D-BA6E-505D5D2E43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E488105-36BE-4660-AAE0-8C69304416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BE43529-EF2F-44C4-AB94-B34DA34D19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16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Somador Binário Paralelo</a:t>
            </a:r>
          </a:p>
          <a:p>
            <a:pPr lvl="1"/>
            <a:r>
              <a:rPr lang="pt-BR" dirty="0"/>
              <a:t>Soma de números de vários bits</a:t>
            </a:r>
          </a:p>
          <a:p>
            <a:pPr lvl="2"/>
            <a:r>
              <a:rPr lang="pt-BR" dirty="0"/>
              <a:t>Exemplo de 4 bits: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264" y="3068782"/>
            <a:ext cx="2616200" cy="1308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0" y="4565073"/>
            <a:ext cx="5854700" cy="2108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947" y="4565073"/>
            <a:ext cx="5829300" cy="2006600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C7042AD-AE81-4FF0-AB35-D16C491B3310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254E0C93-BC87-482E-BA44-135F623E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10</a:t>
            </a:fld>
            <a:endParaRPr lang="pt-BR" dirty="0"/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9FE23661-2F5F-424F-8DCB-3B6EE039366E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10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272A2BD-0560-4513-9C81-2CD14BC3C7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FD32ADE-D919-42C2-B171-EBC7FA49577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64A7E24-C0E7-4B4D-88C3-E1482C9A8F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6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Somador Binário Paralelo</a:t>
            </a:r>
          </a:p>
          <a:p>
            <a:pPr lvl="1"/>
            <a:r>
              <a:rPr lang="pt-BR" dirty="0"/>
              <a:t>Generalizando: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474" y="2723816"/>
            <a:ext cx="7874000" cy="265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05970" y="5433469"/>
            <a:ext cx="6898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2000" dirty="0"/>
              <a:t>Considerando um número fixo de bits para a saída igual ao número de bits de entrada. O </a:t>
            </a:r>
            <a:r>
              <a:rPr lang="pt-BR" sz="2000" b="1" dirty="0"/>
              <a:t>overflow</a:t>
            </a:r>
            <a:r>
              <a:rPr lang="pt-BR" sz="2000" dirty="0"/>
              <a:t> é indicado por r</a:t>
            </a:r>
            <a:r>
              <a:rPr lang="pt-BR" sz="2000" baseline="-25000" dirty="0"/>
              <a:t>n+1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24C53DA-E732-493F-9A9C-16EEDC344555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568B883B-7ED5-4125-824B-109A7A70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11</a:t>
            </a:fld>
            <a:endParaRPr lang="pt-BR" dirty="0"/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1B2991F7-2A43-4B2D-B520-BC180A25025B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11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C719917-1ABB-4D96-9731-362B8DFDD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79C3EED-3008-467E-AC52-077AFA4799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CE2D92F-AB7B-4A27-ABC7-6A7DFCC68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93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Somador Binário Paralelo</a:t>
            </a:r>
          </a:p>
          <a:p>
            <a:pPr lvl="1"/>
            <a:r>
              <a:rPr lang="pt-BR" dirty="0"/>
              <a:t>Outra possibilidade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309" y="2710873"/>
            <a:ext cx="8331200" cy="2324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62090" y="5310909"/>
            <a:ext cx="7948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Desvantagem em relação ao circuito anterior: custo ligeiramente mais alto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27D848C-CF38-4247-B229-DA0F9A578583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7F6F8030-0439-4826-BE93-80FA68B6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12</a:t>
            </a:fld>
            <a:endParaRPr lang="pt-BR" dirty="0"/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27113B88-E199-46E4-94FD-87E539C95154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12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7FD3233-22FE-4F25-842F-6FC805CB65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28128C-8780-4287-B335-4A79D8D3B8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11226D9-2C96-4E59-BFA9-433707FC4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8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Subtração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a operação de subtração é preciso ter uma forma de representar números negativos em binário.</a:t>
            </a:r>
          </a:p>
          <a:p>
            <a:r>
              <a:rPr lang="pt-BR" dirty="0"/>
              <a:t>Vamos lembrar que, se simplesmente </a:t>
            </a:r>
            <a:r>
              <a:rPr lang="pt-BR" dirty="0" err="1"/>
              <a:t>adotar-mos</a:t>
            </a:r>
            <a:r>
              <a:rPr lang="pt-BR" dirty="0"/>
              <a:t> um bit como sendo o de sinal, o problema que surge é a necessidade de circuitos diferentes para realizar as operações de adição sobre dados com sinal e sem sinal.</a:t>
            </a:r>
          </a:p>
          <a:p>
            <a:r>
              <a:rPr lang="pt-BR" dirty="0"/>
              <a:t>A representação em em complemento-2 tem a vantagem de permitir que um mesmo circuito realize as operações sobre dados com sinal ou sem sinal.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0ABE73E-C456-4DB1-B54C-5AFB1B2A0952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Número de Slide 3">
            <a:extLst>
              <a:ext uri="{FF2B5EF4-FFF2-40B4-BE49-F238E27FC236}">
                <a16:creationId xmlns:a16="http://schemas.microsoft.com/office/drawing/2014/main" id="{3D1C8622-83A9-414D-80BE-5C85C698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13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DEAC5C8A-EC5B-4852-B9D2-D05A6D84FD33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13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C8B7A8-64A6-489C-8FCC-B12D9E8A0F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217382F-3AD2-4DC3-8334-A603C1308C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6B6FEF6-FF91-43E9-A54E-4614AC4EA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712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Subtração em binário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Números com sinal em complemento-2</a:t>
            </a:r>
          </a:p>
          <a:p>
            <a:pPr lvl="1"/>
            <a:r>
              <a:rPr lang="pt-BR" sz="2400" dirty="0"/>
              <a:t>Bit mais significativo é o bit de sinal	</a:t>
            </a:r>
          </a:p>
          <a:p>
            <a:pPr lvl="2"/>
            <a:r>
              <a:rPr lang="pt-BR" sz="2000" dirty="0"/>
              <a:t>Números positivos: normais, como foi visto</a:t>
            </a:r>
          </a:p>
          <a:p>
            <a:pPr lvl="2"/>
            <a:r>
              <a:rPr lang="pt-BR" sz="2000" dirty="0"/>
              <a:t>Números negativos: o valor representado é dado por:</a:t>
            </a:r>
          </a:p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r>
              <a:rPr lang="pt-BR" sz="2000" dirty="0"/>
              <a:t>Exemplo: com 5 bits é possível representar -16 a 15</a:t>
            </a:r>
          </a:p>
          <a:p>
            <a:pPr marL="914400" lvl="2" indent="0">
              <a:buNone/>
            </a:pPr>
            <a:endParaRPr lang="pt-BR" dirty="0"/>
          </a:p>
          <a:p>
            <a:pPr marL="1371600" lvl="3" indent="0">
              <a:buNone/>
            </a:pPr>
            <a:endParaRPr lang="pt-BR" sz="3200" dirty="0"/>
          </a:p>
        </p:txBody>
      </p:sp>
      <p:grpSp>
        <p:nvGrpSpPr>
          <p:cNvPr id="10" name="Group 9"/>
          <p:cNvGrpSpPr/>
          <p:nvPr/>
        </p:nvGrpSpPr>
        <p:grpSpPr>
          <a:xfrm>
            <a:off x="3350657" y="3290526"/>
            <a:ext cx="4710266" cy="1547464"/>
            <a:chOff x="1826657" y="3556061"/>
            <a:chExt cx="4710266" cy="1547464"/>
          </a:xfrm>
        </p:grpSpPr>
        <p:sp>
          <p:nvSpPr>
            <p:cNvPr id="4" name="Bent Arrow 3"/>
            <p:cNvSpPr/>
            <p:nvPr/>
          </p:nvSpPr>
          <p:spPr>
            <a:xfrm>
              <a:off x="2193636" y="3740727"/>
              <a:ext cx="565728" cy="346364"/>
            </a:xfrm>
            <a:prstGeom prst="bentArrow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759364" y="3556061"/>
              <a:ext cx="37775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Número de bits do valor representado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040353" y="4734193"/>
              <a:ext cx="349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Valor em binário (excluindo o sinal)</a:t>
              </a:r>
            </a:p>
          </p:txBody>
        </p:sp>
        <p:sp>
          <p:nvSpPr>
            <p:cNvPr id="7" name="Bent Arrow 6"/>
            <p:cNvSpPr/>
            <p:nvPr/>
          </p:nvSpPr>
          <p:spPr>
            <a:xfrm flipV="1">
              <a:off x="2476500" y="4583423"/>
              <a:ext cx="565728" cy="335436"/>
            </a:xfrm>
            <a:prstGeom prst="bentArrow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26657" y="4010877"/>
              <a:ext cx="92692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200" dirty="0"/>
                <a:t>2</a:t>
              </a:r>
              <a:r>
                <a:rPr lang="pt-BR" sz="3200" baseline="30000" dirty="0"/>
                <a:t>b</a:t>
              </a:r>
              <a:r>
                <a:rPr lang="pt-BR" sz="3200" dirty="0"/>
                <a:t>-N</a:t>
              </a:r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18" y="5262552"/>
            <a:ext cx="4052454" cy="14490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BB429AE-B1D7-4491-9C03-84B4B56C3089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Número de Slide 3">
            <a:extLst>
              <a:ext uri="{FF2B5EF4-FFF2-40B4-BE49-F238E27FC236}">
                <a16:creationId xmlns:a16="http://schemas.microsoft.com/office/drawing/2014/main" id="{C00D5B9B-4B30-4A54-9504-CEE50B4E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14</a:t>
            </a:fld>
            <a:endParaRPr lang="pt-BR" dirty="0"/>
          </a:p>
        </p:txBody>
      </p:sp>
      <p:sp>
        <p:nvSpPr>
          <p:cNvPr id="14" name="Espaço Reservado para Número de Slide 3">
            <a:extLst>
              <a:ext uri="{FF2B5EF4-FFF2-40B4-BE49-F238E27FC236}">
                <a16:creationId xmlns:a16="http://schemas.microsoft.com/office/drawing/2014/main" id="{5CB25EDB-4707-4D77-9323-20983D372C76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14</a:t>
            </a:fld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FB9A8DE-5297-46B4-AD47-AFAFC180D4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4F84730-232B-45E0-81FF-C0416E341A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E97881B-8EF8-4355-B24D-D89B605C6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9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Subtração em binário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Alguns exemplos de operações com dados de 5 bits: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300" y="2806700"/>
            <a:ext cx="3581400" cy="1244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4392036"/>
            <a:ext cx="4445000" cy="1422400"/>
          </a:xfrm>
          <a:prstGeom prst="rect">
            <a:avLst/>
          </a:prstGeom>
        </p:spPr>
      </p:pic>
      <p:sp>
        <p:nvSpPr>
          <p:cNvPr id="6" name="Rectangular Callout 5"/>
          <p:cNvSpPr/>
          <p:nvPr/>
        </p:nvSpPr>
        <p:spPr>
          <a:xfrm>
            <a:off x="7774710" y="2581564"/>
            <a:ext cx="2436091" cy="450273"/>
          </a:xfrm>
          <a:prstGeom prst="wedgeRectCallout">
            <a:avLst>
              <a:gd name="adj1" fmla="val -70596"/>
              <a:gd name="adj2" fmla="val 5737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ADIÇÃO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7774710" y="4166900"/>
            <a:ext cx="2436091" cy="450273"/>
          </a:xfrm>
          <a:prstGeom prst="wedgeRectCallout">
            <a:avLst>
              <a:gd name="adj1" fmla="val -70596"/>
              <a:gd name="adj2" fmla="val 5737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SUBTRAÇÃO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238AF75A-6313-49F2-A3C6-D0F4A872B78D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52946E26-37EC-47A4-B686-0640136F0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15</a:t>
            </a:fld>
            <a:endParaRPr lang="pt-BR" dirty="0"/>
          </a:p>
        </p:txBody>
      </p:sp>
      <p:sp>
        <p:nvSpPr>
          <p:cNvPr id="10" name="Espaço Reservado para Número de Slide 3">
            <a:extLst>
              <a:ext uri="{FF2B5EF4-FFF2-40B4-BE49-F238E27FC236}">
                <a16:creationId xmlns:a16="http://schemas.microsoft.com/office/drawing/2014/main" id="{A426F731-CFDD-43CD-89D5-905EB00322EC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15</a:t>
            </a:fld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EB10FDB-4E66-4317-908F-1160501089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87386C4-AA9C-4D3C-AD80-D21E532941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445283B-CD87-47BF-9ABF-36C9365DE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3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Subtração em binário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Alguns exemplos de operações com dados de 5 bits: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245" y="2782599"/>
            <a:ext cx="4762500" cy="31242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3AF8B94A-E5C4-4B14-BC01-496253E8F9EF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F4384C81-7788-4029-9EBA-204743A9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16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5DA20A9E-FAEF-420A-AEAC-F54522F18C96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16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52B904B-2FEA-4F32-A89D-880462DD7C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55D582A-BA1F-4A9E-895B-07B386DB25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644DE9D-DB25-4D20-A344-66FB34702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41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Subtração em binário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Princípio da subtração em binário:</a:t>
            </a:r>
          </a:p>
          <a:p>
            <a:pPr lvl="1"/>
            <a:r>
              <a:rPr lang="pt-BR" dirty="0"/>
              <a:t>Usar a representação do valor correspondente ao minuendo em complemento-2 e fazer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736" y="3347027"/>
            <a:ext cx="3987800" cy="20574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1AE0271-A044-436C-AFE6-9CB1ACB0C0E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EDC67B34-8E5A-449D-BF37-A8A611A7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17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FF5D443A-E7EC-44E2-ACDD-5E964B9753D0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17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76EF541-E3FE-403E-A22D-9A5CA8A1BF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3D04479-AAE6-44AC-99AA-E65F25CBAC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4EE8F8C-27B6-4A39-BFC7-52BFC2850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70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Subtração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Forma de obter o correspondente negativo de um valor em complemento-2:</a:t>
            </a:r>
          </a:p>
          <a:p>
            <a:pPr lvl="1"/>
            <a:r>
              <a:rPr lang="pt-BR" sz="2400" dirty="0"/>
              <a:t>Obter o complemento-1 do valor (inverter todos os bits)</a:t>
            </a:r>
          </a:p>
          <a:p>
            <a:pPr lvl="1"/>
            <a:r>
              <a:rPr lang="pt-BR" sz="2400" dirty="0"/>
              <a:t> adicionar 1 ao resultado obtido no passo anterior.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709554"/>
            <a:ext cx="8356600" cy="27051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98545D6-7189-492D-8953-20E67B5D70F8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B7520AB8-D5B5-467C-BC40-CC634E74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18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09D2B9BD-530F-488E-969B-18F72DE1637B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18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ACA2B4D-A40F-412A-B3A8-1F92235995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5C5290D-A74D-4221-9644-B82C22157E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18B638E-3EDB-4A74-92A9-004770A42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Subtração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Forma de obter o correspondente negativo de um valor em complemento-2:</a:t>
            </a:r>
          </a:p>
          <a:p>
            <a:pPr lvl="1"/>
            <a:r>
              <a:rPr lang="pt-BR" sz="2400" dirty="0"/>
              <a:t>Obter o complemento-1 do valor (inverter todos os bits)</a:t>
            </a:r>
          </a:p>
          <a:p>
            <a:pPr lvl="1"/>
            <a:r>
              <a:rPr lang="pt-BR" sz="2400" dirty="0"/>
              <a:t> adicionar 1 ao resultado obtido no passo anterior.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10" y="3568704"/>
            <a:ext cx="8204200" cy="30353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2056415-A0F6-48D3-8930-78A999031F1E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A0783E21-C6FB-484F-85A3-26912313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19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2116EB93-C002-42CE-8C1B-23ADECE8C93C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19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E6D4276-C0E3-48BC-BFC2-B0BEFCB41F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94F351D-27FB-47D4-BB48-09C7540524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0742EF1-8BC8-47B3-B1A6-218E5CC71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Subtração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Funciona também para transformar números negativos em positivos: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251200"/>
            <a:ext cx="8483600" cy="34036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7C1843E-0FAC-46C6-9BD8-A57C6A5934B8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85201481-FC35-4837-9DDE-DE9A7DA4A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20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4120B43B-3790-4CC4-B4E0-FC0420CB6DE9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20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86B7CCC-8662-462A-9385-B5D1E201BE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24DD346-7558-4F6C-AAA3-76E55BE2D3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DE8F6AD-BE21-4709-8131-44463C567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64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Subtração de números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fazer para realizar a operação indicada abaixo usando o circuito anterior?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509" y="2648527"/>
            <a:ext cx="2844800" cy="660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328" y="3403807"/>
            <a:ext cx="7610763" cy="27223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809" y="5408181"/>
            <a:ext cx="1295400" cy="736600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DD03C70-16DB-4F9F-AB01-183386F7109F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F0574FD0-237B-4D32-9D76-E29F2DB6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21</a:t>
            </a:fld>
            <a:endParaRPr lang="pt-BR" dirty="0"/>
          </a:p>
        </p:txBody>
      </p:sp>
      <p:sp>
        <p:nvSpPr>
          <p:cNvPr id="9" name="Espaço Reservado para Número de Slide 3">
            <a:extLst>
              <a:ext uri="{FF2B5EF4-FFF2-40B4-BE49-F238E27FC236}">
                <a16:creationId xmlns:a16="http://schemas.microsoft.com/office/drawing/2014/main" id="{A0E81935-07FB-4B11-A40D-725938429600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21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5B5E4B2-4691-47ED-BFF1-43A6EA0EBF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AB01BC1-2CE6-4A65-B30E-2D1662E5F9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935EBD7-6552-4D4E-8879-79241CF352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8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Somador/</a:t>
            </a:r>
            <a:r>
              <a:rPr lang="pt-BR" dirty="0" err="1"/>
              <a:t>subtrator</a:t>
            </a:r>
            <a:r>
              <a:rPr lang="pt-BR" dirty="0"/>
              <a:t> paralelo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7870" r="-7870"/>
          <a:stretch>
            <a:fillRect/>
          </a:stretch>
        </p:blipFill>
        <p:spPr>
          <a:xfrm>
            <a:off x="1604818" y="1715655"/>
            <a:ext cx="8229600" cy="452596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785" y="1567855"/>
            <a:ext cx="7658100" cy="461010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78A0E1B-2BA4-4DCD-B917-4609C8665306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CBA71CE4-FA20-4EFC-BC4D-3662E247B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22</a:t>
            </a:fld>
            <a:endParaRPr lang="pt-BR" dirty="0"/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C36B604C-E952-4043-90E5-DF5DC89576DA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22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F76EB5F-0B86-4980-A6FF-D3B58939DB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B988FF9-E1A8-43D5-8C90-9D364005FB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9214853-3537-420A-86A0-4F9001E05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7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Somador/</a:t>
            </a:r>
            <a:r>
              <a:rPr lang="pt-BR" dirty="0" err="1"/>
              <a:t>Subtrator</a:t>
            </a:r>
            <a:r>
              <a:rPr lang="pt-BR" dirty="0"/>
              <a:t> paralelo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Para obter o somador/</a:t>
            </a:r>
            <a:r>
              <a:rPr lang="pt-BR" sz="2400" dirty="0" err="1"/>
              <a:t>subtrator</a:t>
            </a:r>
            <a:r>
              <a:rPr lang="pt-BR" sz="2400" dirty="0"/>
              <a:t>, precisamos de um inversor que possa ser controlado (ativado ou desativado)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54" y="2899063"/>
            <a:ext cx="6527800" cy="251460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5D658EB-1710-486C-ADC7-F1225DD93651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12CFF90A-536F-401E-BC35-F9C4B051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23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9BF5BACF-07A9-437D-B5D8-52C064E23831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23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54A67C1-C20C-4549-8D70-5B1FDE9095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53EE3FD-937E-44D3-86DC-134DD72B7B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F80FC56-6186-43BC-A672-2CB90DD7F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961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Somador/</a:t>
            </a:r>
            <a:r>
              <a:rPr lang="pt-BR" dirty="0" err="1"/>
              <a:t>Subtrator</a:t>
            </a:r>
            <a:r>
              <a:rPr lang="pt-BR" dirty="0"/>
              <a:t> paralelo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-2932" b="-2932"/>
          <a:stretch>
            <a:fillRect/>
          </a:stretch>
        </p:blipFill>
        <p:spPr/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4D9DD41-F342-48E7-9D6E-39336DBCD8B9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ECA0C0AF-65F9-4049-B90D-2F378F7C9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24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6D38329C-AA0B-46AC-8A1C-2527DB055481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24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72A0CD8-B49D-45A9-A140-53882EE614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3259320-B7AB-45CE-A806-B444F5B981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2CC10A6-783D-4ED8-AD64-A7B85A7F3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4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pt-BR" dirty="0"/>
              <a:t>Ocorre quando o resultado de uma operação é maior (ou menor) do que o valor máximo (ou mínimo) que pode ser representado com um determinado número (fixo) de bits.</a:t>
            </a:r>
          </a:p>
          <a:p>
            <a:pPr lvl="1"/>
            <a:r>
              <a:rPr lang="pt-BR" dirty="0"/>
              <a:t>Exemplo: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Em geral, o overflow precisa ser detectado e tratado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747" y="3779985"/>
            <a:ext cx="4057735" cy="2593109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67F779-0D19-484C-AA6D-7A4168953BA1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894623E4-8AFD-4C47-AC71-B391CCDA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25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4A4C55F3-3E75-4A24-A56D-B1B6D542840C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25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2652358-D6AF-456B-9109-BC4EAD08A8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738377D-1D12-46B8-8209-CCA9D6705A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33F90EA-4D33-4B96-B03E-3CCF3080A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557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overflow só ocorre se os dois operandos forem positivos ou negativos</a:t>
            </a:r>
          </a:p>
          <a:p>
            <a:r>
              <a:rPr lang="pt-BR" dirty="0"/>
              <a:t>Exemplo (5 bits):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683000"/>
            <a:ext cx="4445000" cy="3175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725" y="3553692"/>
            <a:ext cx="4318000" cy="308610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84D74E7-6041-42BD-BF11-7ECE369F8A85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C6B48632-B3A7-42D1-9D56-55222031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26</a:t>
            </a:fld>
            <a:endParaRPr lang="pt-BR" dirty="0"/>
          </a:p>
        </p:txBody>
      </p:sp>
      <p:sp>
        <p:nvSpPr>
          <p:cNvPr id="8" name="Espaço Reservado para Número de Slide 3">
            <a:extLst>
              <a:ext uri="{FF2B5EF4-FFF2-40B4-BE49-F238E27FC236}">
                <a16:creationId xmlns:a16="http://schemas.microsoft.com/office/drawing/2014/main" id="{62EC884F-E8CD-400A-B8B3-53467F22D97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26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B18959E-C1F4-4506-89F8-E07FFAAEA1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AF3BA2A-B7C1-4F6A-A957-F3784BC19D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6978E95-74D7-4F3F-84B3-409645C043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74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Circuito somador/</a:t>
            </a:r>
            <a:r>
              <a:rPr lang="pt-BR" dirty="0" err="1"/>
              <a:t>subtrator</a:t>
            </a:r>
            <a:r>
              <a:rPr lang="pt-BR" dirty="0"/>
              <a:t> com detecção de overflow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546" y="2902340"/>
            <a:ext cx="6608618" cy="3466132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D198A15-C14B-451A-8955-6EE57E790112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FA5A3837-579D-41D6-8AAF-8DEF066A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965C6C26-6F80-468D-9566-90F3CCA6C4FC}" type="slidenum">
              <a:rPr lang="pt-BR" smtClean="0"/>
              <a:t>27</a:t>
            </a:fld>
            <a:endParaRPr lang="pt-BR" dirty="0"/>
          </a:p>
        </p:txBody>
      </p:sp>
      <p:sp>
        <p:nvSpPr>
          <p:cNvPr id="7" name="Espaço Reservado para Número de Slide 3">
            <a:extLst>
              <a:ext uri="{FF2B5EF4-FFF2-40B4-BE49-F238E27FC236}">
                <a16:creationId xmlns:a16="http://schemas.microsoft.com/office/drawing/2014/main" id="{5996B21D-C4A4-4AD3-91D3-55CB0B0FBD4E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27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B6DA4C3-C3F8-4442-84E7-BD6AEA0E7F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777C548-F5E4-48D4-8600-E0292FDF70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F6E8D3E-7BC5-4E21-B2A7-15C97358C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6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pergunta">
            <a:extLst>
              <a:ext uri="{FF2B5EF4-FFF2-40B4-BE49-F238E27FC236}">
                <a16:creationId xmlns:a16="http://schemas.microsoft.com/office/drawing/2014/main" id="{CC482939-4CA7-4B5C-942A-B022C66D3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922985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1016E07-6676-4D9F-84C3-0DA255F2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 pela 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D0E9C-AD7C-455C-88CE-D6B4B15F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114300" indent="0" algn="r">
              <a:buNone/>
            </a:pPr>
            <a:r>
              <a:rPr lang="pt-BR" sz="3200" u="sng" dirty="0"/>
              <a:t>contato</a:t>
            </a:r>
            <a:r>
              <a:rPr lang="pt-BR" sz="3200" dirty="0"/>
              <a:t>: felski@univali.br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F168F6-54B4-4590-9613-DC579FD2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C6C26-6F80-468D-9566-90F3CCA6C4FC}" type="slidenum">
              <a:rPr lang="pt-BR" smtClean="0"/>
              <a:t>28</a:t>
            </a:fld>
            <a:endParaRPr lang="pt-BR" dirty="0"/>
          </a:p>
        </p:txBody>
      </p:sp>
      <p:sp>
        <p:nvSpPr>
          <p:cNvPr id="6" name="Espaço Reservado para Número de Slide 3">
            <a:extLst>
              <a:ext uri="{FF2B5EF4-FFF2-40B4-BE49-F238E27FC236}">
                <a16:creationId xmlns:a16="http://schemas.microsoft.com/office/drawing/2014/main" id="{98B2A4FE-BFE0-43A2-B9A0-FE8B00AA12AD}"/>
              </a:ext>
            </a:extLst>
          </p:cNvPr>
          <p:cNvSpPr txBox="1">
            <a:spLocks/>
          </p:cNvSpPr>
          <p:nvPr/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5C6C26-6F80-468D-9566-90F3CCA6C4FC}" type="slidenum">
              <a:rPr lang="pt-BR" smtClean="0"/>
              <a:pPr/>
              <a:t>28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6F84E8-F221-4FE2-AB8B-D8848289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717" y="6269758"/>
            <a:ext cx="731520" cy="55028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9F42466-33B4-4D95-B47F-8A7D68770C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196" y="5013181"/>
            <a:ext cx="971804" cy="506269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B2A9CC4-0B0B-40CC-9BEF-81CA62C3889B}"/>
              </a:ext>
            </a:extLst>
          </p:cNvPr>
          <p:cNvCxnSpPr>
            <a:cxnSpLocks/>
          </p:cNvCxnSpPr>
          <p:nvPr/>
        </p:nvCxnSpPr>
        <p:spPr>
          <a:xfrm>
            <a:off x="767408" y="1268760"/>
            <a:ext cx="100021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697B9BAF-0F9C-44AD-8F7E-FD59B7B82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923" y="4031660"/>
            <a:ext cx="971803" cy="9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9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15167</TotalTime>
  <Words>665</Words>
  <Application>Microsoft Office PowerPoint</Application>
  <PresentationFormat>Widescreen</PresentationFormat>
  <Paragraphs>158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29" baseType="lpstr">
      <vt:lpstr>Adjacência</vt:lpstr>
      <vt:lpstr>Aritmética Binária</vt:lpstr>
      <vt:lpstr>Soma de números binários</vt:lpstr>
      <vt:lpstr>Soma de números binários</vt:lpstr>
      <vt:lpstr>Soma de números binários</vt:lpstr>
      <vt:lpstr>Soma de números binários</vt:lpstr>
      <vt:lpstr>Soma de números binários</vt:lpstr>
      <vt:lpstr>Soma de números binários</vt:lpstr>
      <vt:lpstr>Soma de números binários</vt:lpstr>
      <vt:lpstr>Soma de números binários</vt:lpstr>
      <vt:lpstr>Soma de números binários</vt:lpstr>
      <vt:lpstr>Soma de números binários</vt:lpstr>
      <vt:lpstr>Soma de números binários</vt:lpstr>
      <vt:lpstr>Subtração de números binários</vt:lpstr>
      <vt:lpstr>Subtração em binário</vt:lpstr>
      <vt:lpstr>Subtração em binário</vt:lpstr>
      <vt:lpstr>Subtração em binário</vt:lpstr>
      <vt:lpstr>Subtração em binário</vt:lpstr>
      <vt:lpstr>Subtração de números binários</vt:lpstr>
      <vt:lpstr>Subtração de números binários</vt:lpstr>
      <vt:lpstr>Subtração de números binários</vt:lpstr>
      <vt:lpstr>Subtração de números binários</vt:lpstr>
      <vt:lpstr>Somador/subtrator paralelo</vt:lpstr>
      <vt:lpstr>Somador/Subtrator paralelo</vt:lpstr>
      <vt:lpstr>Somador/Subtrator paralelo</vt:lpstr>
      <vt:lpstr>Overflow</vt:lpstr>
      <vt:lpstr>Overflow</vt:lpstr>
      <vt:lpstr>Overflow</vt:lpstr>
      <vt:lpstr>Obrigado pela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alexrese</dc:creator>
  <cp:lastModifiedBy>Thiago Felski Pereira</cp:lastModifiedBy>
  <cp:revision>623</cp:revision>
  <dcterms:created xsi:type="dcterms:W3CDTF">2014-11-11T18:41:35Z</dcterms:created>
  <dcterms:modified xsi:type="dcterms:W3CDTF">2022-06-05T23:57:04Z</dcterms:modified>
</cp:coreProperties>
</file>
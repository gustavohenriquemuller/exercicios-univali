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9144000" cy="51435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2" roundtripDataSignature="AMtx7mjPWZ/WO6gON0SdzZb3ZK1yMmG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14B325-F0E4-478B-A403-6F41EA44EB52}">
  <a:tblStyle styleId="{9714B325-F0E4-478B-A403-6F41EA44EB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2be66a1ef_0_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122be66a1ef_0_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22be66a1ef_0_1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122be66a1ef_0_1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7ca76ad28_1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127ca76ad28_1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7ca76ad28_1_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127ca76ad28_1_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7ca76ad28_1_2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27ca76ad28_1_2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7e5b7bbd8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127e5b7bbd8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7e5b7bbd8_0_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127e5b7bbd8_0_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7e5b7bbd8_0_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127e5b7bbd8_0_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2be66a1ef_0_2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122be66a1ef_0_2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7fb8198e1_0_12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127fb8198e1_0_12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7fb8198e1_0_9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127fb8198e1_0_9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7fb8198e1_0_2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127fb8198e1_0_2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7fb8198e1_0_4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127fb8198e1_0_4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27fb8198e1_0_4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127fb8198e1_0_4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27fb8198e1_0_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127fb8198e1_0_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7fb8198e1_0_6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127fb8198e1_0_6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7fb8198e1_0_6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127fb8198e1_0_6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27fb8198e1_0_10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127fb8198e1_0_10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2be66a1ef_0_4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122be66a1ef_0_4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2be66a1ef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122be66a1ef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493425"/>
            <a:ext cx="69468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TECNOLOGIAS DE COMUNICAÇÃO</a:t>
            </a:r>
            <a:r>
              <a:rPr b="1" i="0" lang="pt-BR" sz="4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16" y="37061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g124d8db2236_2_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2be66a1ef_0_7"/>
          <p:cNvSpPr txBox="1"/>
          <p:nvPr>
            <p:ph type="title"/>
          </p:nvPr>
        </p:nvSpPr>
        <p:spPr>
          <a:xfrm>
            <a:off x="313131" y="440182"/>
            <a:ext cx="368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g122be66a1ef_0_7"/>
          <p:cNvSpPr txBox="1"/>
          <p:nvPr>
            <p:ph idx="1" type="body"/>
          </p:nvPr>
        </p:nvSpPr>
        <p:spPr>
          <a:xfrm>
            <a:off x="378383" y="1084383"/>
            <a:ext cx="8387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Char char="•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Histórico e Motivação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Char char="•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Meio Físico e Padronização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Char char="•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Técnicas de Modulação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Char char="•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Técnicas de Codificação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Char char="•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Mitigação de problemas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g122be66a1ef_0_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2be66a1ef_0_12"/>
          <p:cNvSpPr txBox="1"/>
          <p:nvPr>
            <p:ph type="title"/>
          </p:nvPr>
        </p:nvSpPr>
        <p:spPr>
          <a:xfrm>
            <a:off x="313120" y="440175"/>
            <a:ext cx="655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Histórico e Motivação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" name="Google Shape;75;g122be66a1e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8225" y="1178400"/>
            <a:ext cx="2285600" cy="30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122be66a1ef_0_12"/>
          <p:cNvSpPr txBox="1"/>
          <p:nvPr>
            <p:ph idx="1" type="body"/>
          </p:nvPr>
        </p:nvSpPr>
        <p:spPr>
          <a:xfrm>
            <a:off x="6518225" y="4239675"/>
            <a:ext cx="22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latin typeface="Helvetica Neue"/>
                <a:ea typeface="Helvetica Neue"/>
                <a:cs typeface="Helvetica Neue"/>
                <a:sym typeface="Helvetica Neue"/>
              </a:rPr>
              <a:t>Robert Metcalfe e David Boggs</a:t>
            </a:r>
            <a:endParaRPr b="1" sz="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latin typeface="Helvetica Neue"/>
                <a:ea typeface="Helvetica Neue"/>
                <a:cs typeface="Helvetica Neue"/>
                <a:sym typeface="Helvetica Neue"/>
              </a:rPr>
              <a:t>Fonte:</a:t>
            </a:r>
            <a:r>
              <a:rPr lang="pt-BR" sz="700">
                <a:latin typeface="Helvetica Neue"/>
                <a:ea typeface="Helvetica Neue"/>
                <a:cs typeface="Helvetica Neue"/>
                <a:sym typeface="Helvetica Neue"/>
              </a:rPr>
              <a:t>https://www.allaboutcircuits.com/news/david-boggs-co-father-of-ethernet/</a:t>
            </a:r>
            <a:endParaRPr sz="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g122be66a1ef_0_12"/>
          <p:cNvSpPr txBox="1"/>
          <p:nvPr>
            <p:ph idx="1" type="body"/>
          </p:nvPr>
        </p:nvSpPr>
        <p:spPr>
          <a:xfrm>
            <a:off x="378375" y="1178400"/>
            <a:ext cx="55833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Projetado e implementado por Robert Metcalfe e David Boggs em 1973;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Surgiu de uma necessidade da Xerox de conectar seus computadores pessoais à sua primeira impressora à laser, a SLOT;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Inicialmente, esta primeira rede local utilizava um cabo coaxial grosso e possuía uma taxa de transmissão de 3Mbps.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122be66a1ef_0_1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g122be66a1ef_0_1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7ca76ad28_1_4"/>
          <p:cNvSpPr txBox="1"/>
          <p:nvPr>
            <p:ph type="title"/>
          </p:nvPr>
        </p:nvSpPr>
        <p:spPr>
          <a:xfrm>
            <a:off x="313120" y="440175"/>
            <a:ext cx="6558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Histórico e Motivação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g127ca76ad28_1_4"/>
          <p:cNvSpPr txBox="1"/>
          <p:nvPr>
            <p:ph idx="1" type="body"/>
          </p:nvPr>
        </p:nvSpPr>
        <p:spPr>
          <a:xfrm>
            <a:off x="378375" y="1178400"/>
            <a:ext cx="55833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Projetado e implementado por Robert Metcalfe e David Boggs em 1973;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Surgiu de uma necessidade da Xerox de conectar seus computadores pessoais à sua primeira impressora à laser, a SLOT;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Inicialmente, esta primeira rede local utilizava um cabo coaxial grosso e possuía uma taxa de transmissão de 3Mbps.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g127ca76ad28_1_4"/>
          <p:cNvSpPr txBox="1"/>
          <p:nvPr>
            <p:ph idx="1" type="body"/>
          </p:nvPr>
        </p:nvSpPr>
        <p:spPr>
          <a:xfrm>
            <a:off x="6194350" y="3463325"/>
            <a:ext cx="27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latin typeface="Helvetica Neue"/>
                <a:ea typeface="Helvetica Neue"/>
                <a:cs typeface="Helvetica Neue"/>
                <a:sym typeface="Helvetica Neue"/>
              </a:rPr>
              <a:t>Xerox Scanning Laser Output Terminal</a:t>
            </a:r>
            <a:endParaRPr b="1" sz="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latin typeface="Helvetica Neue"/>
                <a:ea typeface="Helvetica Neue"/>
                <a:cs typeface="Helvetica Neue"/>
                <a:sym typeface="Helvetica Neue"/>
              </a:rPr>
              <a:t>Fonte</a:t>
            </a:r>
            <a:r>
              <a:rPr b="1" lang="pt-BR" sz="7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pt-BR" sz="700">
                <a:latin typeface="Helvetica Neue"/>
                <a:ea typeface="Helvetica Neue"/>
                <a:cs typeface="Helvetica Neue"/>
                <a:sym typeface="Helvetica Neue"/>
              </a:rPr>
              <a:t>https://www.computerhistory.org/revolution/input-output/14/351/1887</a:t>
            </a:r>
            <a:endParaRPr sz="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g127ca76ad28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4475" y="1146675"/>
            <a:ext cx="2797125" cy="219108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127ca76ad28_1_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g127ca76ad28_1_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27ca76ad28_1_16"/>
          <p:cNvSpPr txBox="1"/>
          <p:nvPr>
            <p:ph type="title"/>
          </p:nvPr>
        </p:nvSpPr>
        <p:spPr>
          <a:xfrm>
            <a:off x="313120" y="440175"/>
            <a:ext cx="6558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Histórico e Motivação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127ca76ad28_1_16"/>
          <p:cNvSpPr txBox="1"/>
          <p:nvPr>
            <p:ph idx="1" type="body"/>
          </p:nvPr>
        </p:nvSpPr>
        <p:spPr>
          <a:xfrm>
            <a:off x="378375" y="1178400"/>
            <a:ext cx="8359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Em 1978, desenvolveu-se o padrão DIX para uma Ethernet de 10Mbps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Em 1983, o padrão DIX se tornou o padrão IEEE 802.3;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Robert Metcalfe saiu da Xerox e fundou a 3Com, que vendia adaptadores Ethernet.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127ca76ad28_1_16"/>
          <p:cNvSpPr txBox="1"/>
          <p:nvPr>
            <p:ph idx="1" type="body"/>
          </p:nvPr>
        </p:nvSpPr>
        <p:spPr>
          <a:xfrm>
            <a:off x="3159525" y="4341775"/>
            <a:ext cx="27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Arquitetura da Ethernet Clássica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pt-BR" sz="10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TANENBAUM, 2011</a:t>
            </a: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g127ca76ad28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800" y="2398250"/>
            <a:ext cx="6618400" cy="18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27ca76ad28_1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" name="Google Shape;99;g127ca76ad28_1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7ca76ad28_1_25"/>
          <p:cNvSpPr txBox="1"/>
          <p:nvPr>
            <p:ph type="title"/>
          </p:nvPr>
        </p:nvSpPr>
        <p:spPr>
          <a:xfrm>
            <a:off x="313120" y="440175"/>
            <a:ext cx="655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Meio Físico e Padronização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127ca76ad28_1_25"/>
          <p:cNvSpPr txBox="1"/>
          <p:nvPr>
            <p:ph idx="1" type="body"/>
          </p:nvPr>
        </p:nvSpPr>
        <p:spPr>
          <a:xfrm>
            <a:off x="1206325" y="4341775"/>
            <a:ext cx="27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Thick Ethernet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Helvetica Neue"/>
                <a:ea typeface="Helvetica Neue"/>
                <a:cs typeface="Helvetica Neue"/>
                <a:sym typeface="Helvetica Neue"/>
              </a:rPr>
              <a:t>Fonte: </a:t>
            </a:r>
            <a:r>
              <a:rPr lang="pt-BR" sz="800">
                <a:latin typeface="Helvetica Neue"/>
                <a:ea typeface="Helvetica Neue"/>
                <a:cs typeface="Helvetica Neue"/>
                <a:sym typeface="Helvetica Neue"/>
              </a:rPr>
              <a:t>https://stringfixer.com/pt/10BASE-5</a:t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Google Shape;106;g127ca76ad28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592" y="1150838"/>
            <a:ext cx="3044649" cy="30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127ca76ad28_1_25"/>
          <p:cNvPicPr preferRelativeResize="0"/>
          <p:nvPr/>
        </p:nvPicPr>
        <p:blipFill rotWithShape="1">
          <a:blip r:embed="rId4">
            <a:alphaModFix/>
          </a:blip>
          <a:srcRect b="0" l="13404" r="6614" t="0"/>
          <a:stretch/>
        </p:blipFill>
        <p:spPr>
          <a:xfrm>
            <a:off x="4822438" y="1146675"/>
            <a:ext cx="3238975" cy="3034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g127ca76ad28_1_25"/>
          <p:cNvSpPr txBox="1"/>
          <p:nvPr>
            <p:ph idx="1" type="body"/>
          </p:nvPr>
        </p:nvSpPr>
        <p:spPr>
          <a:xfrm>
            <a:off x="5043325" y="4341775"/>
            <a:ext cx="27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Thin </a:t>
            </a: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Ethernet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latin typeface="Helvetica Neue"/>
                <a:ea typeface="Helvetica Neue"/>
                <a:cs typeface="Helvetica Neue"/>
                <a:sym typeface="Helvetica Neue"/>
              </a:rPr>
              <a:t>Fonte: </a:t>
            </a:r>
            <a:r>
              <a:rPr lang="pt-BR" sz="800">
                <a:latin typeface="Helvetica Neue"/>
                <a:ea typeface="Helvetica Neue"/>
                <a:cs typeface="Helvetica Neue"/>
                <a:sym typeface="Helvetica Neue"/>
              </a:rPr>
              <a:t>https://stringfixer.com/pt/10BASE-2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g127ca76ad28_1_2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g127ca76ad28_1_2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7e5b7bbd8_0_0"/>
          <p:cNvSpPr txBox="1"/>
          <p:nvPr>
            <p:ph type="title"/>
          </p:nvPr>
        </p:nvSpPr>
        <p:spPr>
          <a:xfrm>
            <a:off x="313125" y="440175"/>
            <a:ext cx="779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Ethernet clássica x Ethernet Comutada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g127e5b7bbd8_0_0"/>
          <p:cNvSpPr txBox="1"/>
          <p:nvPr>
            <p:ph idx="1" type="body"/>
          </p:nvPr>
        </p:nvSpPr>
        <p:spPr>
          <a:xfrm>
            <a:off x="378375" y="1178400"/>
            <a:ext cx="835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Dificuldades em lidar com arquitetura de cabo único;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Utilização de Hubs e par trançado;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127e5b7bbd8_0_0"/>
          <p:cNvSpPr txBox="1"/>
          <p:nvPr>
            <p:ph idx="1" type="body"/>
          </p:nvPr>
        </p:nvSpPr>
        <p:spPr>
          <a:xfrm>
            <a:off x="3159525" y="4341775"/>
            <a:ext cx="27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Conexões com um Hub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pt-BR" sz="10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TANENBAUM, 2011</a:t>
            </a: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8" name="Google Shape;118;g127e5b7bbd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625" y="1946400"/>
            <a:ext cx="3269421" cy="22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27e5b7bbd8_0_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" name="Google Shape;120;g127e5b7bbd8_0_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7e5b7bbd8_0_8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Ethernet clássica x Ethernet Comutada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g127e5b7bbd8_0_8"/>
          <p:cNvSpPr txBox="1"/>
          <p:nvPr>
            <p:ph idx="1" type="body"/>
          </p:nvPr>
        </p:nvSpPr>
        <p:spPr>
          <a:xfrm>
            <a:off x="378375" y="1178400"/>
            <a:ext cx="8359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Topologia com Hub divide 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capacidade de transferência entre os dispositivos conectados;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Utilização do Switch,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encaminhamento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quadros e isolamento de comunicação;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127e5b7bbd8_0_8"/>
          <p:cNvSpPr txBox="1"/>
          <p:nvPr>
            <p:ph idx="1" type="body"/>
          </p:nvPr>
        </p:nvSpPr>
        <p:spPr>
          <a:xfrm>
            <a:off x="3063525" y="4370800"/>
            <a:ext cx="27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Conexões com um Hub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pt-BR" sz="10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TANENBAUM, 2011</a:t>
            </a:r>
            <a:r>
              <a:rPr lang="pt-BR" sz="10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g127e5b7bbd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875" y="2288926"/>
            <a:ext cx="3162500" cy="20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27e5b7bbd8_0_8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g127e5b7bbd8_0_8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27e5b7bbd8_0_16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Fast Ethernet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127e5b7bbd8_0_16"/>
          <p:cNvSpPr txBox="1"/>
          <p:nvPr>
            <p:ph idx="1" type="body"/>
          </p:nvPr>
        </p:nvSpPr>
        <p:spPr>
          <a:xfrm>
            <a:off x="378375" y="1178400"/>
            <a:ext cx="83595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Necessidade de uma largura de banda maior;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Especificação do IEEE 802.3u em 1995;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Manteve todas as especificações do IEEE 802.3, porém,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reduziu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em 10 vezes a taxa de bit;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Totalmente baseado no par trançado, conectores BNC não eram mais utilizados;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Utilização do Ethernet 100Base-TX Categoria 5;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g127e5b7bbd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879" y="2981725"/>
            <a:ext cx="2069476" cy="164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127e5b7bbd8_0_16"/>
          <p:cNvSpPr txBox="1"/>
          <p:nvPr>
            <p:ph idx="1" type="body"/>
          </p:nvPr>
        </p:nvSpPr>
        <p:spPr>
          <a:xfrm>
            <a:off x="3815925" y="4351300"/>
            <a:ext cx="399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Helvetica Neue"/>
                <a:ea typeface="Helvetica Neue"/>
                <a:cs typeface="Helvetica Neue"/>
                <a:sym typeface="Helvetica Neue"/>
              </a:rPr>
              <a:t>100Base-TX RJ-45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Helvetica Neue"/>
                <a:ea typeface="Helvetica Neue"/>
                <a:cs typeface="Helvetica Neue"/>
                <a:sym typeface="Helvetica Neue"/>
              </a:rPr>
              <a:t>Fonte:https://ladder.com.br/pt-br/produto-detalhe/rockwell-automation/1585j-m4tbjm-2</a:t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g127e5b7bbd8_0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" name="Google Shape;140;g127e5b7bbd8_0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2be66a1ef_0_22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Ethernet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122be66a1ef_0_2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g122be66a1ef_0_2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48" name="Google Shape;148;g122be66a1ef_0_22"/>
          <p:cNvGraphicFramePr/>
          <p:nvPr/>
        </p:nvGraphicFramePr>
        <p:xfrm>
          <a:off x="313050" y="1151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{9714B325-F0E4-478B-A403-6F41EA44EB52}</a:tableStyleId>
              </a:tblPr>
              <a:tblGrid>
                <a:gridCol w="1425475"/>
                <a:gridCol w="1425475"/>
                <a:gridCol w="1425475"/>
                <a:gridCol w="1425475"/>
                <a:gridCol w="1425475"/>
                <a:gridCol w="1425475"/>
              </a:tblGrid>
              <a:tr h="340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Norma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Sigla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Cabo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Conector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Taxa de Transf.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Alcance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3409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IEEE 802.3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10Base2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Coaxial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BNC</a:t>
                      </a:r>
                      <a:endParaRPr sz="1200"/>
                    </a:p>
                  </a:txBody>
                  <a:tcPr marT="91425" marB="91425" marR="91425" marL="91425" anchor="ctr"/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10Mb/s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185m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409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10Base5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Coaxial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BNC</a:t>
                      </a:r>
                      <a:endParaRPr sz="1200"/>
                    </a:p>
                  </a:txBody>
                  <a:tcPr marT="91425" marB="91425" marR="91425" marL="91425" anchor="ctr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500m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11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10BaseT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Par trançado </a:t>
                      </a: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(Cat3)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RJ-45</a:t>
                      </a:r>
                      <a:endParaRPr sz="1200"/>
                    </a:p>
                  </a:txBody>
                  <a:tcPr marT="91425" marB="91425" marR="91425" marL="91425" anchor="ctr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113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IEEE 802.3u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(Fast Ethernet)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100BaseT4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Par trançado (Cat3, 4 ou 5)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RJ-45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100Mb/s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100m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100BaseTX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Par trançado (Cat5 ou acima)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IEEE 802.3ab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(Gigabit Ethernet)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1000Base-TX</a:t>
                      </a:r>
                      <a:endParaRPr sz="12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Par trançado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(Cat5e ou acima)</a:t>
                      </a:r>
                      <a:endParaRPr sz="12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RJ-45</a:t>
                      </a:r>
                      <a:endParaRPr sz="12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1000Mb/s</a:t>
                      </a:r>
                      <a:endParaRPr sz="12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75m</a:t>
                      </a:r>
                      <a:endParaRPr sz="12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9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1000Base-T</a:t>
                      </a:r>
                      <a:endParaRPr sz="1200"/>
                    </a:p>
                  </a:txBody>
                  <a:tcPr marT="91425" marB="91425" marR="91425" marL="91425" anchor="ctr"/>
                </a:tc>
                <a:tc vMerge="1"/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7fb8198e1_0_127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Ethernet Clássico - Manchester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g127fb8198e1_0_127"/>
          <p:cNvSpPr txBox="1"/>
          <p:nvPr>
            <p:ph idx="1" type="body"/>
          </p:nvPr>
        </p:nvSpPr>
        <p:spPr>
          <a:xfrm>
            <a:off x="208175" y="1079550"/>
            <a:ext cx="83595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Ethernet clássico (10 Mbit/s): Manchester.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0 é representado como uma transição de +V para -V;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1 é representado como uma transição de -V para +V;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Vantagens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próprio sinal serve como clock (</a:t>
            </a:r>
            <a:r>
              <a:rPr i="1" lang="pt-BR" sz="1600">
                <a:latin typeface="Helvetica Neue"/>
                <a:ea typeface="Helvetica Neue"/>
                <a:cs typeface="Helvetica Neue"/>
                <a:sym typeface="Helvetica Neue"/>
              </a:rPr>
              <a:t>self-clocking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Transições constantes entre 0 e 1.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Simplicidade.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Desvantagens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Eficiência não tão alta (50%).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g127fb8198e1_0_12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g127fb8198e1_0_12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57" name="Google Shape;157;g127fb8198e1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6825" y="1157988"/>
            <a:ext cx="2796689" cy="34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fb8198e1_0_93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Técnicas de Codificação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127fb8198e1_0_93"/>
          <p:cNvSpPr txBox="1"/>
          <p:nvPr>
            <p:ph idx="1" type="body"/>
          </p:nvPr>
        </p:nvSpPr>
        <p:spPr>
          <a:xfrm>
            <a:off x="378375" y="1096975"/>
            <a:ext cx="835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Para qualquer versão do Ethernet acima da clássica, a codificação NRZI é usada.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NRZI: ‘1’ inverte a voltagem do sinal, ‘0’ mantém;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g127fb8198e1_0_9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g127fb8198e1_0_9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66" name="Google Shape;166;g127fb8198e1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238" y="1864975"/>
            <a:ext cx="6091523" cy="276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7fb8198e1_0_27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Fast Ethernet - 4b/5b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g127fb8198e1_0_27"/>
          <p:cNvSpPr txBox="1"/>
          <p:nvPr>
            <p:ph idx="1" type="body"/>
          </p:nvPr>
        </p:nvSpPr>
        <p:spPr>
          <a:xfrm>
            <a:off x="327175" y="1037775"/>
            <a:ext cx="8359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Fast Ethernet (100 Mbit/s): 4b/5b + NRZI.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Stream de bits à ser enviado é separado em cadeias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4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Cada cadeia de 4 bits é mapeada à uma outra cadeia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5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Aumento de 25% de tamanho no dado a ser enviado;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80% de eficiência;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Impede a presença de mais de três zeros sequenciais;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16 valores + 3 valores de controle (11111, 00000, 00100);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Maior eficiência que o Manchester.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127fb8198e1_0_2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" name="Google Shape;174;g127fb8198e1_0_2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75" name="Google Shape;175;g127fb8198e1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188" y="638163"/>
            <a:ext cx="214312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27fb8198e1_0_40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1 Gigabit</a:t>
            </a: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 Ethernet - 8b/10b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g127fb8198e1_0_40"/>
          <p:cNvSpPr txBox="1"/>
          <p:nvPr>
            <p:ph idx="1" type="body"/>
          </p:nvPr>
        </p:nvSpPr>
        <p:spPr>
          <a:xfrm>
            <a:off x="378375" y="1178400"/>
            <a:ext cx="83595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Gigabit Ethernet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(1 Gbit/s): 8b/10b + NRZI.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Stream de bits à ser enviado é separado em cadeias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8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Cada cadeia de 8 bits é mapeada à uma outra cadeia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10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Aumento de 25% de tamanho no dado a ser enviado;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80% de eficiência;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Impede a presença de mais de cinco zeros sequenciais;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g127fb8198e1_0_4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g127fb8198e1_0_4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7fb8198e1_0_48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10 Gigabit Ethernet: 64b/66b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g127fb8198e1_0_48"/>
          <p:cNvSpPr txBox="1"/>
          <p:nvPr>
            <p:ph idx="1" type="body"/>
          </p:nvPr>
        </p:nvSpPr>
        <p:spPr>
          <a:xfrm>
            <a:off x="378375" y="1178400"/>
            <a:ext cx="83595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Gigabit Ethernet (10 Gbit/s): 64b/66b + NRZI.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Stream de bits à ser enviado é separado em cadeias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64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Cada cadeia de 64 bits é mapeada à uma outra cadeia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66 bits de tamanho;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Aumento de ~3% de tamanho no dado a ser enviado;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~96% de eficiência;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Maior eficiência que o 8b/10b.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127fb8198e1_0_48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g127fb8198e1_0_48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7fb8198e1_0_16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Técnica de Modulação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127fb8198e1_0_16"/>
          <p:cNvSpPr txBox="1"/>
          <p:nvPr>
            <p:ph idx="1" type="body"/>
          </p:nvPr>
        </p:nvSpPr>
        <p:spPr>
          <a:xfrm>
            <a:off x="178575" y="1158000"/>
            <a:ext cx="835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PAM: Pulse Amplitude Modulation;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g127fb8198e1_0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9" name="Google Shape;199;g127fb8198e1_0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00" name="Google Shape;200;g127fb8198e1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600" y="1889725"/>
            <a:ext cx="3531084" cy="260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127fb8198e1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125" y="1889725"/>
            <a:ext cx="4580925" cy="26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7fb8198e1_0_62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Mitigação de Problemas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g127fb8198e1_0_62"/>
          <p:cNvSpPr txBox="1"/>
          <p:nvPr>
            <p:ph idx="1" type="body"/>
          </p:nvPr>
        </p:nvSpPr>
        <p:spPr>
          <a:xfrm>
            <a:off x="378375" y="1178400"/>
            <a:ext cx="8359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Na parte LLC da camada de enlace: Algoritmo CRC;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Na parte MAC da camada de enlace: CSMA/CD com </a:t>
            </a:r>
            <a:r>
              <a:rPr i="1" lang="pt-BR" sz="1600">
                <a:latin typeface="Helvetica Neue"/>
                <a:ea typeface="Helvetica Neue"/>
                <a:cs typeface="Helvetica Neue"/>
                <a:sym typeface="Helvetica Neue"/>
              </a:rPr>
              <a:t>backoff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binário;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CSMA/CD originalmente era usado porque o Ethernet era um barramento;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precisa ser usado em </a:t>
            </a:r>
            <a:r>
              <a:rPr lang="pt-BR" sz="1600" u="sng">
                <a:latin typeface="Helvetica Neue"/>
                <a:ea typeface="Helvetica Neue"/>
                <a:cs typeface="Helvetica Neue"/>
                <a:sym typeface="Helvetica Neue"/>
              </a:rPr>
              <a:t>hubs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 em links </a:t>
            </a:r>
            <a:r>
              <a:rPr lang="pt-BR" sz="1600" u="sng">
                <a:latin typeface="Helvetica Neue"/>
                <a:ea typeface="Helvetica Neue"/>
                <a:cs typeface="Helvetica Neue"/>
                <a:sym typeface="Helvetica Neue"/>
              </a:rPr>
              <a:t>half-duplex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Em links full-duplex e switches, não é necessário.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127fb8198e1_0_6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9" name="Google Shape;209;g127fb8198e1_0_6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10" name="Google Shape;210;g127fb8198e1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438" y="2997450"/>
            <a:ext cx="2512636" cy="17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127fb8198e1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000" y="2902200"/>
            <a:ext cx="2655577" cy="17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7fb8198e1_0_69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Controle de fluxo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g127fb8198e1_0_69"/>
          <p:cNvSpPr txBox="1"/>
          <p:nvPr>
            <p:ph idx="1" type="body"/>
          </p:nvPr>
        </p:nvSpPr>
        <p:spPr>
          <a:xfrm>
            <a:off x="392250" y="1072663"/>
            <a:ext cx="8359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Somente presente no Gigabit Ethernet (802.3ab);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“Uma velocidade de 1 Gbit/s é bastante alta. Por exemplo, se um receptor estiver ocupado com alguma outra tarefa, mesmo durante 1 ms, e não esvaziar o buffer de entrada em alguma porta, nesse intervalo poderão se acumular até 1.953 quadros” - TANENBAUM, 2011;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Uma extremidade pode enviar um quadro especial de controle (PAUSE), informando que a extremidade receptora precisa pausar o envio de quadros (tipo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0x8808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As pausas são dadas em unidades de tempo mínimo por quadro. Para o Gigabit Ethernet, a unidade de tempo é 512 ns, permitindo pausas de até 33,6 ms.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(512ns * 65.536).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g127fb8198e1_0_6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g127fb8198e1_0_6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27fb8198e1_0_104"/>
          <p:cNvSpPr txBox="1"/>
          <p:nvPr>
            <p:ph type="title"/>
          </p:nvPr>
        </p:nvSpPr>
        <p:spPr>
          <a:xfrm>
            <a:off x="313125" y="440175"/>
            <a:ext cx="78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Controle de fluxo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g127fb8198e1_0_10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6" name="Google Shape;226;g127fb8198e1_0_10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27" name="Google Shape;227;g127fb8198e1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00" y="1026125"/>
            <a:ext cx="6557575" cy="354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2be66a1ef_0_47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g122be66a1ef_0_47"/>
          <p:cNvSpPr txBox="1"/>
          <p:nvPr>
            <p:ph idx="1" type="body"/>
          </p:nvPr>
        </p:nvSpPr>
        <p:spPr>
          <a:xfrm>
            <a:off x="378383" y="1084383"/>
            <a:ext cx="838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0212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TANENBAUM, A. S. </a:t>
            </a:r>
            <a:r>
              <a:rPr b="1" lang="pt-BR" sz="1200">
                <a:solidFill>
                  <a:srgbClr val="20212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Redes de computadores</a:t>
            </a:r>
            <a:r>
              <a:rPr lang="pt-BR" sz="1200">
                <a:solidFill>
                  <a:srgbClr val="20212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5a Edição, Pearson Education do Brasil, 2011. </a:t>
            </a:r>
            <a:endParaRPr sz="1200">
              <a:solidFill>
                <a:srgbClr val="20212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PETERSON</a:t>
            </a: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Larry. DAVIE, Bruce. </a:t>
            </a:r>
            <a:r>
              <a:rPr b="1"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Computer Networks: A Systems Approach</a:t>
            </a: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2019.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NEUHAUS, Ralf. </a:t>
            </a:r>
            <a:r>
              <a:rPr b="1"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 Beginner’s Guide to Ethernet 802.3 Application Note</a:t>
            </a: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2005.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g122be66a1ef_0_4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5" name="Google Shape;235;g122be66a1ef_0_4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22be66a1ef_0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122be66a1ef_0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122be66a1ef_0_0"/>
          <p:cNvSpPr txBox="1"/>
          <p:nvPr/>
        </p:nvSpPr>
        <p:spPr>
          <a:xfrm>
            <a:off x="1080516" y="1493425"/>
            <a:ext cx="69468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TECNOLOGIAS DE COMUNICAÇÃO</a:t>
            </a:r>
            <a:r>
              <a:rPr b="1" i="0" lang="pt-BR" sz="4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122be66a1ef_0_0"/>
          <p:cNvSpPr txBox="1"/>
          <p:nvPr/>
        </p:nvSpPr>
        <p:spPr>
          <a:xfrm>
            <a:off x="1080516" y="37061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g122be66a1ef_0_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
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5143500" cx="9144000"/>
  <p:notesSz cx="9144000" cy="5143500"/>
  <p:embeddedFontLst>
    <p:embeddedFont>
      <p:font typeface="Helvetica Neue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46" roundtripDataSignature="AMtx7mi029a67RdpXwbVFL0D1RPRPFPI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8FB1003-B5C3-428A-8613-7B6CA3F3D61D}">
  <a:tblStyle styleId="{38FB1003-B5C3-428A-8613-7B6CA3F3D61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HelveticaNeue-regular.fntdata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font" Target="fonts/HelveticaNeue-italic.fntdata"/><Relationship Id="rId21" Type="http://schemas.openxmlformats.org/officeDocument/2006/relationships/slide" Target="slides/slide15.xml"/><Relationship Id="rId43" Type="http://schemas.openxmlformats.org/officeDocument/2006/relationships/font" Target="fonts/HelveticaNeue-bold.fntdata"/><Relationship Id="rId24" Type="http://schemas.openxmlformats.org/officeDocument/2006/relationships/slide" Target="slides/slide18.xml"/><Relationship Id="rId46" Type="http://customschemas.google.com/relationships/presentationmetadata" Target="metadata"/><Relationship Id="rId23" Type="http://schemas.openxmlformats.org/officeDocument/2006/relationships/slide" Target="slides/slide17.xml"/><Relationship Id="rId45" Type="http://schemas.openxmlformats.org/officeDocument/2006/relationships/font" Target="fonts/HelveticaNeue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4886325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24d8db2236_2_0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g124d8db2236_2_0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3b941b9944_0_4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g13b941b9944_0_4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3b941b9944_0_11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g13b941b9944_0_11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3b941b9944_0_20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13b941b9944_0_20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a66d9193f_0_1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g13a66d9193f_0_1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324dd20778_0_13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g1324dd20778_0_13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3a66d9193f_0_30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g13a66d9193f_0_30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3a66d9193f_0_46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g13a66d9193f_0_46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3bb1196a71_0_14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g13bb1196a71_0_14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3bb1196a71_0_59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g13bb1196a71_0_59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3bb1196a71_0_67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g13bb1196a71_0_67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3bb1196a71_0_79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g13bb1196a71_0_79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3bb1196a71_0_309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g13bb1196a71_0_309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3bb1196c3d_4_212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g13bb1196c3d_4_212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3a66d9193f_0_166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g13a66d9193f_0_166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3bb1196a71_0_190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g13bb1196a71_0_190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3bb1196a71_0_255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13bb1196a71_0_255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3bb1196a71_0_264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g13bb1196a71_0_264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3bb1196a71_0_273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g13bb1196a71_0_273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3bb1196a71_0_282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g13bb1196a71_0_282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3bb1196a71_0_291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g13bb1196a71_0_291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3bb1196a71_0_300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g13bb1196a71_0_300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3a66d9193f_0_41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g13a66d9193f_0_41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3bb1196c3d_4_125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g13bb1196c3d_4_125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3bb1196c3d_4_141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g13bb1196c3d_4_141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3bb1196c3d_4_150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g13bb1196c3d_4_150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3bb1196c3d_4_159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g13bb1196c3d_4_159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3bb1196c3d_4_168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g13bb1196c3d_4_168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3bb1196c3d_4_177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g13bb1196c3d_4_177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3bb1196c3d_4_186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g13bb1196c3d_4_186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3bb1196c3d_4_195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g13bb1196c3d_4_195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3bb1196c3d_4_316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2" name="Google Shape;332;g13bb1196c3d_4_316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3bb1196c3d_2_4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9" name="Google Shape;339;g13bb1196c3d_2_4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136852d9450_0_0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7" name="Google Shape;347;g136852d9450_0_0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obj">
  <p:cSld name="OBJECT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/>
          <p:nvPr/>
        </p:nvSpPr>
        <p:spPr>
          <a:xfrm>
            <a:off x="1117091" y="541019"/>
            <a:ext cx="6910070" cy="192405"/>
          </a:xfrm>
          <a:custGeom>
            <a:rect b="b" l="l" r="r" t="t"/>
            <a:pathLst>
              <a:path extrusionOk="0" h="192404" w="6910070">
                <a:moveTo>
                  <a:pt x="0" y="192024"/>
                </a:moveTo>
                <a:lnTo>
                  <a:pt x="6909816" y="192024"/>
                </a:lnTo>
                <a:lnTo>
                  <a:pt x="6909816" y="0"/>
                </a:lnTo>
                <a:lnTo>
                  <a:pt x="0" y="0"/>
                </a:lnTo>
                <a:lnTo>
                  <a:pt x="0" y="192024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9"/>
          <p:cNvSpPr/>
          <p:nvPr/>
        </p:nvSpPr>
        <p:spPr>
          <a:xfrm>
            <a:off x="1081277" y="1319022"/>
            <a:ext cx="6898005" cy="3810"/>
          </a:xfrm>
          <a:custGeom>
            <a:rect b="b" l="l" r="r" t="t"/>
            <a:pathLst>
              <a:path extrusionOk="0" h="3809" w="6898005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noFill/>
          <a:ln cap="flat" cmpd="sng" w="19800">
            <a:solidFill>
              <a:srgbClr val="0747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9"/>
          <p:cNvSpPr/>
          <p:nvPr/>
        </p:nvSpPr>
        <p:spPr>
          <a:xfrm>
            <a:off x="1081277" y="4671821"/>
            <a:ext cx="6898005" cy="3810"/>
          </a:xfrm>
          <a:custGeom>
            <a:rect b="b" l="l" r="r" t="t"/>
            <a:pathLst>
              <a:path extrusionOk="0" h="3810" w="6898005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noFill/>
          <a:ln cap="flat" cmpd="sng" w="19800">
            <a:solidFill>
              <a:srgbClr val="0747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9"/>
          <p:cNvSpPr/>
          <p:nvPr/>
        </p:nvSpPr>
        <p:spPr>
          <a:xfrm>
            <a:off x="1081277" y="3300221"/>
            <a:ext cx="6898005" cy="3810"/>
          </a:xfrm>
          <a:custGeom>
            <a:rect b="b" l="l" r="r" t="t"/>
            <a:pathLst>
              <a:path extrusionOk="0" h="3810" w="6898005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noFill/>
          <a:ln cap="flat" cmpd="sng" w="19800">
            <a:solidFill>
              <a:srgbClr val="0747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9"/>
          <p:cNvSpPr/>
          <p:nvPr/>
        </p:nvSpPr>
        <p:spPr>
          <a:xfrm>
            <a:off x="4066032" y="0"/>
            <a:ext cx="1011936" cy="8305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/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" type="body"/>
          </p:nvPr>
        </p:nvSpPr>
        <p:spPr>
          <a:xfrm>
            <a:off x="378383" y="1084383"/>
            <a:ext cx="8387232" cy="3181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2"/>
          <p:cNvSpPr txBox="1"/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>
            <a:off x="0" y="0"/>
            <a:ext cx="9144000" cy="386080"/>
          </a:xfrm>
          <a:custGeom>
            <a:rect b="b" l="l" r="r" t="t"/>
            <a:pathLst>
              <a:path extrusionOk="0" h="386080" w="9144000">
                <a:moveTo>
                  <a:pt x="0" y="385572"/>
                </a:moveTo>
                <a:lnTo>
                  <a:pt x="9144000" y="385572"/>
                </a:lnTo>
                <a:lnTo>
                  <a:pt x="9144000" y="0"/>
                </a:lnTo>
                <a:lnTo>
                  <a:pt x="0" y="0"/>
                </a:lnTo>
                <a:lnTo>
                  <a:pt x="0" y="385572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8"/>
          <p:cNvSpPr/>
          <p:nvPr/>
        </p:nvSpPr>
        <p:spPr>
          <a:xfrm>
            <a:off x="8740140" y="4757927"/>
            <a:ext cx="403860" cy="386080"/>
          </a:xfrm>
          <a:custGeom>
            <a:rect b="b" l="l" r="r" t="t"/>
            <a:pathLst>
              <a:path extrusionOk="0" h="386079" w="403859">
                <a:moveTo>
                  <a:pt x="0" y="385571"/>
                </a:moveTo>
                <a:lnTo>
                  <a:pt x="403860" y="385571"/>
                </a:lnTo>
                <a:lnTo>
                  <a:pt x="403860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8"/>
          <p:cNvSpPr/>
          <p:nvPr/>
        </p:nvSpPr>
        <p:spPr>
          <a:xfrm>
            <a:off x="0" y="4757927"/>
            <a:ext cx="402590" cy="386080"/>
          </a:xfrm>
          <a:custGeom>
            <a:rect b="b" l="l" r="r" t="t"/>
            <a:pathLst>
              <a:path extrusionOk="0" h="386079" w="402590">
                <a:moveTo>
                  <a:pt x="0" y="385571"/>
                </a:moveTo>
                <a:lnTo>
                  <a:pt x="402336" y="385571"/>
                </a:lnTo>
                <a:lnTo>
                  <a:pt x="402336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8"/>
          <p:cNvSpPr/>
          <p:nvPr/>
        </p:nvSpPr>
        <p:spPr>
          <a:xfrm>
            <a:off x="402336" y="4757927"/>
            <a:ext cx="8338184" cy="386080"/>
          </a:xfrm>
          <a:custGeom>
            <a:rect b="b" l="l" r="r" t="t"/>
            <a:pathLst>
              <a:path extrusionOk="0" h="386079" w="8338184">
                <a:moveTo>
                  <a:pt x="0" y="385571"/>
                </a:moveTo>
                <a:lnTo>
                  <a:pt x="8337804" y="385571"/>
                </a:lnTo>
                <a:lnTo>
                  <a:pt x="8337804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8"/>
          <p:cNvSpPr/>
          <p:nvPr/>
        </p:nvSpPr>
        <p:spPr>
          <a:xfrm>
            <a:off x="8170164" y="45719"/>
            <a:ext cx="974090" cy="1012190"/>
          </a:xfrm>
          <a:custGeom>
            <a:rect b="b" l="l" r="r" t="t"/>
            <a:pathLst>
              <a:path extrusionOk="0" h="1012190" w="974090">
                <a:moveTo>
                  <a:pt x="811529" y="0"/>
                </a:moveTo>
                <a:lnTo>
                  <a:pt x="162305" y="0"/>
                </a:lnTo>
                <a:lnTo>
                  <a:pt x="119150" y="5796"/>
                </a:lnTo>
                <a:lnTo>
                  <a:pt x="80376" y="22154"/>
                </a:lnTo>
                <a:lnTo>
                  <a:pt x="47529" y="47529"/>
                </a:lnTo>
                <a:lnTo>
                  <a:pt x="22154" y="80376"/>
                </a:lnTo>
                <a:lnTo>
                  <a:pt x="5796" y="119150"/>
                </a:lnTo>
                <a:lnTo>
                  <a:pt x="0" y="162305"/>
                </a:lnTo>
                <a:lnTo>
                  <a:pt x="0" y="849629"/>
                </a:lnTo>
                <a:lnTo>
                  <a:pt x="5796" y="892785"/>
                </a:lnTo>
                <a:lnTo>
                  <a:pt x="22154" y="931559"/>
                </a:lnTo>
                <a:lnTo>
                  <a:pt x="47529" y="964406"/>
                </a:lnTo>
                <a:lnTo>
                  <a:pt x="80376" y="989781"/>
                </a:lnTo>
                <a:lnTo>
                  <a:pt x="119150" y="1006139"/>
                </a:lnTo>
                <a:lnTo>
                  <a:pt x="162305" y="1011935"/>
                </a:lnTo>
                <a:lnTo>
                  <a:pt x="811529" y="1011935"/>
                </a:lnTo>
                <a:lnTo>
                  <a:pt x="854685" y="1006139"/>
                </a:lnTo>
                <a:lnTo>
                  <a:pt x="893459" y="989781"/>
                </a:lnTo>
                <a:lnTo>
                  <a:pt x="926306" y="964406"/>
                </a:lnTo>
                <a:lnTo>
                  <a:pt x="951681" y="931559"/>
                </a:lnTo>
                <a:lnTo>
                  <a:pt x="968039" y="892785"/>
                </a:lnTo>
                <a:lnTo>
                  <a:pt x="973835" y="849629"/>
                </a:lnTo>
                <a:lnTo>
                  <a:pt x="973835" y="162305"/>
                </a:lnTo>
                <a:lnTo>
                  <a:pt x="968039" y="119150"/>
                </a:lnTo>
                <a:lnTo>
                  <a:pt x="951681" y="80376"/>
                </a:lnTo>
                <a:lnTo>
                  <a:pt x="926306" y="47529"/>
                </a:lnTo>
                <a:lnTo>
                  <a:pt x="893459" y="22154"/>
                </a:lnTo>
                <a:lnTo>
                  <a:pt x="854685" y="5796"/>
                </a:lnTo>
                <a:lnTo>
                  <a:pt x="811529" y="0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8"/>
          <p:cNvSpPr/>
          <p:nvPr/>
        </p:nvSpPr>
        <p:spPr>
          <a:xfrm>
            <a:off x="8261604" y="385572"/>
            <a:ext cx="792479" cy="541020"/>
          </a:xfrm>
          <a:prstGeom prst="rect">
            <a:avLst/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8"/>
          <p:cNvSpPr txBox="1"/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8"/>
          <p:cNvSpPr txBox="1"/>
          <p:nvPr>
            <p:ph idx="1" type="body"/>
          </p:nvPr>
        </p:nvSpPr>
        <p:spPr>
          <a:xfrm>
            <a:off x="378383" y="1084383"/>
            <a:ext cx="8387232" cy="3181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24d8db2236_2_0"/>
          <p:cNvSpPr txBox="1"/>
          <p:nvPr/>
        </p:nvSpPr>
        <p:spPr>
          <a:xfrm>
            <a:off x="1965425" y="787975"/>
            <a:ext cx="51771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Universidade do Vale do Itajaí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Escola do Mar, Ciência e Tecnologia - EMCT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Ciência da Computação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" name="Google Shape;59;g124d8db2236_2_0"/>
          <p:cNvSpPr/>
          <p:nvPr/>
        </p:nvSpPr>
        <p:spPr>
          <a:xfrm>
            <a:off x="1080516" y="4788408"/>
            <a:ext cx="6946900" cy="192404"/>
          </a:xfrm>
          <a:custGeom>
            <a:rect b="b" l="l" r="r" t="t"/>
            <a:pathLst>
              <a:path extrusionOk="0" h="192404" w="6946900">
                <a:moveTo>
                  <a:pt x="0" y="192023"/>
                </a:moveTo>
                <a:lnTo>
                  <a:pt x="6946392" y="192023"/>
                </a:lnTo>
                <a:lnTo>
                  <a:pt x="6946392" y="0"/>
                </a:lnTo>
                <a:lnTo>
                  <a:pt x="0" y="0"/>
                </a:lnTo>
                <a:lnTo>
                  <a:pt x="0" y="192023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124d8db2236_2_0"/>
          <p:cNvSpPr txBox="1"/>
          <p:nvPr/>
        </p:nvSpPr>
        <p:spPr>
          <a:xfrm>
            <a:off x="1080516" y="1672988"/>
            <a:ext cx="69468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pt-BR" sz="36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CÁLCULO DE FLUXO</a:t>
            </a:r>
            <a:endParaRPr b="1" sz="36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pt-BR" sz="36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MÁXIMO E SUAS APLICAÇÕES</a:t>
            </a:r>
            <a:endParaRPr b="1" sz="36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" name="Google Shape;61;g124d8db2236_2_0"/>
          <p:cNvSpPr txBox="1"/>
          <p:nvPr/>
        </p:nvSpPr>
        <p:spPr>
          <a:xfrm>
            <a:off x="1080525" y="3667225"/>
            <a:ext cx="69468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Gustavo Henrique Stahl Müller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Paulo Henrique Rohling</a:t>
            </a:r>
            <a:endParaRPr b="0" i="0" sz="1800" u="none" cap="none" strike="noStrike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 txBox="1"/>
          <p:nvPr>
            <p:ph idx="1" type="body"/>
          </p:nvPr>
        </p:nvSpPr>
        <p:spPr>
          <a:xfrm>
            <a:off x="378375" y="1162775"/>
            <a:ext cx="8373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Encontrar um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fluxo de intensidade máxima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em um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grafo capacitado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que respeite as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capacidades dos arcos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" name="Google Shape;67;p2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Problema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8" name="Google Shape;68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0113" y="1856125"/>
            <a:ext cx="3071275" cy="27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"/>
          <p:cNvSpPr txBox="1"/>
          <p:nvPr>
            <p:ph idx="1" type="body"/>
          </p:nvPr>
        </p:nvSpPr>
        <p:spPr>
          <a:xfrm>
            <a:off x="385500" y="2126925"/>
            <a:ext cx="50169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ntensidade de fluxo: 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saldo do vértice inicial;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G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rafo capacitado: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custos positivos;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apacidades dos arcos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 nomenclatura de grafos capacitados para custo dos arcos.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3b941b9944_0_4"/>
          <p:cNvSpPr txBox="1"/>
          <p:nvPr>
            <p:ph idx="1" type="body"/>
          </p:nvPr>
        </p:nvSpPr>
        <p:spPr>
          <a:xfrm>
            <a:off x="385500" y="2567800"/>
            <a:ext cx="8373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Possui uma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função aumentadora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(augment);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É um método iterativo: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gera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grafos residuais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Condição de parada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 quando não há mais caminhos de S-T com fluxo residual.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" name="Google Shape;75;g13b941b9944_0_4"/>
          <p:cNvSpPr txBox="1"/>
          <p:nvPr>
            <p:ph idx="1" type="body"/>
          </p:nvPr>
        </p:nvSpPr>
        <p:spPr>
          <a:xfrm>
            <a:off x="378375" y="1162775"/>
            <a:ext cx="8373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Utilizar um algoritmo que encontre um valor máximo para o fluxo de um grafo sem que a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o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rdem de escolha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dos caminhos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afete 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o resultado. Tal algoritmo é conhecido como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Algoritmo de Ford-Fulkerson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" name="Google Shape;76;g13b941b9944_0_4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Solução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3b941b9944_0_11"/>
          <p:cNvSpPr txBox="1"/>
          <p:nvPr>
            <p:ph idx="1" type="body"/>
          </p:nvPr>
        </p:nvSpPr>
        <p:spPr>
          <a:xfrm>
            <a:off x="378375" y="1162775"/>
            <a:ext cx="8355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É um grafo gerado a partir do grafo original após a passagem de fluxo por um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caminho C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. Apesar de manter os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mesmos vértices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, o grafo original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modifica os arcos 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entre os vértices pertencentes ao caminho C.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Com base no fluxo restante no caminho C, 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os arcos 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são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divididos 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(ou modificados) em até dois novos arcos: o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Forward-Edge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e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Backward-Edge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" name="Google Shape;82;g13b941b9944_0_11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Grafo Residual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" name="Google Shape;83;g13b941b9944_0_11"/>
          <p:cNvSpPr txBox="1"/>
          <p:nvPr>
            <p:ph idx="1" type="body"/>
          </p:nvPr>
        </p:nvSpPr>
        <p:spPr>
          <a:xfrm>
            <a:off x="385500" y="3141650"/>
            <a:ext cx="835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Forward-Edge: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representa o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fluxo restante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e segue a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direção original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Backward-Edge: 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representa o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fluxo já transitado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e segue na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direção oposta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3b941b9944_0_20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Grafo Residual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9" name="Google Shape;89;g13b941b9944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126" y="1219932"/>
            <a:ext cx="2623236" cy="2319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g13b941b9944_0_20"/>
          <p:cNvPicPr preferRelativeResize="0"/>
          <p:nvPr/>
        </p:nvPicPr>
        <p:blipFill rotWithShape="1">
          <a:blip r:embed="rId4">
            <a:alphaModFix/>
          </a:blip>
          <a:srcRect b="0" l="0" r="0" t="3901"/>
          <a:stretch/>
        </p:blipFill>
        <p:spPr>
          <a:xfrm>
            <a:off x="3291827" y="1186725"/>
            <a:ext cx="2623237" cy="2352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g13b941b9944_0_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8512" y="1219938"/>
            <a:ext cx="2623236" cy="231982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13b941b9944_0_20"/>
          <p:cNvSpPr/>
          <p:nvPr/>
        </p:nvSpPr>
        <p:spPr>
          <a:xfrm>
            <a:off x="5157500" y="1672500"/>
            <a:ext cx="378000" cy="132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13b941b9944_0_20"/>
          <p:cNvSpPr txBox="1"/>
          <p:nvPr>
            <p:ph idx="1" type="body"/>
          </p:nvPr>
        </p:nvSpPr>
        <p:spPr>
          <a:xfrm>
            <a:off x="313125" y="3638888"/>
            <a:ext cx="262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Helvetica Neue"/>
                <a:ea typeface="Helvetica Neue"/>
                <a:cs typeface="Helvetica Neue"/>
                <a:sym typeface="Helvetica Neue"/>
              </a:rPr>
              <a:t>Grafo inicial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g13b941b9944_0_20"/>
          <p:cNvSpPr txBox="1"/>
          <p:nvPr>
            <p:ph idx="1" type="body"/>
          </p:nvPr>
        </p:nvSpPr>
        <p:spPr>
          <a:xfrm>
            <a:off x="3291756" y="3638888"/>
            <a:ext cx="262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Helvetica Neue"/>
                <a:ea typeface="Helvetica Neue"/>
                <a:cs typeface="Helvetica Neue"/>
                <a:sym typeface="Helvetica Neue"/>
              </a:rPr>
              <a:t>Grafo residual após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Helvetica Neue"/>
                <a:ea typeface="Helvetica Neue"/>
                <a:cs typeface="Helvetica Neue"/>
                <a:sym typeface="Helvetica Neue"/>
              </a:rPr>
              <a:t>S-U-V-T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" name="Google Shape;95;g13b941b9944_0_20"/>
          <p:cNvSpPr txBox="1"/>
          <p:nvPr>
            <p:ph idx="1" type="body"/>
          </p:nvPr>
        </p:nvSpPr>
        <p:spPr>
          <a:xfrm>
            <a:off x="6188376" y="3638888"/>
            <a:ext cx="262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latin typeface="Helvetica Neue"/>
                <a:ea typeface="Helvetica Neue"/>
                <a:cs typeface="Helvetica Neue"/>
                <a:sym typeface="Helvetica Neue"/>
              </a:rPr>
              <a:t>Grafo residual após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Helvetica Neue"/>
                <a:ea typeface="Helvetica Neue"/>
                <a:cs typeface="Helvetica Neue"/>
                <a:sym typeface="Helvetica Neue"/>
              </a:rPr>
              <a:t>S-V-U-T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a66d9193f_0_1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Grafo Residual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1" name="Google Shape;101;g13a66d9193f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126" y="1219932"/>
            <a:ext cx="2623236" cy="2319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g13a66d9193f_0_1"/>
          <p:cNvPicPr preferRelativeResize="0"/>
          <p:nvPr/>
        </p:nvPicPr>
        <p:blipFill rotWithShape="1">
          <a:blip r:embed="rId4">
            <a:alphaModFix/>
          </a:blip>
          <a:srcRect b="0" l="0" r="0" t="3901"/>
          <a:stretch/>
        </p:blipFill>
        <p:spPr>
          <a:xfrm>
            <a:off x="3291827" y="1186725"/>
            <a:ext cx="2623237" cy="2352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g13a66d9193f_0_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8512" y="1219938"/>
            <a:ext cx="2623236" cy="231982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13a66d9193f_0_1"/>
          <p:cNvSpPr/>
          <p:nvPr/>
        </p:nvSpPr>
        <p:spPr>
          <a:xfrm>
            <a:off x="5202425" y="1694975"/>
            <a:ext cx="378000" cy="132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13a66d9193f_0_1"/>
          <p:cNvSpPr txBox="1"/>
          <p:nvPr>
            <p:ph idx="1" type="body"/>
          </p:nvPr>
        </p:nvSpPr>
        <p:spPr>
          <a:xfrm>
            <a:off x="313125" y="3638888"/>
            <a:ext cx="262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Helvetica Neue"/>
                <a:ea typeface="Helvetica Neue"/>
                <a:cs typeface="Helvetica Neue"/>
                <a:sym typeface="Helvetica Neue"/>
              </a:rPr>
              <a:t>Grafo inicial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" name="Google Shape;106;g13a66d9193f_0_1"/>
          <p:cNvSpPr txBox="1"/>
          <p:nvPr>
            <p:ph idx="1" type="body"/>
          </p:nvPr>
        </p:nvSpPr>
        <p:spPr>
          <a:xfrm>
            <a:off x="3291756" y="3638888"/>
            <a:ext cx="262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Helvetica Neue"/>
                <a:ea typeface="Helvetica Neue"/>
                <a:cs typeface="Helvetica Neue"/>
                <a:sym typeface="Helvetica Neue"/>
              </a:rPr>
              <a:t>Grafo residual após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Helvetica Neue"/>
                <a:ea typeface="Helvetica Neue"/>
                <a:cs typeface="Helvetica Neue"/>
                <a:sym typeface="Helvetica Neue"/>
              </a:rPr>
              <a:t>S-U-V-T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g13a66d9193f_0_1"/>
          <p:cNvSpPr txBox="1"/>
          <p:nvPr>
            <p:ph idx="1" type="body"/>
          </p:nvPr>
        </p:nvSpPr>
        <p:spPr>
          <a:xfrm>
            <a:off x="6188376" y="3638888"/>
            <a:ext cx="262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latin typeface="Helvetica Neue"/>
                <a:ea typeface="Helvetica Neue"/>
                <a:cs typeface="Helvetica Neue"/>
                <a:sym typeface="Helvetica Neue"/>
              </a:rPr>
              <a:t>Grafo residual após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Helvetica Neue"/>
                <a:ea typeface="Helvetica Neue"/>
                <a:cs typeface="Helvetica Neue"/>
                <a:sym typeface="Helvetica Neue"/>
              </a:rPr>
              <a:t>S-V-U-T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g13a66d9193f_0_1"/>
          <p:cNvSpPr txBox="1"/>
          <p:nvPr>
            <p:ph idx="1" type="body"/>
          </p:nvPr>
        </p:nvSpPr>
        <p:spPr>
          <a:xfrm>
            <a:off x="385500" y="4199875"/>
            <a:ext cx="8355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Fluxo máximo =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30 u.f.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324dd20778_0_13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Ford-Fulkerson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" name="Google Shape;114;g1324dd20778_0_13"/>
          <p:cNvSpPr txBox="1"/>
          <p:nvPr>
            <p:ph idx="1" type="body"/>
          </p:nvPr>
        </p:nvSpPr>
        <p:spPr>
          <a:xfrm>
            <a:off x="378375" y="1073525"/>
            <a:ext cx="84876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pt-BR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algoritmo </a:t>
            </a:r>
            <a:r>
              <a:rPr lang="pt-BR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FordFulkerson</a:t>
            </a:r>
            <a:r>
              <a:rPr lang="pt-BR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(grafo)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	fluxoMáximo = </a:t>
            </a:r>
            <a:r>
              <a:rPr lang="pt-BR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	</a:t>
            </a:r>
            <a:r>
              <a:rPr b="1" lang="pt-BR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enquanto </a:t>
            </a:r>
            <a:r>
              <a:rPr i="1" lang="pt-BR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ExisteCaminhoVálido</a:t>
            </a:r>
            <a:r>
              <a:rPr lang="pt-BR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lang="pt-BR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grafo</a:t>
            </a:r>
            <a:r>
              <a:rPr lang="pt-BR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 </a:t>
            </a:r>
            <a:r>
              <a:rPr b="1" lang="pt-BR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faça</a:t>
            </a:r>
            <a:endParaRPr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caminho = </a:t>
            </a:r>
            <a:r>
              <a:rPr i="1" lang="pt-BR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EscolherQualquerCaminhoVálido</a:t>
            </a:r>
            <a:r>
              <a:rPr lang="pt-BR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()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fluxoMáximo </a:t>
            </a:r>
            <a:r>
              <a:rPr i="1" lang="pt-BR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= Augment</a:t>
            </a:r>
            <a:r>
              <a:rPr lang="pt-BR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(caminho)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grafo = </a:t>
            </a:r>
            <a:r>
              <a:rPr i="1" lang="pt-BR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GerarGrafoResidual</a:t>
            </a:r>
            <a:r>
              <a:rPr lang="pt-BR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(grafo)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	</a:t>
            </a:r>
            <a:r>
              <a:rPr b="1" lang="pt-BR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fim-enquanto</a:t>
            </a:r>
            <a:endParaRPr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pt-BR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	retorna </a:t>
            </a:r>
            <a:r>
              <a:rPr lang="pt-BR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fluxoMáximo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pt-BR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fim-algoritmo</a:t>
            </a:r>
            <a:endParaRPr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5" name="Google Shape;115;g1324dd20778_0_13"/>
          <p:cNvSpPr/>
          <p:nvPr/>
        </p:nvSpPr>
        <p:spPr>
          <a:xfrm>
            <a:off x="8527575" y="2358375"/>
            <a:ext cx="217200" cy="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1324dd20778_0_13"/>
          <p:cNvSpPr/>
          <p:nvPr/>
        </p:nvSpPr>
        <p:spPr>
          <a:xfrm>
            <a:off x="8527575" y="3079775"/>
            <a:ext cx="217200" cy="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3a66d9193f_0_30"/>
          <p:cNvSpPr txBox="1"/>
          <p:nvPr>
            <p:ph idx="1" type="body"/>
          </p:nvPr>
        </p:nvSpPr>
        <p:spPr>
          <a:xfrm>
            <a:off x="378375" y="1162775"/>
            <a:ext cx="8355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Calcular fluxo em qualquer tipo de rede, tal que: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" name="Google Shape;122;g13a66d9193f_0_30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Aplicações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23" name="Google Shape;123;g13a66d9193f_0_30"/>
          <p:cNvGraphicFramePr/>
          <p:nvPr/>
        </p:nvGraphicFramePr>
        <p:xfrm>
          <a:off x="378375" y="167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{38FB1003-B5C3-428A-8613-7B6CA3F3D61D}</a:tableStyleId>
              </a:tblPr>
              <a:tblGrid>
                <a:gridCol w="1452875"/>
                <a:gridCol w="3020175"/>
                <a:gridCol w="1927525"/>
                <a:gridCol w="1954425"/>
              </a:tblGrid>
              <a:tr h="44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lt1"/>
                          </a:solidFill>
                        </a:rPr>
                        <a:t>Rede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lt1"/>
                          </a:solidFill>
                        </a:rPr>
                        <a:t>Vértices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lt1"/>
                          </a:solidFill>
                        </a:rPr>
                        <a:t>Arcos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lt1"/>
                          </a:solidFill>
                        </a:rPr>
                        <a:t>Fluxo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</a:tr>
              <a:tr h="44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Circuitos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Portas, registradores, processadores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Fios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Corrente elétrica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44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Hidráulica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Reservatórios, estações de tratamento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Canos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Fluído, óleo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44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Finanças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Ações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Transações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Dinheiro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44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Transporte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Aeroportos, estações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Estradas, rotas aéreas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Vôo, veículo, passageiros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63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Comunicação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Telefone, computador, satélite, antenas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200">
                          <a:solidFill>
                            <a:schemeClr val="dk1"/>
                          </a:solidFill>
                        </a:rPr>
                        <a:t>C</a:t>
                      </a:r>
                      <a:r>
                        <a:rPr lang="pt-BR" sz="1200">
                          <a:solidFill>
                            <a:schemeClr val="dk1"/>
                          </a:solidFill>
                        </a:rPr>
                        <a:t>abos, fibra óptica, ondas eletromagnéticas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Voz, vídeo, pacotes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3a66d9193f_0_46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Aplicação 1 - Encanamento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9" name="Google Shape;129;g13a66d9193f_0_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513" y="1084575"/>
            <a:ext cx="7758974" cy="348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13a66d9193f_0_46"/>
          <p:cNvSpPr txBox="1"/>
          <p:nvPr>
            <p:ph idx="1" type="body"/>
          </p:nvPr>
        </p:nvSpPr>
        <p:spPr>
          <a:xfrm>
            <a:off x="546900" y="4443775"/>
            <a:ext cx="8355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latin typeface="Helvetica Neue"/>
                <a:ea typeface="Helvetica Neue"/>
                <a:cs typeface="Helvetica Neue"/>
                <a:sym typeface="Helvetica Neue"/>
              </a:rPr>
              <a:t>Fonte</a:t>
            </a:r>
            <a:r>
              <a:rPr lang="pt-BR" sz="1200"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pt-BR" sz="1200">
                <a:latin typeface="Helvetica Neue"/>
                <a:ea typeface="Helvetica Neue"/>
                <a:cs typeface="Helvetica Neue"/>
                <a:sym typeface="Helvetica Neue"/>
              </a:rPr>
              <a:t>https://www.ijsrp.org/research-paper-1218/ijsrp-p8441.pdf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" name="Google Shape;131;g13a66d9193f_0_46"/>
          <p:cNvSpPr txBox="1"/>
          <p:nvPr/>
        </p:nvSpPr>
        <p:spPr>
          <a:xfrm>
            <a:off x="8158475" y="4365650"/>
            <a:ext cx="95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FM = 110</a:t>
            </a:r>
            <a:endParaRPr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3bb1196a71_0_14"/>
          <p:cNvSpPr txBox="1"/>
          <p:nvPr>
            <p:ph idx="1" type="body"/>
          </p:nvPr>
        </p:nvSpPr>
        <p:spPr>
          <a:xfrm>
            <a:off x="313125" y="1082150"/>
            <a:ext cx="8355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Escolhemos o caminho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s-3-4-t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Mínimo: 35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Fluxo: 35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" name="Google Shape;137;g13bb1196a71_0_14"/>
          <p:cNvSpPr txBox="1"/>
          <p:nvPr>
            <p:ph type="title"/>
          </p:nvPr>
        </p:nvSpPr>
        <p:spPr>
          <a:xfrm>
            <a:off x="313125" y="440175"/>
            <a:ext cx="77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000">
                <a:latin typeface="Helvetica Neue"/>
                <a:ea typeface="Helvetica Neue"/>
                <a:cs typeface="Helvetica Neue"/>
                <a:sym typeface="Helvetica Neue"/>
              </a:rPr>
              <a:t>Aplicação 1 - Encanamento</a:t>
            </a:r>
            <a:endParaRPr sz="3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8" name="Google Shape;138;g13bb1196a71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3525" y="1479675"/>
            <a:ext cx="6456128" cy="277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13bb1196a71_0_14"/>
          <p:cNvSpPr txBox="1"/>
          <p:nvPr>
            <p:ph idx="1" type="body"/>
          </p:nvPr>
        </p:nvSpPr>
        <p:spPr>
          <a:xfrm>
            <a:off x="117675" y="4448850"/>
            <a:ext cx="8355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Ainda há caminhos de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à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 Continuamos o algoritmo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" name="Google Shape;140;g13bb1196a71_0_14"/>
          <p:cNvSpPr txBox="1"/>
          <p:nvPr/>
        </p:nvSpPr>
        <p:spPr>
          <a:xfrm>
            <a:off x="8158475" y="4365650"/>
            <a:ext cx="95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FM = 110</a:t>
            </a:r>
            <a:endParaRPr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3bb1196a71_0_59"/>
          <p:cNvSpPr txBox="1"/>
          <p:nvPr>
            <p:ph idx="1" type="body"/>
          </p:nvPr>
        </p:nvSpPr>
        <p:spPr>
          <a:xfrm>
            <a:off x="313125" y="1082150"/>
            <a:ext cx="8355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Escolhemos o caminho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s-1-2-t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Mínimo: 55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Fluxo: 90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" name="Google Shape;146;g13bb1196a71_0_59"/>
          <p:cNvSpPr txBox="1"/>
          <p:nvPr>
            <p:ph type="title"/>
          </p:nvPr>
        </p:nvSpPr>
        <p:spPr>
          <a:xfrm>
            <a:off x="313125" y="440175"/>
            <a:ext cx="77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000">
                <a:latin typeface="Helvetica Neue"/>
                <a:ea typeface="Helvetica Neue"/>
                <a:cs typeface="Helvetica Neue"/>
                <a:sym typeface="Helvetica Neue"/>
              </a:rPr>
              <a:t>Aplicação 1 - Encanamento</a:t>
            </a:r>
            <a:endParaRPr sz="3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7" name="Google Shape;147;g13bb1196a71_0_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7000" y="1428325"/>
            <a:ext cx="6560724" cy="28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13bb1196a71_0_59"/>
          <p:cNvSpPr txBox="1"/>
          <p:nvPr>
            <p:ph idx="1" type="body"/>
          </p:nvPr>
        </p:nvSpPr>
        <p:spPr>
          <a:xfrm>
            <a:off x="117675" y="4448850"/>
            <a:ext cx="8355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Ainda há caminhos de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à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 Continuamos o algoritmo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" name="Google Shape;149;g13bb1196a71_0_59"/>
          <p:cNvSpPr txBox="1"/>
          <p:nvPr/>
        </p:nvSpPr>
        <p:spPr>
          <a:xfrm>
            <a:off x="8158475" y="4365650"/>
            <a:ext cx="95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FM = 110</a:t>
            </a:r>
            <a:endParaRPr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3bb1196a71_0_67"/>
          <p:cNvSpPr txBox="1"/>
          <p:nvPr>
            <p:ph idx="1" type="body"/>
          </p:nvPr>
        </p:nvSpPr>
        <p:spPr>
          <a:xfrm>
            <a:off x="313125" y="1082150"/>
            <a:ext cx="8355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Escolhemos o caminho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s-3-2-t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Mínimo: 10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Fluxo: 100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5" name="Google Shape;155;g13bb1196a71_0_67"/>
          <p:cNvSpPr txBox="1"/>
          <p:nvPr>
            <p:ph type="title"/>
          </p:nvPr>
        </p:nvSpPr>
        <p:spPr>
          <a:xfrm>
            <a:off x="313125" y="440175"/>
            <a:ext cx="77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000">
                <a:latin typeface="Helvetica Neue"/>
                <a:ea typeface="Helvetica Neue"/>
                <a:cs typeface="Helvetica Neue"/>
                <a:sym typeface="Helvetica Neue"/>
              </a:rPr>
              <a:t>Aplicação 1 - Encanamento</a:t>
            </a:r>
            <a:endParaRPr sz="3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" name="Google Shape;156;g13bb1196a71_0_67"/>
          <p:cNvSpPr txBox="1"/>
          <p:nvPr>
            <p:ph idx="1" type="body"/>
          </p:nvPr>
        </p:nvSpPr>
        <p:spPr>
          <a:xfrm>
            <a:off x="117675" y="4448850"/>
            <a:ext cx="8355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Ainda há caminhos de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à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 Continuamos o algoritmo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7" name="Google Shape;157;g13bb1196a71_0_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150" y="1531950"/>
            <a:ext cx="6460399" cy="275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13bb1196a71_0_67"/>
          <p:cNvSpPr txBox="1"/>
          <p:nvPr/>
        </p:nvSpPr>
        <p:spPr>
          <a:xfrm>
            <a:off x="8158475" y="4365650"/>
            <a:ext cx="95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FM = 110</a:t>
            </a:r>
            <a:endParaRPr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3bb1196a71_0_79"/>
          <p:cNvSpPr txBox="1"/>
          <p:nvPr>
            <p:ph idx="1" type="body"/>
          </p:nvPr>
        </p:nvSpPr>
        <p:spPr>
          <a:xfrm>
            <a:off x="313125" y="1082150"/>
            <a:ext cx="8355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Escolhemos o caminho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s-1-3-2-4-t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Mínimo: 10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Fluxo: 110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4" name="Google Shape;164;g13bb1196a71_0_79"/>
          <p:cNvSpPr txBox="1"/>
          <p:nvPr>
            <p:ph type="title"/>
          </p:nvPr>
        </p:nvSpPr>
        <p:spPr>
          <a:xfrm>
            <a:off x="313125" y="440175"/>
            <a:ext cx="77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000">
                <a:latin typeface="Helvetica Neue"/>
                <a:ea typeface="Helvetica Neue"/>
                <a:cs typeface="Helvetica Neue"/>
                <a:sym typeface="Helvetica Neue"/>
              </a:rPr>
              <a:t>Aplicação 1 - Encanamento</a:t>
            </a:r>
            <a:endParaRPr sz="3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5" name="Google Shape;165;g13bb1196a71_0_79"/>
          <p:cNvSpPr txBox="1"/>
          <p:nvPr>
            <p:ph idx="1" type="body"/>
          </p:nvPr>
        </p:nvSpPr>
        <p:spPr>
          <a:xfrm>
            <a:off x="117675" y="4448850"/>
            <a:ext cx="8355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Não há mais caminhos de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à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pt-BR" sz="1600" u="sng">
                <a:latin typeface="Helvetica Neue"/>
                <a:ea typeface="Helvetica Neue"/>
                <a:cs typeface="Helvetica Neue"/>
                <a:sym typeface="Helvetica Neue"/>
              </a:rPr>
              <a:t>Fim do algoritmo</a:t>
            </a:r>
            <a:endParaRPr sz="1600" u="sng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6" name="Google Shape;166;g13bb1196a71_0_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2175" y="1480150"/>
            <a:ext cx="6653374" cy="285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13bb1196a71_0_79"/>
          <p:cNvSpPr txBox="1"/>
          <p:nvPr/>
        </p:nvSpPr>
        <p:spPr>
          <a:xfrm>
            <a:off x="8158475" y="4365650"/>
            <a:ext cx="95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FM = 110</a:t>
            </a:r>
            <a:endParaRPr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3bb1196a71_0_309"/>
          <p:cNvSpPr txBox="1"/>
          <p:nvPr>
            <p:ph idx="1" type="body"/>
          </p:nvPr>
        </p:nvSpPr>
        <p:spPr>
          <a:xfrm>
            <a:off x="313125" y="1082150"/>
            <a:ext cx="8355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Fluxo máximo: 110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3" name="Google Shape;173;g13bb1196a71_0_309"/>
          <p:cNvSpPr txBox="1"/>
          <p:nvPr>
            <p:ph type="title"/>
          </p:nvPr>
        </p:nvSpPr>
        <p:spPr>
          <a:xfrm>
            <a:off x="313125" y="440175"/>
            <a:ext cx="77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000">
                <a:latin typeface="Helvetica Neue"/>
                <a:ea typeface="Helvetica Neue"/>
                <a:cs typeface="Helvetica Neue"/>
                <a:sym typeface="Helvetica Neue"/>
              </a:rPr>
              <a:t>Aplicação 1 - Encanamento</a:t>
            </a:r>
            <a:endParaRPr sz="3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4" name="Google Shape;174;g13bb1196a71_0_3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788" y="1413425"/>
            <a:ext cx="7218724" cy="315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3bb1196c3d_4_212"/>
          <p:cNvSpPr txBox="1"/>
          <p:nvPr>
            <p:ph type="title"/>
          </p:nvPr>
        </p:nvSpPr>
        <p:spPr>
          <a:xfrm>
            <a:off x="313125" y="440175"/>
            <a:ext cx="77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000">
                <a:latin typeface="Helvetica Neue"/>
                <a:ea typeface="Helvetica Neue"/>
                <a:cs typeface="Helvetica Neue"/>
                <a:sym typeface="Helvetica Neue"/>
              </a:rPr>
              <a:t>Aplicação 1 - Encanamento</a:t>
            </a:r>
            <a:endParaRPr sz="3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0" name="Google Shape;180;g13bb1196c3d_4_2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675" y="1077875"/>
            <a:ext cx="7454649" cy="353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3a66d9193f_0_166"/>
          <p:cNvSpPr txBox="1"/>
          <p:nvPr>
            <p:ph idx="1" type="body"/>
          </p:nvPr>
        </p:nvSpPr>
        <p:spPr>
          <a:xfrm>
            <a:off x="313125" y="1082150"/>
            <a:ext cx="835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Uma rede de bondes que levam passageiros de uma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estação (E)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para um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parque (P)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. Pode-se maximizar o número de viagens através do cálculo do fluxo máximo.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6" name="Google Shape;186;g13a66d9193f_0_166"/>
          <p:cNvSpPr txBox="1"/>
          <p:nvPr>
            <p:ph type="title"/>
          </p:nvPr>
        </p:nvSpPr>
        <p:spPr>
          <a:xfrm>
            <a:off x="313125" y="440175"/>
            <a:ext cx="77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000">
                <a:latin typeface="Helvetica Neue"/>
                <a:ea typeface="Helvetica Neue"/>
                <a:cs typeface="Helvetica Neue"/>
                <a:sym typeface="Helvetica Neue"/>
              </a:rPr>
              <a:t>Aplicação 2 - Tráfego de bondes</a:t>
            </a:r>
            <a:endParaRPr sz="3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7" name="Google Shape;187;g13a66d9193f_0_166"/>
          <p:cNvSpPr txBox="1"/>
          <p:nvPr/>
        </p:nvSpPr>
        <p:spPr>
          <a:xfrm>
            <a:off x="8158475" y="4365650"/>
            <a:ext cx="95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FM = 14</a:t>
            </a:r>
            <a:endParaRPr sz="1200"/>
          </a:p>
        </p:txBody>
      </p:sp>
      <p:sp>
        <p:nvSpPr>
          <p:cNvPr id="188" name="Google Shape;188;g13a66d9193f_0_166"/>
          <p:cNvSpPr txBox="1"/>
          <p:nvPr>
            <p:ph idx="1" type="body"/>
          </p:nvPr>
        </p:nvSpPr>
        <p:spPr>
          <a:xfrm>
            <a:off x="546900" y="4443775"/>
            <a:ext cx="8355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latin typeface="Helvetica Neue"/>
                <a:ea typeface="Helvetica Neue"/>
                <a:cs typeface="Helvetica Neue"/>
                <a:sym typeface="Helvetica Neue"/>
              </a:rPr>
              <a:t>Fonte</a:t>
            </a:r>
            <a:r>
              <a:rPr lang="pt-BR" sz="1200"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pt-BR" sz="1200">
                <a:latin typeface="Helvetica Neue"/>
                <a:ea typeface="Helvetica Neue"/>
                <a:cs typeface="Helvetica Neue"/>
                <a:sym typeface="Helvetica Neue"/>
              </a:rPr>
              <a:t>https://www.ufjf.br/epd015/files/2010/06/fluxo_maximo.pdf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9" name="Google Shape;189;g13a66d9193f_0_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5201" y="1746975"/>
            <a:ext cx="6013596" cy="264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3bb1196a71_0_190"/>
          <p:cNvSpPr txBox="1"/>
          <p:nvPr>
            <p:ph idx="1" type="body"/>
          </p:nvPr>
        </p:nvSpPr>
        <p:spPr>
          <a:xfrm>
            <a:off x="313125" y="1082150"/>
            <a:ext cx="8355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Escolhemos o caminho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s-b-d-f-t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Mínimo: 1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Fluxo: 1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5" name="Google Shape;195;g13bb1196a71_0_190"/>
          <p:cNvSpPr txBox="1"/>
          <p:nvPr>
            <p:ph type="title"/>
          </p:nvPr>
        </p:nvSpPr>
        <p:spPr>
          <a:xfrm>
            <a:off x="313125" y="440175"/>
            <a:ext cx="77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000">
                <a:latin typeface="Helvetica Neue"/>
                <a:ea typeface="Helvetica Neue"/>
                <a:cs typeface="Helvetica Neue"/>
                <a:sym typeface="Helvetica Neue"/>
              </a:rPr>
              <a:t>Aplicação 2 - Tráfego de bondes</a:t>
            </a:r>
            <a:endParaRPr sz="3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6" name="Google Shape;196;g13bb1196a71_0_190"/>
          <p:cNvSpPr txBox="1"/>
          <p:nvPr>
            <p:ph idx="1" type="body"/>
          </p:nvPr>
        </p:nvSpPr>
        <p:spPr>
          <a:xfrm>
            <a:off x="117675" y="4448850"/>
            <a:ext cx="8355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Ainda há caminhos de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à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 Continuamos o algoritmo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7" name="Google Shape;197;g13bb1196a71_0_190"/>
          <p:cNvSpPr txBox="1"/>
          <p:nvPr/>
        </p:nvSpPr>
        <p:spPr>
          <a:xfrm>
            <a:off x="8158475" y="4365650"/>
            <a:ext cx="95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FM = 14</a:t>
            </a:r>
            <a:endParaRPr sz="1200"/>
          </a:p>
        </p:txBody>
      </p:sp>
      <p:pic>
        <p:nvPicPr>
          <p:cNvPr id="198" name="Google Shape;198;g13bb1196a71_0_1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1525" y="1406125"/>
            <a:ext cx="6340976" cy="2959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3bb1196a71_0_255"/>
          <p:cNvSpPr txBox="1"/>
          <p:nvPr>
            <p:ph idx="1" type="body"/>
          </p:nvPr>
        </p:nvSpPr>
        <p:spPr>
          <a:xfrm>
            <a:off x="313125" y="1082150"/>
            <a:ext cx="8355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Escolhemos o caminho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s-a-c-d-t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Mínimo: 1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Fluxo: 2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4" name="Google Shape;204;g13bb1196a71_0_255"/>
          <p:cNvSpPr txBox="1"/>
          <p:nvPr>
            <p:ph type="title"/>
          </p:nvPr>
        </p:nvSpPr>
        <p:spPr>
          <a:xfrm>
            <a:off x="313125" y="440175"/>
            <a:ext cx="77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000">
                <a:latin typeface="Helvetica Neue"/>
                <a:ea typeface="Helvetica Neue"/>
                <a:cs typeface="Helvetica Neue"/>
                <a:sym typeface="Helvetica Neue"/>
              </a:rPr>
              <a:t>Aplicação 2 - Tráfego de bondes</a:t>
            </a:r>
            <a:endParaRPr sz="3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5" name="Google Shape;205;g13bb1196a71_0_255"/>
          <p:cNvSpPr txBox="1"/>
          <p:nvPr>
            <p:ph idx="1" type="body"/>
          </p:nvPr>
        </p:nvSpPr>
        <p:spPr>
          <a:xfrm>
            <a:off x="117675" y="4448850"/>
            <a:ext cx="8355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Ainda há caminhos de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à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 Continuamos o algoritmo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6" name="Google Shape;206;g13bb1196a71_0_255"/>
          <p:cNvSpPr txBox="1"/>
          <p:nvPr/>
        </p:nvSpPr>
        <p:spPr>
          <a:xfrm>
            <a:off x="8158475" y="4365650"/>
            <a:ext cx="95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FM = 14</a:t>
            </a:r>
            <a:endParaRPr sz="1200"/>
          </a:p>
        </p:txBody>
      </p:sp>
      <p:pic>
        <p:nvPicPr>
          <p:cNvPr id="207" name="Google Shape;207;g13bb1196a71_0_2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9429" y="1524075"/>
            <a:ext cx="6393899" cy="277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3bb1196a71_0_264"/>
          <p:cNvSpPr txBox="1"/>
          <p:nvPr>
            <p:ph idx="1" type="body"/>
          </p:nvPr>
        </p:nvSpPr>
        <p:spPr>
          <a:xfrm>
            <a:off x="313125" y="1082150"/>
            <a:ext cx="8355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Escolhemos o caminho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s-a-f-t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Mínimo: 3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Fluxo: 5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3" name="Google Shape;213;g13bb1196a71_0_264"/>
          <p:cNvSpPr txBox="1"/>
          <p:nvPr>
            <p:ph type="title"/>
          </p:nvPr>
        </p:nvSpPr>
        <p:spPr>
          <a:xfrm>
            <a:off x="313125" y="440175"/>
            <a:ext cx="77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000">
                <a:latin typeface="Helvetica Neue"/>
                <a:ea typeface="Helvetica Neue"/>
                <a:cs typeface="Helvetica Neue"/>
                <a:sym typeface="Helvetica Neue"/>
              </a:rPr>
              <a:t>Aplicação 2 - Tráfego de bondes</a:t>
            </a:r>
            <a:endParaRPr sz="3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4" name="Google Shape;214;g13bb1196a71_0_264"/>
          <p:cNvSpPr txBox="1"/>
          <p:nvPr>
            <p:ph idx="1" type="body"/>
          </p:nvPr>
        </p:nvSpPr>
        <p:spPr>
          <a:xfrm>
            <a:off x="117675" y="4448850"/>
            <a:ext cx="8355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Ainda há caminhos de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à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 Continuamos o algoritmo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5" name="Google Shape;215;g13bb1196a71_0_264"/>
          <p:cNvSpPr txBox="1"/>
          <p:nvPr/>
        </p:nvSpPr>
        <p:spPr>
          <a:xfrm>
            <a:off x="8158475" y="4365650"/>
            <a:ext cx="95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FM = 14</a:t>
            </a:r>
            <a:endParaRPr sz="1200"/>
          </a:p>
        </p:txBody>
      </p:sp>
      <p:pic>
        <p:nvPicPr>
          <p:cNvPr id="216" name="Google Shape;216;g13bb1196a71_0_2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9375" y="1435750"/>
            <a:ext cx="6317201" cy="288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g13bb1196a71_0_2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0775" y="1430219"/>
            <a:ext cx="6637700" cy="3100031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g13bb1196a71_0_273"/>
          <p:cNvSpPr txBox="1"/>
          <p:nvPr>
            <p:ph idx="1" type="body"/>
          </p:nvPr>
        </p:nvSpPr>
        <p:spPr>
          <a:xfrm>
            <a:off x="313125" y="1082150"/>
            <a:ext cx="8355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Escolhemos o caminho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s-c-f-t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Mínimo: 4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Fluxo: 9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3" name="Google Shape;223;g13bb1196a71_0_273"/>
          <p:cNvSpPr txBox="1"/>
          <p:nvPr>
            <p:ph type="title"/>
          </p:nvPr>
        </p:nvSpPr>
        <p:spPr>
          <a:xfrm>
            <a:off x="313125" y="440175"/>
            <a:ext cx="77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000">
                <a:latin typeface="Helvetica Neue"/>
                <a:ea typeface="Helvetica Neue"/>
                <a:cs typeface="Helvetica Neue"/>
                <a:sym typeface="Helvetica Neue"/>
              </a:rPr>
              <a:t>Aplicação 2 - Tráfego de bondes</a:t>
            </a:r>
            <a:endParaRPr sz="3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4" name="Google Shape;224;g13bb1196a71_0_273"/>
          <p:cNvSpPr txBox="1"/>
          <p:nvPr>
            <p:ph idx="1" type="body"/>
          </p:nvPr>
        </p:nvSpPr>
        <p:spPr>
          <a:xfrm>
            <a:off x="117675" y="4448850"/>
            <a:ext cx="8355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Ainda há caminhos de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à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 Continuamos o algoritmo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5" name="Google Shape;225;g13bb1196a71_0_273"/>
          <p:cNvSpPr txBox="1"/>
          <p:nvPr/>
        </p:nvSpPr>
        <p:spPr>
          <a:xfrm>
            <a:off x="8158475" y="4365650"/>
            <a:ext cx="95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FM = 14</a:t>
            </a:r>
            <a:endParaRPr sz="1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3bb1196a71_0_282"/>
          <p:cNvSpPr txBox="1"/>
          <p:nvPr>
            <p:ph idx="1" type="body"/>
          </p:nvPr>
        </p:nvSpPr>
        <p:spPr>
          <a:xfrm>
            <a:off x="313125" y="1082150"/>
            <a:ext cx="8355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Escolhemos o caminho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s-c-d-t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Mínimo: 3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Fluxo: 12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1" name="Google Shape;231;g13bb1196a71_0_282"/>
          <p:cNvSpPr txBox="1"/>
          <p:nvPr>
            <p:ph type="title"/>
          </p:nvPr>
        </p:nvSpPr>
        <p:spPr>
          <a:xfrm>
            <a:off x="313125" y="440175"/>
            <a:ext cx="77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000">
                <a:latin typeface="Helvetica Neue"/>
                <a:ea typeface="Helvetica Neue"/>
                <a:cs typeface="Helvetica Neue"/>
                <a:sym typeface="Helvetica Neue"/>
              </a:rPr>
              <a:t>Aplicação 2 - Tráfego de bondes</a:t>
            </a:r>
            <a:endParaRPr sz="3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2" name="Google Shape;232;g13bb1196a71_0_282"/>
          <p:cNvSpPr txBox="1"/>
          <p:nvPr>
            <p:ph idx="1" type="body"/>
          </p:nvPr>
        </p:nvSpPr>
        <p:spPr>
          <a:xfrm>
            <a:off x="117675" y="4448850"/>
            <a:ext cx="8355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Ainda há caminhos de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à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 Continuamos o algoritmo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3" name="Google Shape;233;g13bb1196a71_0_282"/>
          <p:cNvSpPr txBox="1"/>
          <p:nvPr/>
        </p:nvSpPr>
        <p:spPr>
          <a:xfrm>
            <a:off x="8158475" y="4365650"/>
            <a:ext cx="95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FM = 14</a:t>
            </a:r>
            <a:endParaRPr sz="1200"/>
          </a:p>
        </p:txBody>
      </p:sp>
      <p:pic>
        <p:nvPicPr>
          <p:cNvPr id="234" name="Google Shape;234;g13bb1196a71_0_2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4375" y="1461400"/>
            <a:ext cx="6387749" cy="298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3bb1196a71_0_291"/>
          <p:cNvSpPr txBox="1"/>
          <p:nvPr>
            <p:ph idx="1" type="body"/>
          </p:nvPr>
        </p:nvSpPr>
        <p:spPr>
          <a:xfrm>
            <a:off x="313125" y="1082150"/>
            <a:ext cx="8355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Escolhemos o caminho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s-b-d-t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Mínimo: 2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Fluxo: 14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0" name="Google Shape;240;g13bb1196a71_0_291"/>
          <p:cNvSpPr txBox="1"/>
          <p:nvPr>
            <p:ph type="title"/>
          </p:nvPr>
        </p:nvSpPr>
        <p:spPr>
          <a:xfrm>
            <a:off x="313125" y="440175"/>
            <a:ext cx="77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000">
                <a:latin typeface="Helvetica Neue"/>
                <a:ea typeface="Helvetica Neue"/>
                <a:cs typeface="Helvetica Neue"/>
                <a:sym typeface="Helvetica Neue"/>
              </a:rPr>
              <a:t>Aplicação 2 - Tráfego de bondes</a:t>
            </a:r>
            <a:endParaRPr sz="3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1" name="Google Shape;241;g13bb1196a71_0_291"/>
          <p:cNvSpPr txBox="1"/>
          <p:nvPr>
            <p:ph idx="1" type="body"/>
          </p:nvPr>
        </p:nvSpPr>
        <p:spPr>
          <a:xfrm>
            <a:off x="117675" y="4448850"/>
            <a:ext cx="8355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Não há mais caminhos de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à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pt-BR" sz="1600" u="sng">
                <a:latin typeface="Helvetica Neue"/>
                <a:ea typeface="Helvetica Neue"/>
                <a:cs typeface="Helvetica Neue"/>
                <a:sym typeface="Helvetica Neue"/>
              </a:rPr>
              <a:t>Fim do algoritmo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2" name="Google Shape;242;g13bb1196a71_0_291"/>
          <p:cNvSpPr txBox="1"/>
          <p:nvPr/>
        </p:nvSpPr>
        <p:spPr>
          <a:xfrm>
            <a:off x="8158475" y="4365650"/>
            <a:ext cx="95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FM = 14</a:t>
            </a:r>
            <a:endParaRPr sz="1200"/>
          </a:p>
        </p:txBody>
      </p:sp>
      <p:pic>
        <p:nvPicPr>
          <p:cNvPr id="243" name="Google Shape;243;g13bb1196a71_0_2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3725" y="1521200"/>
            <a:ext cx="6394550" cy="2888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3bb1196a71_0_300"/>
          <p:cNvSpPr txBox="1"/>
          <p:nvPr>
            <p:ph idx="1" type="body"/>
          </p:nvPr>
        </p:nvSpPr>
        <p:spPr>
          <a:xfrm>
            <a:off x="313125" y="1082150"/>
            <a:ext cx="8355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Fluxo máximo: 14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9" name="Google Shape;249;g13bb1196a71_0_300"/>
          <p:cNvSpPr txBox="1"/>
          <p:nvPr>
            <p:ph type="title"/>
          </p:nvPr>
        </p:nvSpPr>
        <p:spPr>
          <a:xfrm>
            <a:off x="313125" y="440175"/>
            <a:ext cx="77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000">
                <a:latin typeface="Helvetica Neue"/>
                <a:ea typeface="Helvetica Neue"/>
                <a:cs typeface="Helvetica Neue"/>
                <a:sym typeface="Helvetica Neue"/>
              </a:rPr>
              <a:t>Aplicação 2 - Tráfego de bondes</a:t>
            </a:r>
            <a:endParaRPr sz="3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50" name="Google Shape;250;g13bb1196a71_0_3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313" y="1412625"/>
            <a:ext cx="7204624" cy="322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3a66d9193f_0_41"/>
          <p:cNvSpPr txBox="1"/>
          <p:nvPr>
            <p:ph idx="1" type="body"/>
          </p:nvPr>
        </p:nvSpPr>
        <p:spPr>
          <a:xfrm>
            <a:off x="313125" y="1082150"/>
            <a:ext cx="83550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Três depósitos A, B e C dispõem de 20, 10 e 35 toneladas de um determinado produto, respectivamente. Pretende-se 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entregar uma certa quantidade a três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destinos D, E e F, que esperam receber, respectivamente, 25, 20 e 20 toneladas do produto.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A disponibilidade de caminhões que transitam entre os diferentes pontos são: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6" name="Google Shape;256;g13a66d9193f_0_41"/>
          <p:cNvSpPr txBox="1"/>
          <p:nvPr>
            <p:ph type="title"/>
          </p:nvPr>
        </p:nvSpPr>
        <p:spPr>
          <a:xfrm>
            <a:off x="313125" y="440175"/>
            <a:ext cx="77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000">
                <a:latin typeface="Helvetica Neue"/>
                <a:ea typeface="Helvetica Neue"/>
                <a:cs typeface="Helvetica Neue"/>
                <a:sym typeface="Helvetica Neue"/>
              </a:rPr>
              <a:t>Aplicação 3 - Entrega de produtos</a:t>
            </a:r>
            <a:endParaRPr sz="3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257" name="Google Shape;257;g13a66d9193f_0_41"/>
          <p:cNvGraphicFramePr/>
          <p:nvPr/>
        </p:nvGraphicFramePr>
        <p:xfrm>
          <a:off x="2604225" y="2581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{38FB1003-B5C3-428A-8613-7B6CA3F3D61D}</a:tableStyleId>
              </a:tblPr>
              <a:tblGrid>
                <a:gridCol w="791250"/>
                <a:gridCol w="791250"/>
                <a:gridCol w="791250"/>
                <a:gridCol w="791250"/>
              </a:tblGrid>
              <a:tr h="292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lt1"/>
                          </a:solidFill>
                        </a:rPr>
                        <a:t>D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lt1"/>
                          </a:solidFill>
                        </a:rPr>
                        <a:t>E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lt1"/>
                          </a:solidFill>
                        </a:rPr>
                        <a:t>F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</a:tr>
              <a:tr h="292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chemeClr val="lt1"/>
                          </a:solidFill>
                        </a:rPr>
                        <a:t>A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15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10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-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292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chemeClr val="lt1"/>
                          </a:solidFill>
                        </a:rPr>
                        <a:t>B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5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-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10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292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chemeClr val="lt1"/>
                          </a:solidFill>
                        </a:rPr>
                        <a:t>C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10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5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5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58" name="Google Shape;258;g13a66d9193f_0_41"/>
          <p:cNvSpPr txBox="1"/>
          <p:nvPr>
            <p:ph idx="1" type="body"/>
          </p:nvPr>
        </p:nvSpPr>
        <p:spPr>
          <a:xfrm>
            <a:off x="394500" y="4077700"/>
            <a:ext cx="8355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Pode-se verificar se o transporte atende a necessidade através do cálculo do fluxo máximo.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9" name="Google Shape;259;g13a66d9193f_0_41"/>
          <p:cNvSpPr txBox="1"/>
          <p:nvPr>
            <p:ph idx="1" type="body"/>
          </p:nvPr>
        </p:nvSpPr>
        <p:spPr>
          <a:xfrm>
            <a:off x="546900" y="4443775"/>
            <a:ext cx="8355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latin typeface="Helvetica Neue"/>
                <a:ea typeface="Helvetica Neue"/>
                <a:cs typeface="Helvetica Neue"/>
                <a:sym typeface="Helvetica Neue"/>
              </a:rPr>
              <a:t>Fonte</a:t>
            </a:r>
            <a:r>
              <a:rPr lang="pt-BR" sz="1200">
                <a:latin typeface="Helvetica Neue"/>
                <a:ea typeface="Helvetica Neue"/>
                <a:cs typeface="Helvetica Neue"/>
                <a:sym typeface="Helvetica Neue"/>
              </a:rPr>
              <a:t>: https://web.fe.up.pt/~jfo/ensino/io/docs/IOP_fluxomax.pdf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3bb1196c3d_4_125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Aplicação 3 - Entrega de produtos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5" name="Google Shape;265;g13bb1196c3d_4_125"/>
          <p:cNvSpPr txBox="1"/>
          <p:nvPr/>
        </p:nvSpPr>
        <p:spPr>
          <a:xfrm>
            <a:off x="8158475" y="4365650"/>
            <a:ext cx="95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FM = 50</a:t>
            </a:r>
            <a:endParaRPr sz="1200"/>
          </a:p>
        </p:txBody>
      </p:sp>
      <p:pic>
        <p:nvPicPr>
          <p:cNvPr id="266" name="Google Shape;266;g13bb1196c3d_4_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800" y="1079225"/>
            <a:ext cx="7853675" cy="34927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3bb1196c3d_4_141"/>
          <p:cNvSpPr txBox="1"/>
          <p:nvPr>
            <p:ph idx="1" type="body"/>
          </p:nvPr>
        </p:nvSpPr>
        <p:spPr>
          <a:xfrm>
            <a:off x="313125" y="1082150"/>
            <a:ext cx="8355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Escolhemos o caminho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s-b-d-t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Mínimo: 5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Fluxo: 5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2" name="Google Shape;272;g13bb1196c3d_4_141"/>
          <p:cNvSpPr txBox="1"/>
          <p:nvPr>
            <p:ph type="title"/>
          </p:nvPr>
        </p:nvSpPr>
        <p:spPr>
          <a:xfrm>
            <a:off x="313125" y="440175"/>
            <a:ext cx="77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000">
                <a:latin typeface="Helvetica Neue"/>
                <a:ea typeface="Helvetica Neue"/>
                <a:cs typeface="Helvetica Neue"/>
                <a:sym typeface="Helvetica Neue"/>
              </a:rPr>
              <a:t>Aplicação 3 - Entrega de produtos</a:t>
            </a:r>
            <a:endParaRPr sz="3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3" name="Google Shape;273;g13bb1196c3d_4_141"/>
          <p:cNvSpPr txBox="1"/>
          <p:nvPr>
            <p:ph idx="1" type="body"/>
          </p:nvPr>
        </p:nvSpPr>
        <p:spPr>
          <a:xfrm>
            <a:off x="117675" y="4448850"/>
            <a:ext cx="8355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Ainda há caminhos de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à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 Continuamos o algoritmo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4" name="Google Shape;274;g13bb1196c3d_4_141"/>
          <p:cNvSpPr txBox="1"/>
          <p:nvPr/>
        </p:nvSpPr>
        <p:spPr>
          <a:xfrm>
            <a:off x="8158475" y="4365650"/>
            <a:ext cx="95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FM = 50</a:t>
            </a:r>
            <a:endParaRPr sz="1200"/>
          </a:p>
        </p:txBody>
      </p:sp>
      <p:pic>
        <p:nvPicPr>
          <p:cNvPr id="275" name="Google Shape;275;g13bb1196c3d_4_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8950" y="1464900"/>
            <a:ext cx="6531375" cy="2866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3bb1196c3d_4_150"/>
          <p:cNvSpPr txBox="1"/>
          <p:nvPr>
            <p:ph idx="1" type="body"/>
          </p:nvPr>
        </p:nvSpPr>
        <p:spPr>
          <a:xfrm>
            <a:off x="313125" y="1082150"/>
            <a:ext cx="8355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Escolhemos o caminho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s-a-e-t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Mínimo: 10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Fluxo: 15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1" name="Google Shape;281;g13bb1196c3d_4_150"/>
          <p:cNvSpPr txBox="1"/>
          <p:nvPr>
            <p:ph type="title"/>
          </p:nvPr>
        </p:nvSpPr>
        <p:spPr>
          <a:xfrm>
            <a:off x="313125" y="440175"/>
            <a:ext cx="77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000">
                <a:latin typeface="Helvetica Neue"/>
                <a:ea typeface="Helvetica Neue"/>
                <a:cs typeface="Helvetica Neue"/>
                <a:sym typeface="Helvetica Neue"/>
              </a:rPr>
              <a:t>Aplicação 3 - Entrega de produtos</a:t>
            </a:r>
            <a:endParaRPr sz="3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2" name="Google Shape;282;g13bb1196c3d_4_150"/>
          <p:cNvSpPr txBox="1"/>
          <p:nvPr>
            <p:ph idx="1" type="body"/>
          </p:nvPr>
        </p:nvSpPr>
        <p:spPr>
          <a:xfrm>
            <a:off x="117675" y="4448850"/>
            <a:ext cx="8355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Ainda há caminhos de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à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 Continuamos o algoritmo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3" name="Google Shape;283;g13bb1196c3d_4_150"/>
          <p:cNvSpPr txBox="1"/>
          <p:nvPr/>
        </p:nvSpPr>
        <p:spPr>
          <a:xfrm>
            <a:off x="8158475" y="4365650"/>
            <a:ext cx="95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FM = 50</a:t>
            </a:r>
            <a:endParaRPr sz="1200"/>
          </a:p>
        </p:txBody>
      </p:sp>
      <p:pic>
        <p:nvPicPr>
          <p:cNvPr id="284" name="Google Shape;284;g13bb1196c3d_4_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7150" y="1425350"/>
            <a:ext cx="6505150" cy="294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3bb1196c3d_4_159"/>
          <p:cNvSpPr txBox="1"/>
          <p:nvPr>
            <p:ph idx="1" type="body"/>
          </p:nvPr>
        </p:nvSpPr>
        <p:spPr>
          <a:xfrm>
            <a:off x="313125" y="1082150"/>
            <a:ext cx="8355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Escolhemos o caminho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s-a-d-t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Mínimo: 10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Fluxo: 25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0" name="Google Shape;290;g13bb1196c3d_4_159"/>
          <p:cNvSpPr txBox="1"/>
          <p:nvPr>
            <p:ph type="title"/>
          </p:nvPr>
        </p:nvSpPr>
        <p:spPr>
          <a:xfrm>
            <a:off x="313125" y="440175"/>
            <a:ext cx="77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000">
                <a:latin typeface="Helvetica Neue"/>
                <a:ea typeface="Helvetica Neue"/>
                <a:cs typeface="Helvetica Neue"/>
                <a:sym typeface="Helvetica Neue"/>
              </a:rPr>
              <a:t>Aplicação 3 - Entrega de produtos</a:t>
            </a:r>
            <a:endParaRPr sz="3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1" name="Google Shape;291;g13bb1196c3d_4_159"/>
          <p:cNvSpPr txBox="1"/>
          <p:nvPr>
            <p:ph idx="1" type="body"/>
          </p:nvPr>
        </p:nvSpPr>
        <p:spPr>
          <a:xfrm>
            <a:off x="117675" y="4448850"/>
            <a:ext cx="8355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Ainda há caminhos de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à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 Continuamos o algoritmo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2" name="Google Shape;292;g13bb1196c3d_4_159"/>
          <p:cNvSpPr txBox="1"/>
          <p:nvPr/>
        </p:nvSpPr>
        <p:spPr>
          <a:xfrm>
            <a:off x="8158475" y="4365650"/>
            <a:ext cx="95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FM = 50</a:t>
            </a:r>
            <a:endParaRPr sz="1200"/>
          </a:p>
        </p:txBody>
      </p:sp>
      <p:pic>
        <p:nvPicPr>
          <p:cNvPr id="293" name="Google Shape;293;g13bb1196c3d_4_1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5493" y="1536200"/>
            <a:ext cx="6522981" cy="282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3bb1196c3d_4_168"/>
          <p:cNvSpPr txBox="1"/>
          <p:nvPr>
            <p:ph idx="1" type="body"/>
          </p:nvPr>
        </p:nvSpPr>
        <p:spPr>
          <a:xfrm>
            <a:off x="313125" y="1082150"/>
            <a:ext cx="8355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Escolhemos o caminho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s-c-f-t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Mínimo: 5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Fluxo: 30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9" name="Google Shape;299;g13bb1196c3d_4_168"/>
          <p:cNvSpPr txBox="1"/>
          <p:nvPr>
            <p:ph type="title"/>
          </p:nvPr>
        </p:nvSpPr>
        <p:spPr>
          <a:xfrm>
            <a:off x="313125" y="440175"/>
            <a:ext cx="77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000">
                <a:latin typeface="Helvetica Neue"/>
                <a:ea typeface="Helvetica Neue"/>
                <a:cs typeface="Helvetica Neue"/>
                <a:sym typeface="Helvetica Neue"/>
              </a:rPr>
              <a:t>Aplicação 3 - Entrega de produtos</a:t>
            </a:r>
            <a:endParaRPr sz="3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0" name="Google Shape;300;g13bb1196c3d_4_168"/>
          <p:cNvSpPr txBox="1"/>
          <p:nvPr>
            <p:ph idx="1" type="body"/>
          </p:nvPr>
        </p:nvSpPr>
        <p:spPr>
          <a:xfrm>
            <a:off x="117675" y="4448850"/>
            <a:ext cx="8355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Ainda há caminhos de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à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 Continuamos o algoritmo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1" name="Google Shape;301;g13bb1196c3d_4_168"/>
          <p:cNvSpPr txBox="1"/>
          <p:nvPr/>
        </p:nvSpPr>
        <p:spPr>
          <a:xfrm>
            <a:off x="8158475" y="4365650"/>
            <a:ext cx="95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FM = 50</a:t>
            </a:r>
            <a:endParaRPr sz="1200"/>
          </a:p>
        </p:txBody>
      </p:sp>
      <p:pic>
        <p:nvPicPr>
          <p:cNvPr id="302" name="Google Shape;302;g13bb1196c3d_4_1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7450" y="1401810"/>
            <a:ext cx="6853400" cy="3008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3bb1196c3d_4_177"/>
          <p:cNvSpPr txBox="1"/>
          <p:nvPr>
            <p:ph idx="1" type="body"/>
          </p:nvPr>
        </p:nvSpPr>
        <p:spPr>
          <a:xfrm>
            <a:off x="313125" y="1082150"/>
            <a:ext cx="8355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Escolhemos o caminho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s-b-f-t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Mínimo: 5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Fluxo: 35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8" name="Google Shape;308;g13bb1196c3d_4_177"/>
          <p:cNvSpPr txBox="1"/>
          <p:nvPr>
            <p:ph type="title"/>
          </p:nvPr>
        </p:nvSpPr>
        <p:spPr>
          <a:xfrm>
            <a:off x="313125" y="440175"/>
            <a:ext cx="77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000">
                <a:latin typeface="Helvetica Neue"/>
                <a:ea typeface="Helvetica Neue"/>
                <a:cs typeface="Helvetica Neue"/>
                <a:sym typeface="Helvetica Neue"/>
              </a:rPr>
              <a:t>Aplicação 3 - Entrega de produtos</a:t>
            </a:r>
            <a:endParaRPr sz="3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9" name="Google Shape;309;g13bb1196c3d_4_177"/>
          <p:cNvSpPr txBox="1"/>
          <p:nvPr>
            <p:ph idx="1" type="body"/>
          </p:nvPr>
        </p:nvSpPr>
        <p:spPr>
          <a:xfrm>
            <a:off x="117675" y="4448850"/>
            <a:ext cx="8355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Ainda há caminhos de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à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 Continuamos o algoritmo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0" name="Google Shape;310;g13bb1196c3d_4_177"/>
          <p:cNvSpPr txBox="1"/>
          <p:nvPr/>
        </p:nvSpPr>
        <p:spPr>
          <a:xfrm>
            <a:off x="8158475" y="4365650"/>
            <a:ext cx="95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FM = 50</a:t>
            </a:r>
            <a:endParaRPr sz="1200"/>
          </a:p>
        </p:txBody>
      </p:sp>
      <p:pic>
        <p:nvPicPr>
          <p:cNvPr id="311" name="Google Shape;311;g13bb1196c3d_4_1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3575" y="1378400"/>
            <a:ext cx="6879100" cy="303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3bb1196c3d_4_186"/>
          <p:cNvSpPr txBox="1"/>
          <p:nvPr>
            <p:ph idx="1" type="body"/>
          </p:nvPr>
        </p:nvSpPr>
        <p:spPr>
          <a:xfrm>
            <a:off x="313125" y="1082150"/>
            <a:ext cx="8355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Escolhemos o caminho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s-c-d-t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Mínimo: 10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Fluxo: 45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7" name="Google Shape;317;g13bb1196c3d_4_186"/>
          <p:cNvSpPr txBox="1"/>
          <p:nvPr>
            <p:ph type="title"/>
          </p:nvPr>
        </p:nvSpPr>
        <p:spPr>
          <a:xfrm>
            <a:off x="313125" y="440175"/>
            <a:ext cx="77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000">
                <a:latin typeface="Helvetica Neue"/>
                <a:ea typeface="Helvetica Neue"/>
                <a:cs typeface="Helvetica Neue"/>
                <a:sym typeface="Helvetica Neue"/>
              </a:rPr>
              <a:t>Aplicação 3 - Entrega de produtos</a:t>
            </a:r>
            <a:endParaRPr sz="3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8" name="Google Shape;318;g13bb1196c3d_4_186"/>
          <p:cNvSpPr txBox="1"/>
          <p:nvPr>
            <p:ph idx="1" type="body"/>
          </p:nvPr>
        </p:nvSpPr>
        <p:spPr>
          <a:xfrm>
            <a:off x="117675" y="4448850"/>
            <a:ext cx="8355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Ainda há caminhos de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à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 Continuamos o algoritmo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9" name="Google Shape;319;g13bb1196c3d_4_186"/>
          <p:cNvSpPr txBox="1"/>
          <p:nvPr/>
        </p:nvSpPr>
        <p:spPr>
          <a:xfrm>
            <a:off x="8158475" y="4365650"/>
            <a:ext cx="95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FM = 50</a:t>
            </a:r>
            <a:endParaRPr sz="1200"/>
          </a:p>
        </p:txBody>
      </p:sp>
      <p:pic>
        <p:nvPicPr>
          <p:cNvPr id="320" name="Google Shape;320;g13bb1196c3d_4_1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7725" y="1390875"/>
            <a:ext cx="6794358" cy="30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13bb1196c3d_4_195"/>
          <p:cNvSpPr txBox="1"/>
          <p:nvPr>
            <p:ph idx="1" type="body"/>
          </p:nvPr>
        </p:nvSpPr>
        <p:spPr>
          <a:xfrm>
            <a:off x="313125" y="1082150"/>
            <a:ext cx="8355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Escolhemos o caminho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s-c-e-t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Mínimo: 5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Fluxo: 50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6" name="Google Shape;326;g13bb1196c3d_4_195"/>
          <p:cNvSpPr txBox="1"/>
          <p:nvPr>
            <p:ph type="title"/>
          </p:nvPr>
        </p:nvSpPr>
        <p:spPr>
          <a:xfrm>
            <a:off x="313125" y="440175"/>
            <a:ext cx="77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000">
                <a:latin typeface="Helvetica Neue"/>
                <a:ea typeface="Helvetica Neue"/>
                <a:cs typeface="Helvetica Neue"/>
                <a:sym typeface="Helvetica Neue"/>
              </a:rPr>
              <a:t>Aplicação 3 - Entrega de produtos</a:t>
            </a:r>
            <a:endParaRPr sz="3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7" name="Google Shape;327;g13bb1196c3d_4_195"/>
          <p:cNvSpPr txBox="1"/>
          <p:nvPr>
            <p:ph idx="1" type="body"/>
          </p:nvPr>
        </p:nvSpPr>
        <p:spPr>
          <a:xfrm>
            <a:off x="117675" y="4448850"/>
            <a:ext cx="8355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Não há mais caminhos de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à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pt-BR" sz="1600" u="sng">
                <a:latin typeface="Helvetica Neue"/>
                <a:ea typeface="Helvetica Neue"/>
                <a:cs typeface="Helvetica Neue"/>
                <a:sym typeface="Helvetica Neue"/>
              </a:rPr>
              <a:t>Fim do algoritmo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8" name="Google Shape;328;g13bb1196c3d_4_195"/>
          <p:cNvSpPr txBox="1"/>
          <p:nvPr/>
        </p:nvSpPr>
        <p:spPr>
          <a:xfrm>
            <a:off x="8158475" y="4365650"/>
            <a:ext cx="95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FM = 50</a:t>
            </a:r>
            <a:endParaRPr sz="1200"/>
          </a:p>
        </p:txBody>
      </p:sp>
      <p:pic>
        <p:nvPicPr>
          <p:cNvPr id="329" name="Google Shape;329;g13bb1196c3d_4_1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2975" y="1369125"/>
            <a:ext cx="6711751" cy="303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3bb1196c3d_4_316"/>
          <p:cNvSpPr txBox="1"/>
          <p:nvPr>
            <p:ph idx="1" type="body"/>
          </p:nvPr>
        </p:nvSpPr>
        <p:spPr>
          <a:xfrm>
            <a:off x="313125" y="1082150"/>
            <a:ext cx="8355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Fluxo máximo: 50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5" name="Google Shape;335;g13bb1196c3d_4_316"/>
          <p:cNvSpPr txBox="1"/>
          <p:nvPr>
            <p:ph type="title"/>
          </p:nvPr>
        </p:nvSpPr>
        <p:spPr>
          <a:xfrm>
            <a:off x="313125" y="440175"/>
            <a:ext cx="77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000">
                <a:latin typeface="Helvetica Neue"/>
                <a:ea typeface="Helvetica Neue"/>
                <a:cs typeface="Helvetica Neue"/>
                <a:sym typeface="Helvetica Neue"/>
              </a:rPr>
              <a:t>Aplicação 3 - Entrega de produtos</a:t>
            </a:r>
            <a:endParaRPr sz="3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6" name="Google Shape;336;g13bb1196c3d_4_3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750" y="1387675"/>
            <a:ext cx="7329726" cy="329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3bb1196c3d_2_4"/>
          <p:cNvSpPr txBox="1"/>
          <p:nvPr>
            <p:ph idx="1" type="body"/>
          </p:nvPr>
        </p:nvSpPr>
        <p:spPr>
          <a:xfrm>
            <a:off x="266425" y="1084375"/>
            <a:ext cx="87846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LEVADA, A</a:t>
            </a: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Fluxo em redes</a:t>
            </a: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2021. Disponível em: &lt;</a:t>
            </a: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https://www.youtube.com/watch?v=u6p4X8kW7Sw/</a:t>
            </a: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&gt;. Acesso em: 3 jul. 2022.</a:t>
            </a:r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LEVADA, A. </a:t>
            </a:r>
            <a:r>
              <a:rPr b="1"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 grafo residual</a:t>
            </a: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2021. Disponível em: &lt;https://www.youtube.com/watch?v=5-bdu4bGwjM/&gt;. Acesso em: 3 jul. 2022.</a:t>
            </a:r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LEVADA, A. </a:t>
            </a:r>
            <a:r>
              <a:rPr b="1"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Caminhos aumentados</a:t>
            </a: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2021. Disponível em: &lt;https://www.youtube.com/watch?v=mofEdQDj4r0/&gt;. Acesso em: 3 jul. 2022.</a:t>
            </a:r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LEVADA, A. </a:t>
            </a:r>
            <a:r>
              <a:rPr b="1"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 algoritmo de Ford-Fulkerson</a:t>
            </a: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2021. Disponível em: &lt;https://www.youtube.com/watch?v=TPKNPWdZxhA/&gt;. Acesso em: 3 jul. 2022.</a:t>
            </a:r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Myint Than Kyi, Lin Lin Naing</a:t>
            </a: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Application of Ford-Fulkerson Algorithm to Maximum Flow in Water Distribution Pipeline Network </a:t>
            </a: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Disponível em: &lt;</a:t>
            </a: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https://www.ijsrp.org/research-paper-1218/ijsrp-p8441.pdf</a:t>
            </a: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&gt;. Acesso em: 3 jul. 2022.</a:t>
            </a:r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13bb1196c3d_2_4"/>
          <p:cNvSpPr txBox="1"/>
          <p:nvPr>
            <p:ph type="title"/>
          </p:nvPr>
        </p:nvSpPr>
        <p:spPr>
          <a:xfrm>
            <a:off x="313119" y="440175"/>
            <a:ext cx="752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Referências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43" name="Google Shape;343;g13bb1196c3d_2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8975" y="3683375"/>
            <a:ext cx="838200" cy="838200"/>
          </a:xfrm>
          <a:prstGeom prst="ellipse">
            <a:avLst/>
          </a:prstGeom>
          <a:noFill/>
          <a:ln cap="flat" cmpd="sng" w="19050">
            <a:solidFill>
              <a:srgbClr val="07477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4" name="Google Shape;344;g13bb1196c3d_2_4"/>
          <p:cNvSpPr txBox="1"/>
          <p:nvPr>
            <p:ph idx="1" type="body"/>
          </p:nvPr>
        </p:nvSpPr>
        <p:spPr>
          <a:xfrm>
            <a:off x="3708575" y="3683375"/>
            <a:ext cx="28899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Professor Alexandre Levada</a:t>
            </a:r>
            <a:endParaRPr b="1" sz="15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Universidade Federal de São Carlos</a:t>
            </a:r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Teoria dos Grafos</a:t>
            </a:r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36852d9450_0_0"/>
          <p:cNvSpPr txBox="1"/>
          <p:nvPr/>
        </p:nvSpPr>
        <p:spPr>
          <a:xfrm>
            <a:off x="1965425" y="787975"/>
            <a:ext cx="51771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Universidade do Vale do Itajaí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Escola do Mar, Ciência e Tecnologia - EMCT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Ciência da Computação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0" name="Google Shape;350;g136852d9450_0_0"/>
          <p:cNvSpPr/>
          <p:nvPr/>
        </p:nvSpPr>
        <p:spPr>
          <a:xfrm>
            <a:off x="1080516" y="4788408"/>
            <a:ext cx="6946900" cy="192404"/>
          </a:xfrm>
          <a:custGeom>
            <a:rect b="b" l="l" r="r" t="t"/>
            <a:pathLst>
              <a:path extrusionOk="0" h="192404" w="6946900">
                <a:moveTo>
                  <a:pt x="0" y="192023"/>
                </a:moveTo>
                <a:lnTo>
                  <a:pt x="6946392" y="192023"/>
                </a:lnTo>
                <a:lnTo>
                  <a:pt x="6946392" y="0"/>
                </a:lnTo>
                <a:lnTo>
                  <a:pt x="0" y="0"/>
                </a:lnTo>
                <a:lnTo>
                  <a:pt x="0" y="192023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136852d9450_0_0"/>
          <p:cNvSpPr txBox="1"/>
          <p:nvPr/>
        </p:nvSpPr>
        <p:spPr>
          <a:xfrm>
            <a:off x="1080516" y="1672988"/>
            <a:ext cx="69468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pt-BR" sz="36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CÁLCULO DE FLUXO</a:t>
            </a:r>
            <a:endParaRPr b="1" sz="36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pt-BR" sz="36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MÁXIMO E SUAS APLICAÇÕES</a:t>
            </a:r>
            <a:endParaRPr b="1" sz="36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2" name="Google Shape;352;g136852d9450_0_0"/>
          <p:cNvSpPr txBox="1"/>
          <p:nvPr/>
        </p:nvSpPr>
        <p:spPr>
          <a:xfrm>
            <a:off x="1080525" y="3667225"/>
            <a:ext cx="69468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Gustavo Henrique Stahl Müller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Paulo Henrique Rohling</a:t>
            </a:r>
            <a:endParaRPr b="0" i="0" sz="1800" u="none" cap="none" strike="noStrike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2019-04-07T19:13:44Z</dcterms:created>
  <dc:creator>Paulo Henrique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2019-04-01T00:00:00Z</vt:filetime>
  </property>
  <property fmtid="{D5CDD505-2E9C-101B-9397-08002B2CF9AE}" pid="3" name="Creator">
    <vt:lpwstr>Microsoft® PowerPoint® para Office 365</vt:lpwstr>
  </property>
  <property fmtid="{D5CDD505-2E9C-101B-9397-08002B2CF9AE}" pid="4" name="LastSaved">
    <vt:filetime>2019-04-07T00:00:00Z</vt:filetime>
  </property>
</Properties>
</file>
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257" r:id="rId3"/>
    <p:sldId id="282" r:id="rId4"/>
    <p:sldId id="303" r:id="rId5"/>
    <p:sldId id="300" r:id="rId6"/>
    <p:sldId id="302" r:id="rId7"/>
    <p:sldId id="291" r:id="rId8"/>
    <p:sldId id="294" r:id="rId9"/>
    <p:sldId id="295" r:id="rId10"/>
    <p:sldId id="296" r:id="rId11"/>
    <p:sldId id="280" r:id="rId12"/>
    <p:sldId id="290" r:id="rId13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0" autoAdjust="0"/>
    <p:restoredTop sz="94660"/>
  </p:normalViewPr>
  <p:slideViewPr>
    <p:cSldViewPr>
      <p:cViewPr varScale="1">
        <p:scale>
          <a:sx n="145" d="100"/>
          <a:sy n="145" d="100"/>
        </p:scale>
        <p:origin x="24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07/09/2021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702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54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928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297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848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66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46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63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1733550"/>
            <a:ext cx="69469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REDES DE COMPUTADORES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DHCP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790950"/>
            <a:ext cx="69469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Stahl Müller e Paulo Henrique Rohling</a:t>
            </a:r>
          </a:p>
        </p:txBody>
      </p:sp>
    </p:spTree>
    <p:extLst>
      <p:ext uri="{BB962C8B-B14F-4D97-AF65-F5344CB8AC3E}">
        <p14:creationId xmlns:p14="http://schemas.microsoft.com/office/powerpoint/2010/main" val="109216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2749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Definição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Funcionamento</a:t>
            </a:r>
            <a:endParaRPr lang="pt-BR" sz="2200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Configuração</a:t>
            </a:r>
            <a:endParaRPr lang="pt-BR" sz="2200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Critérios de atribuição de IP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smtClean="0">
                <a:solidFill>
                  <a:srgbClr val="07477C"/>
                </a:solidFill>
                <a:latin typeface="Helvetica LT Std" panose="020B0504020202020204" pitchFamily="34" charset="0"/>
              </a:rPr>
              <a:t>Aplicação e motivação</a:t>
            </a:r>
            <a:endParaRPr lang="pt-BR" sz="2200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Simulação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Definição</a:t>
            </a:r>
            <a:endParaRPr lang="pt-BR" spc="-15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123950"/>
            <a:ext cx="8387232" cy="3323987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Dynamic Host Configuration Protocol;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latin typeface="Helvetica" pitchFamily="2" charset="0"/>
              </a:rPr>
              <a:t>É um protocolo IP responsável por automaticamente fornecer endereços IP e outros parâmetros de comunicação à dispositivos presentes em uma rede</a:t>
            </a:r>
            <a:r>
              <a:rPr lang="pt-BR" sz="1800" dirty="0" smtClean="0">
                <a:latin typeface="Helvetica" pitchFamily="2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É </a:t>
            </a:r>
            <a:r>
              <a:rPr lang="pt-BR" sz="1800" dirty="0" smtClean="0">
                <a:latin typeface="Helvetica" pitchFamily="2" charset="0"/>
              </a:rPr>
              <a:t>um sucessor do protocolo BOOTP, que por sua vez apenas concedia IPs estáticos e possuía configuração puramente manual;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Tanto redes em IPv4 quanto em IPv6 podem utilizar o DHCP;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UDP é o protocolo de transporte utilizado.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HCP Server Allocating Network Parameters to New DHCP Clients - S600-E  V200R012C00 Configuration Guide - IP Service - Huawe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04950"/>
            <a:ext cx="305752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Funcionamento</a:t>
            </a:r>
            <a:endParaRPr lang="pt-BR" spc="-15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729" y="1123951"/>
            <a:ext cx="5698671" cy="369331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500" b="1" dirty="0" smtClean="0">
                <a:latin typeface="Helvetica" pitchFamily="2" charset="0"/>
              </a:rPr>
              <a:t>Discovery</a:t>
            </a:r>
            <a:r>
              <a:rPr lang="pt-BR" sz="1500" dirty="0" smtClean="0">
                <a:latin typeface="Helvetica" pitchFamily="2" charset="0"/>
              </a:rPr>
              <a:t>: Cliente DHCP envia uma requisição em broadcast na porta 67.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500" dirty="0" smtClean="0">
              <a:latin typeface="Helvetica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500" b="1" dirty="0" smtClean="0">
                <a:latin typeface="Helvetica" pitchFamily="2" charset="0"/>
              </a:rPr>
              <a:t>Offer</a:t>
            </a:r>
            <a:r>
              <a:rPr lang="pt-BR" sz="1500" dirty="0" smtClean="0">
                <a:latin typeface="Helvetica" pitchFamily="2" charset="0"/>
              </a:rPr>
              <a:t>: Um ou vários servidores DHCP recebem a requisição de Discovery, e selecionam um IP válido para conceder ao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500" dirty="0" smtClean="0">
              <a:latin typeface="Helvetica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500" b="1" dirty="0" smtClean="0">
                <a:latin typeface="Helvetica" pitchFamily="2" charset="0"/>
              </a:rPr>
              <a:t>Request</a:t>
            </a:r>
            <a:r>
              <a:rPr lang="pt-BR" sz="1500" dirty="0" smtClean="0">
                <a:latin typeface="Helvetica" pitchFamily="2" charset="0"/>
              </a:rPr>
              <a:t>: O cliente recebe a resposta do servidor contendo o IP selecionado por ele. Ele então deve fazer uma última requisição para o servidor para aceitar o endereço IP oferecido por ele.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500" dirty="0" smtClean="0">
              <a:latin typeface="Helvetica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500" b="1" dirty="0" smtClean="0">
                <a:latin typeface="Helvetica" pitchFamily="2" charset="0"/>
              </a:rPr>
              <a:t>Acknowledgement</a:t>
            </a:r>
            <a:r>
              <a:rPr lang="pt-BR" sz="1500" dirty="0" smtClean="0">
                <a:latin typeface="Helvetica" pitchFamily="2" charset="0"/>
              </a:rPr>
              <a:t>: O servidor DHCP recebe a mensagem da etapa passada e associa o endereço IP previamente fornecido ao MAC Address do cliente que aceitou a oferta.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5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3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Configuração</a:t>
            </a:r>
            <a:endParaRPr lang="pt-BR" spc="-15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130" y="1047750"/>
            <a:ext cx="8602270" cy="360098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Escopo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 Define os intervalos de IP </a:t>
            </a:r>
            <a:r>
              <a:rPr lang="pt-BR" sz="1800" u="sng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possíveis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para concessão.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Intervalo de </a:t>
            </a:r>
            <a:r>
              <a:rPr lang="pt-BR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exclusão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 Intervalo dentro do </a:t>
            </a:r>
            <a:r>
              <a:rPr lang="pt-BR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escopo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que define quais IP’s </a:t>
            </a:r>
            <a:r>
              <a:rPr lang="pt-BR" sz="1800" u="sng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não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devem ser utilizados para concessão.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Pool de endereços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 Endereços </a:t>
            </a:r>
            <a:r>
              <a:rPr lang="pt-BR" sz="1800" u="sng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disponíveis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para concessão.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Considerando uma rede “10.10.10.0” com máscara “255.255.255.0”: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Escopo: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10.10.10.100 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10.10.10.150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Pool de endereços: 10.10.10.100 – 10.10.10.119 e 10.10.10.131 – 10.10.10.150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3486150"/>
            <a:ext cx="34804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7477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Intervalo de exclusão: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7477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10.10.10.120 a 10.10.10.130</a:t>
            </a:r>
          </a:p>
          <a:p>
            <a:endParaRPr lang="pt-BR" dirty="0">
              <a:solidFill>
                <a:srgbClr val="0747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9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Critérios de atribuição de IP</a:t>
            </a:r>
            <a:endParaRPr lang="pt-BR" spc="-150" dirty="0">
              <a:latin typeface="Helvetica LT Std"/>
            </a:endParaRP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90270" y="1200150"/>
            <a:ext cx="8387232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rgbClr val="07477C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Atribuição manual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: O administrador da rede associa cada IP à um MAC Address respectivo de maneira </a:t>
            </a:r>
            <a:r>
              <a:rPr lang="pt-BR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permanente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. Os dados que representam essa associação ficam salvos no servidor DHCP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Atribuição automática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: O servidor fornece </a:t>
            </a:r>
            <a:r>
              <a:rPr lang="pt-BR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permanentemente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 qualquer endereço IP presente na </a:t>
            </a:r>
            <a:r>
              <a:rPr lang="pt-BR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pool de endereços</a:t>
            </a:r>
            <a:r>
              <a:rPr lang="pt-BR" sz="18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Atribuição dinâmica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: O servidor fornece de maneira </a:t>
            </a:r>
            <a:r>
              <a:rPr lang="pt-BR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temporária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 qualquer endereço IP presente na </a:t>
            </a:r>
            <a:r>
              <a:rPr lang="pt-BR" sz="1800" u="sng" dirty="0">
                <a:latin typeface="Helvetica" panose="020B0604020202020204" pitchFamily="34" charset="0"/>
                <a:cs typeface="Helvetica" panose="020B0604020202020204" pitchFamily="34" charset="0"/>
              </a:rPr>
              <a:t>pool de endereços</a:t>
            </a:r>
            <a:r>
              <a:rPr lang="pt-BR" sz="1800" dirty="0">
                <a:latin typeface="Helvetica" panose="020B0604020202020204" pitchFamily="34" charset="0"/>
                <a:cs typeface="Helvetica" panose="020B0604020202020204" pitchFamily="34" charset="0"/>
              </a:rPr>
              <a:t>. É possível configurar por quanto tempo a associação entre um IP e um MAC Address será válida. Quando esse período de tempo esgotar, o cliente DHCP precisará fazer uma nova requisição ao servidor DHCP para obter um novo endereço IP.</a:t>
            </a:r>
          </a:p>
        </p:txBody>
      </p:sp>
    </p:spTree>
    <p:extLst>
      <p:ext uri="{BB962C8B-B14F-4D97-AF65-F5344CB8AC3E}">
        <p14:creationId xmlns:p14="http://schemas.microsoft.com/office/powerpoint/2010/main" val="237567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Aplicação e Motivação</a:t>
            </a:r>
            <a:endParaRPr lang="pt-BR" spc="-15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130" y="1047750"/>
            <a:ext cx="8387232" cy="3600986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Uma das motivações da criação do protocolo DHCP foi a falta de flexibilidade do seu antecessor (BOOTP).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BOOTP somente realizava associações estáticas (permanentes) e de configuração manual.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A associação dinâmica de IP’s se tornou cada vez mais importante à medida que os computadores ficaram menores e mais portáteis.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Outro problema do BOOTP era que cada MAC Address era associado à um endereço IP, mesmo que o dispositivo relacionado à aquele MAC Address não fosse mais utilizado. A associação entre um endereço IP e um dispositivo inutilizado precisava ser manualmente deletada do servidor BOOTP.</a:t>
            </a:r>
          </a:p>
        </p:txBody>
      </p:sp>
    </p:spTree>
    <p:extLst>
      <p:ext uri="{BB962C8B-B14F-4D97-AF65-F5344CB8AC3E}">
        <p14:creationId xmlns:p14="http://schemas.microsoft.com/office/powerpoint/2010/main" val="109189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38150"/>
            <a:ext cx="7078270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Simulação: Topologia de Rede</a:t>
            </a:r>
            <a:endParaRPr lang="pt-BR" spc="-150" dirty="0">
              <a:latin typeface="Helvetica LT Std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14912" t="12339" r="2883" b="2068"/>
          <a:stretch/>
        </p:blipFill>
        <p:spPr>
          <a:xfrm>
            <a:off x="3962400" y="1123950"/>
            <a:ext cx="3915625" cy="3484197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78383" y="1123950"/>
            <a:ext cx="4117417" cy="2400657"/>
          </a:xfrm>
        </p:spPr>
        <p:txBody>
          <a:bodyPr/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Um servidor DHCP;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Um switch;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>
                <a:latin typeface="Helvetica" pitchFamily="2" charset="0"/>
              </a:rPr>
              <a:t>Um </a:t>
            </a:r>
            <a:r>
              <a:rPr lang="pt-BR" sz="1800" dirty="0" err="1">
                <a:latin typeface="Helvetica" pitchFamily="2" charset="0"/>
              </a:rPr>
              <a:t>access</a:t>
            </a:r>
            <a:r>
              <a:rPr lang="pt-BR" sz="1800" dirty="0">
                <a:latin typeface="Helvetica" pitchFamily="2" charset="0"/>
              </a:rPr>
              <a:t> point;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Dois PCs;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Um smartphone;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Um </a:t>
            </a:r>
            <a:r>
              <a:rPr lang="pt-BR" sz="1800" dirty="0" err="1" smtClean="0">
                <a:latin typeface="Helvetica" pitchFamily="2" charset="0"/>
              </a:rPr>
              <a:t>tablet</a:t>
            </a:r>
            <a:r>
              <a:rPr lang="pt-BR" sz="1800" dirty="0" smtClean="0">
                <a:latin typeface="Helvetica" pitchFamily="2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19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38150"/>
            <a:ext cx="7078270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Simulação: Requisição DHCP</a:t>
            </a:r>
            <a:endParaRPr lang="pt-BR" spc="-150" dirty="0">
              <a:latin typeface="Helvetica LT Std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/>
          <a:srcRect l="14912" t="12339" r="2883" b="2068"/>
          <a:stretch/>
        </p:blipFill>
        <p:spPr>
          <a:xfrm>
            <a:off x="4953000" y="992553"/>
            <a:ext cx="4191000" cy="3729231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78383" y="1123950"/>
            <a:ext cx="4117417" cy="2723823"/>
          </a:xfrm>
        </p:spPr>
        <p:txBody>
          <a:bodyPr/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O cliente envia uma mensagem DHCP em </a:t>
            </a:r>
            <a:r>
              <a:rPr lang="pt-BR" sz="1800" b="1" dirty="0" smtClean="0">
                <a:latin typeface="Helvetica" pitchFamily="2" charset="0"/>
              </a:rPr>
              <a:t>broadcast</a:t>
            </a:r>
            <a:r>
              <a:rPr lang="pt-BR" sz="1800" dirty="0" smtClean="0">
                <a:latin typeface="Helvetica" pitchFamily="2" charset="0"/>
              </a:rPr>
              <a:t>.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Apenas o </a:t>
            </a:r>
            <a:r>
              <a:rPr lang="pt-BR" sz="1800" b="1" dirty="0" smtClean="0">
                <a:latin typeface="Helvetica" pitchFamily="2" charset="0"/>
              </a:rPr>
              <a:t>servidor DHCP </a:t>
            </a:r>
            <a:r>
              <a:rPr lang="pt-BR" sz="1800" dirty="0" smtClean="0">
                <a:latin typeface="Helvetica" pitchFamily="2" charset="0"/>
              </a:rPr>
              <a:t>responde a requisição.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Endereçada ao </a:t>
            </a:r>
            <a:r>
              <a:rPr lang="pt-BR" sz="1800" b="1" dirty="0" smtClean="0">
                <a:latin typeface="Helvetica" pitchFamily="2" charset="0"/>
              </a:rPr>
              <a:t>endereço MAC </a:t>
            </a:r>
            <a:r>
              <a:rPr lang="pt-BR" sz="1800" dirty="0" smtClean="0">
                <a:latin typeface="Helvetica" pitchFamily="2" charset="0"/>
              </a:rPr>
              <a:t>do cliente;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Mensagem é composta por: endereço IP válido, máscara de </a:t>
            </a:r>
            <a:r>
              <a:rPr lang="pt-BR" sz="1800" dirty="0" err="1" smtClean="0">
                <a:latin typeface="Helvetica" pitchFamily="2" charset="0"/>
              </a:rPr>
              <a:t>sub-rede</a:t>
            </a:r>
            <a:r>
              <a:rPr lang="pt-BR" sz="1800" dirty="0" smtClean="0">
                <a:latin typeface="Helvetica" pitchFamily="2" charset="0"/>
              </a:rPr>
              <a:t>, gateway e servidores DNS;</a:t>
            </a:r>
          </a:p>
        </p:txBody>
      </p:sp>
    </p:spTree>
    <p:extLst>
      <p:ext uri="{BB962C8B-B14F-4D97-AF65-F5344CB8AC3E}">
        <p14:creationId xmlns:p14="http://schemas.microsoft.com/office/powerpoint/2010/main" val="50841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38150"/>
            <a:ext cx="7078270" cy="553998"/>
          </a:xfrm>
        </p:spPr>
        <p:txBody>
          <a:bodyPr/>
          <a:lstStyle/>
          <a:p>
            <a:r>
              <a:rPr lang="pt-BR" spc="-150" dirty="0" smtClean="0">
                <a:latin typeface="Helvetica LT Std" panose="020B0504020202020204" pitchFamily="34" charset="0"/>
              </a:rPr>
              <a:t>Simulação: Configuração do Serviço</a:t>
            </a:r>
            <a:endParaRPr lang="pt-BR" spc="-150" dirty="0">
              <a:latin typeface="Helvetica LT Std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2083" t="12867" r="2083" b="44244"/>
          <a:stretch/>
        </p:blipFill>
        <p:spPr>
          <a:xfrm>
            <a:off x="990600" y="1276350"/>
            <a:ext cx="7010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1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640370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KUROSE, J. F., ROSS, K. W. 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Redes de computadores e a Internet: uma abordagem top-</a:t>
            </a:r>
            <a:r>
              <a:rPr lang="pt-BR" b="1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down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 6. ed. São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Paulo: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Pearson Education do Brasil, 2013.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en-US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DHCP Overview, Motivation, History and </a:t>
            </a:r>
            <a:r>
              <a:rPr lang="en-US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Standards</a:t>
            </a:r>
            <a:r>
              <a:rPr lang="en-US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Disponível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em: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www.tcpipguide.com/free/t_DHCPOverviewMotivationHistoryandStandards.htm&gt;. Acesso em 7 set. 2021.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Dynamic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</a:t>
            </a:r>
            <a:r>
              <a:rPr lang="pt-BR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Host Configuration Protocol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. Disponível em: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pt.wikipedia.org/wiki/Dynamic_Host_Configuration_Protocol&gt;. Acesso em 7 set. 2021.</a:t>
            </a:r>
            <a:endParaRPr lang="pt-BR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0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1733550"/>
            <a:ext cx="69469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REDES DE COMPUTADORES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DHCP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790950"/>
            <a:ext cx="69469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Stahl Müller e Paulo Henrique Rohling</a:t>
            </a:r>
          </a:p>
        </p:txBody>
      </p:sp>
    </p:spTree>
    <p:extLst>
      <p:ext uri="{BB962C8B-B14F-4D97-AF65-F5344CB8AC3E}">
        <p14:creationId xmlns:p14="http://schemas.microsoft.com/office/powerpoint/2010/main" val="381504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990</TotalTime>
  <Words>698</Words>
  <Application>Microsoft Office PowerPoint</Application>
  <PresentationFormat>On-screen Show (16:9)</PresentationFormat>
  <Paragraphs>87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</vt:lpstr>
      <vt:lpstr>Helvetica LT Std</vt:lpstr>
      <vt:lpstr>Office Theme</vt:lpstr>
      <vt:lpstr>PowerPoint Presentation</vt:lpstr>
      <vt:lpstr>Sumário</vt:lpstr>
      <vt:lpstr>Definição</vt:lpstr>
      <vt:lpstr>Funcionamento</vt:lpstr>
      <vt:lpstr>Configuração</vt:lpstr>
      <vt:lpstr>Critérios de atribuição de IP</vt:lpstr>
      <vt:lpstr>Aplicação e Motivação</vt:lpstr>
      <vt:lpstr>Simulação: Topologia de Rede</vt:lpstr>
      <vt:lpstr>Simulação: Requisição DHCP</vt:lpstr>
      <vt:lpstr>Simulação: Configuração do Serviço</vt:lpstr>
      <vt:lpstr>Referências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Gustavo Stahl Müller</cp:lastModifiedBy>
  <cp:revision>351</cp:revision>
  <dcterms:created xsi:type="dcterms:W3CDTF">2019-04-07T19:13:44Z</dcterms:created>
  <dcterms:modified xsi:type="dcterms:W3CDTF">2021-09-07T19:39:23Z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
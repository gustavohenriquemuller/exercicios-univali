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4" r:id="rId4"/>
    <p:sldId id="299" r:id="rId5"/>
    <p:sldId id="300" r:id="rId6"/>
    <p:sldId id="312" r:id="rId7"/>
    <p:sldId id="313" r:id="rId8"/>
    <p:sldId id="314" r:id="rId9"/>
    <p:sldId id="315" r:id="rId10"/>
    <p:sldId id="285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298" r:id="rId22"/>
    <p:sldId id="288" r:id="rId23"/>
    <p:sldId id="283" r:id="rId24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E25172-F5E7-4F2A-A1F3-D93F35D1A5DE}" v="5" dt="2021-05-26T15:46:53.6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0" autoAdjust="0"/>
    <p:restoredTop sz="89704" autoAdjust="0"/>
  </p:normalViewPr>
  <p:slideViewPr>
    <p:cSldViewPr>
      <p:cViewPr>
        <p:scale>
          <a:sx n="100" d="100"/>
          <a:sy n="100" d="100"/>
        </p:scale>
        <p:origin x="114" y="6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Gabriel Martins" userId="802b222e-7a2e-42ef-a581-9fe33df6d868" providerId="ADAL" clId="{A4E25172-F5E7-4F2A-A1F3-D93F35D1A5DE}"/>
    <pc:docChg chg="undo custSel addSld delSld modSld">
      <pc:chgData name="Vinicius Gabriel Martins" userId="802b222e-7a2e-42ef-a581-9fe33df6d868" providerId="ADAL" clId="{A4E25172-F5E7-4F2A-A1F3-D93F35D1A5DE}" dt="2021-05-26T16:22:42.689" v="1499" actId="47"/>
      <pc:docMkLst>
        <pc:docMk/>
      </pc:docMkLst>
      <pc:sldChg chg="modSp mod">
        <pc:chgData name="Vinicius Gabriel Martins" userId="802b222e-7a2e-42ef-a581-9fe33df6d868" providerId="ADAL" clId="{A4E25172-F5E7-4F2A-A1F3-D93F35D1A5DE}" dt="2021-05-26T16:22:23.369" v="1487" actId="6549"/>
        <pc:sldMkLst>
          <pc:docMk/>
          <pc:sldMk cId="1826476178" sldId="283"/>
        </pc:sldMkLst>
        <pc:spChg chg="mod">
          <ac:chgData name="Vinicius Gabriel Martins" userId="802b222e-7a2e-42ef-a581-9fe33df6d868" providerId="ADAL" clId="{A4E25172-F5E7-4F2A-A1F3-D93F35D1A5DE}" dt="2021-05-26T16:22:23.369" v="1487" actId="6549"/>
          <ac:spMkLst>
            <pc:docMk/>
            <pc:sldMk cId="1826476178" sldId="283"/>
            <ac:spMk id="3" creationId="{00000000-0000-0000-0000-000000000000}"/>
          </ac:spMkLst>
        </pc:spChg>
      </pc:sldChg>
      <pc:sldChg chg="modSp mod">
        <pc:chgData name="Vinicius Gabriel Martins" userId="802b222e-7a2e-42ef-a581-9fe33df6d868" providerId="ADAL" clId="{A4E25172-F5E7-4F2A-A1F3-D93F35D1A5DE}" dt="2021-05-26T15:20:36.453" v="1053" actId="20577"/>
        <pc:sldMkLst>
          <pc:docMk/>
          <pc:sldMk cId="3986189324" sldId="284"/>
        </pc:sldMkLst>
        <pc:spChg chg="mod">
          <ac:chgData name="Vinicius Gabriel Martins" userId="802b222e-7a2e-42ef-a581-9fe33df6d868" providerId="ADAL" clId="{A4E25172-F5E7-4F2A-A1F3-D93F35D1A5DE}" dt="2021-05-26T15:20:36.453" v="1053" actId="20577"/>
          <ac:spMkLst>
            <pc:docMk/>
            <pc:sldMk cId="3986189324" sldId="284"/>
            <ac:spMk id="3" creationId="{FD742253-18FA-4F68-975A-F0C0EC42C2C1}"/>
          </ac:spMkLst>
        </pc:spChg>
      </pc:sldChg>
      <pc:sldChg chg="modSp mod">
        <pc:chgData name="Vinicius Gabriel Martins" userId="802b222e-7a2e-42ef-a581-9fe33df6d868" providerId="ADAL" clId="{A4E25172-F5E7-4F2A-A1F3-D93F35D1A5DE}" dt="2021-05-26T15:04:32.927" v="724" actId="108"/>
        <pc:sldMkLst>
          <pc:docMk/>
          <pc:sldMk cId="3837401861" sldId="285"/>
        </pc:sldMkLst>
        <pc:spChg chg="mod">
          <ac:chgData name="Vinicius Gabriel Martins" userId="802b222e-7a2e-42ef-a581-9fe33df6d868" providerId="ADAL" clId="{A4E25172-F5E7-4F2A-A1F3-D93F35D1A5DE}" dt="2021-05-26T15:04:32.927" v="724" actId="108"/>
          <ac:spMkLst>
            <pc:docMk/>
            <pc:sldMk cId="3837401861" sldId="285"/>
            <ac:spMk id="3" creationId="{FD742253-18FA-4F68-975A-F0C0EC42C2C1}"/>
          </ac:spMkLst>
        </pc:spChg>
        <pc:spChg chg="mod">
          <ac:chgData name="Vinicius Gabriel Martins" userId="802b222e-7a2e-42ef-a581-9fe33df6d868" providerId="ADAL" clId="{A4E25172-F5E7-4F2A-A1F3-D93F35D1A5DE}" dt="2021-05-26T14:38:23.293" v="485" actId="20577"/>
          <ac:spMkLst>
            <pc:docMk/>
            <pc:sldMk cId="3837401861" sldId="285"/>
            <ac:spMk id="5" creationId="{00000000-0000-0000-0000-000000000000}"/>
          </ac:spMkLst>
        </pc:spChg>
      </pc:sldChg>
      <pc:sldChg chg="del">
        <pc:chgData name="Vinicius Gabriel Martins" userId="802b222e-7a2e-42ef-a581-9fe33df6d868" providerId="ADAL" clId="{A4E25172-F5E7-4F2A-A1F3-D93F35D1A5DE}" dt="2021-05-26T16:22:35.989" v="1491" actId="47"/>
        <pc:sldMkLst>
          <pc:docMk/>
          <pc:sldMk cId="1893046762" sldId="286"/>
        </pc:sldMkLst>
      </pc:sldChg>
      <pc:sldChg chg="del">
        <pc:chgData name="Vinicius Gabriel Martins" userId="802b222e-7a2e-42ef-a581-9fe33df6d868" providerId="ADAL" clId="{A4E25172-F5E7-4F2A-A1F3-D93F35D1A5DE}" dt="2021-05-26T16:22:37.219" v="1492" actId="47"/>
        <pc:sldMkLst>
          <pc:docMk/>
          <pc:sldMk cId="2658871239" sldId="287"/>
        </pc:sldMkLst>
      </pc:sldChg>
      <pc:sldChg chg="modSp mod">
        <pc:chgData name="Vinicius Gabriel Martins" userId="802b222e-7a2e-42ef-a581-9fe33df6d868" providerId="ADAL" clId="{A4E25172-F5E7-4F2A-A1F3-D93F35D1A5DE}" dt="2021-05-26T16:10:11.449" v="1482" actId="20577"/>
        <pc:sldMkLst>
          <pc:docMk/>
          <pc:sldMk cId="789013702" sldId="288"/>
        </pc:sldMkLst>
        <pc:spChg chg="mod">
          <ac:chgData name="Vinicius Gabriel Martins" userId="802b222e-7a2e-42ef-a581-9fe33df6d868" providerId="ADAL" clId="{A4E25172-F5E7-4F2A-A1F3-D93F35D1A5DE}" dt="2021-05-26T16:10:11.449" v="1482" actId="20577"/>
          <ac:spMkLst>
            <pc:docMk/>
            <pc:sldMk cId="789013702" sldId="288"/>
            <ac:spMk id="3" creationId="{FD742253-18FA-4F68-975A-F0C0EC42C2C1}"/>
          </ac:spMkLst>
        </pc:spChg>
      </pc:sldChg>
      <pc:sldChg chg="del">
        <pc:chgData name="Vinicius Gabriel Martins" userId="802b222e-7a2e-42ef-a581-9fe33df6d868" providerId="ADAL" clId="{A4E25172-F5E7-4F2A-A1F3-D93F35D1A5DE}" dt="2021-05-26T16:22:38.109" v="1493" actId="47"/>
        <pc:sldMkLst>
          <pc:docMk/>
          <pc:sldMk cId="3734335377" sldId="289"/>
        </pc:sldMkLst>
      </pc:sldChg>
      <pc:sldChg chg="del">
        <pc:chgData name="Vinicius Gabriel Martins" userId="802b222e-7a2e-42ef-a581-9fe33df6d868" providerId="ADAL" clId="{A4E25172-F5E7-4F2A-A1F3-D93F35D1A5DE}" dt="2021-05-26T16:22:38.649" v="1494" actId="47"/>
        <pc:sldMkLst>
          <pc:docMk/>
          <pc:sldMk cId="2211235541" sldId="290"/>
        </pc:sldMkLst>
      </pc:sldChg>
      <pc:sldChg chg="del">
        <pc:chgData name="Vinicius Gabriel Martins" userId="802b222e-7a2e-42ef-a581-9fe33df6d868" providerId="ADAL" clId="{A4E25172-F5E7-4F2A-A1F3-D93F35D1A5DE}" dt="2021-05-26T16:22:39.749" v="1495" actId="47"/>
        <pc:sldMkLst>
          <pc:docMk/>
          <pc:sldMk cId="203093547" sldId="291"/>
        </pc:sldMkLst>
      </pc:sldChg>
      <pc:sldChg chg="del">
        <pc:chgData name="Vinicius Gabriel Martins" userId="802b222e-7a2e-42ef-a581-9fe33df6d868" providerId="ADAL" clId="{A4E25172-F5E7-4F2A-A1F3-D93F35D1A5DE}" dt="2021-05-26T16:22:40.449" v="1496" actId="47"/>
        <pc:sldMkLst>
          <pc:docMk/>
          <pc:sldMk cId="2629862689" sldId="292"/>
        </pc:sldMkLst>
      </pc:sldChg>
      <pc:sldChg chg="del">
        <pc:chgData name="Vinicius Gabriel Martins" userId="802b222e-7a2e-42ef-a581-9fe33df6d868" providerId="ADAL" clId="{A4E25172-F5E7-4F2A-A1F3-D93F35D1A5DE}" dt="2021-05-26T16:22:41.369" v="1497" actId="47"/>
        <pc:sldMkLst>
          <pc:docMk/>
          <pc:sldMk cId="295163822" sldId="293"/>
        </pc:sldMkLst>
      </pc:sldChg>
      <pc:sldChg chg="del">
        <pc:chgData name="Vinicius Gabriel Martins" userId="802b222e-7a2e-42ef-a581-9fe33df6d868" providerId="ADAL" clId="{A4E25172-F5E7-4F2A-A1F3-D93F35D1A5DE}" dt="2021-05-26T16:22:41.924" v="1498" actId="47"/>
        <pc:sldMkLst>
          <pc:docMk/>
          <pc:sldMk cId="3847005926" sldId="294"/>
        </pc:sldMkLst>
      </pc:sldChg>
      <pc:sldChg chg="del">
        <pc:chgData name="Vinicius Gabriel Martins" userId="802b222e-7a2e-42ef-a581-9fe33df6d868" providerId="ADAL" clId="{A4E25172-F5E7-4F2A-A1F3-D93F35D1A5DE}" dt="2021-05-26T16:22:42.689" v="1499" actId="47"/>
        <pc:sldMkLst>
          <pc:docMk/>
          <pc:sldMk cId="4158646900" sldId="295"/>
        </pc:sldMkLst>
      </pc:sldChg>
      <pc:sldChg chg="del">
        <pc:chgData name="Vinicius Gabriel Martins" userId="802b222e-7a2e-42ef-a581-9fe33df6d868" providerId="ADAL" clId="{A4E25172-F5E7-4F2A-A1F3-D93F35D1A5DE}" dt="2021-05-26T16:22:31.799" v="1489" actId="47"/>
        <pc:sldMkLst>
          <pc:docMk/>
          <pc:sldMk cId="2135592301" sldId="296"/>
        </pc:sldMkLst>
      </pc:sldChg>
      <pc:sldChg chg="del">
        <pc:chgData name="Vinicius Gabriel Martins" userId="802b222e-7a2e-42ef-a581-9fe33df6d868" providerId="ADAL" clId="{A4E25172-F5E7-4F2A-A1F3-D93F35D1A5DE}" dt="2021-05-26T16:22:30.529" v="1488" actId="47"/>
        <pc:sldMkLst>
          <pc:docMk/>
          <pc:sldMk cId="226277743" sldId="297"/>
        </pc:sldMkLst>
      </pc:sldChg>
      <pc:sldChg chg="addSp delSp modSp add mod">
        <pc:chgData name="Vinicius Gabriel Martins" userId="802b222e-7a2e-42ef-a581-9fe33df6d868" providerId="ADAL" clId="{A4E25172-F5E7-4F2A-A1F3-D93F35D1A5DE}" dt="2021-05-26T15:38:20.247" v="1079" actId="478"/>
        <pc:sldMkLst>
          <pc:docMk/>
          <pc:sldMk cId="838794001" sldId="298"/>
        </pc:sldMkLst>
        <pc:spChg chg="del mod">
          <ac:chgData name="Vinicius Gabriel Martins" userId="802b222e-7a2e-42ef-a581-9fe33df6d868" providerId="ADAL" clId="{A4E25172-F5E7-4F2A-A1F3-D93F35D1A5DE}" dt="2021-05-26T15:38:17.168" v="1078" actId="478"/>
          <ac:spMkLst>
            <pc:docMk/>
            <pc:sldMk cId="838794001" sldId="298"/>
            <ac:spMk id="3" creationId="{FD742253-18FA-4F68-975A-F0C0EC42C2C1}"/>
          </ac:spMkLst>
        </pc:spChg>
        <pc:spChg chg="del">
          <ac:chgData name="Vinicius Gabriel Martins" userId="802b222e-7a2e-42ef-a581-9fe33df6d868" providerId="ADAL" clId="{A4E25172-F5E7-4F2A-A1F3-D93F35D1A5DE}" dt="2021-05-26T15:38:20.247" v="1079" actId="478"/>
          <ac:spMkLst>
            <pc:docMk/>
            <pc:sldMk cId="838794001" sldId="298"/>
            <ac:spMk id="5" creationId="{00000000-0000-0000-0000-000000000000}"/>
          </ac:spMkLst>
        </pc:spChg>
        <pc:picChg chg="add del mod ord">
          <ac:chgData name="Vinicius Gabriel Martins" userId="802b222e-7a2e-42ef-a581-9fe33df6d868" providerId="ADAL" clId="{A4E25172-F5E7-4F2A-A1F3-D93F35D1A5DE}" dt="2021-05-26T15:38:13.592" v="1077" actId="478"/>
          <ac:picMkLst>
            <pc:docMk/>
            <pc:sldMk cId="838794001" sldId="298"/>
            <ac:picMk id="4" creationId="{C1C0C9FC-AD22-421C-9A0F-C54511B926A7}"/>
          </ac:picMkLst>
        </pc:picChg>
      </pc:sldChg>
      <pc:sldChg chg="add del">
        <pc:chgData name="Vinicius Gabriel Martins" userId="802b222e-7a2e-42ef-a581-9fe33df6d868" providerId="ADAL" clId="{A4E25172-F5E7-4F2A-A1F3-D93F35D1A5DE}" dt="2021-05-26T16:22:35.569" v="1490" actId="47"/>
        <pc:sldMkLst>
          <pc:docMk/>
          <pc:sldMk cId="1174390889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27/05/2021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437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81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067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070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932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225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55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81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swagger-ui.html#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080516" y="2038350"/>
            <a:ext cx="69469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SWAGGER</a:t>
            </a:r>
            <a:endParaRPr lang="pt-BR" sz="3200" b="1" spc="-200" dirty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638550"/>
            <a:ext cx="69469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Müller, </a:t>
            </a:r>
            <a:r>
              <a:rPr lang="pt-BR" sz="1800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Henrique </a:t>
            </a:r>
            <a:r>
              <a:rPr lang="pt-BR" sz="1800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Rohling</a:t>
            </a:r>
            <a:r>
              <a:rPr lang="pt-BR" sz="1800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</a:p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e Vinícius Gabriel Martins.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2269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Definição da Ferramenta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Tipos de Testes Suportados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Situações de Uso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Exemplos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Vantagens e Desvantagens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3231654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Whitney"/>
              </a:rPr>
              <a:t>O Swagger é um framework para </a:t>
            </a:r>
            <a:r>
              <a:rPr lang="pt-BR" dirty="0" smtClean="0">
                <a:latin typeface="Whitney"/>
              </a:rPr>
              <a:t>testes/documentação de APIs </a:t>
            </a:r>
            <a:r>
              <a:rPr lang="pt-BR" dirty="0">
                <a:latin typeface="Whitney"/>
              </a:rPr>
              <a:t>REST.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A </a:t>
            </a:r>
            <a:r>
              <a:rPr lang="pt-BR" dirty="0">
                <a:latin typeface="Whitney"/>
              </a:rPr>
              <a:t>documentação gerada por ele a partir de um arquivo </a:t>
            </a:r>
            <a:r>
              <a:rPr lang="pt-BR" dirty="0" smtClean="0">
                <a:latin typeface="Whitney"/>
              </a:rPr>
              <a:t>YAML/JSON </a:t>
            </a:r>
            <a:r>
              <a:rPr lang="pt-BR" dirty="0">
                <a:latin typeface="Whitney"/>
              </a:rPr>
              <a:t>é uma </a:t>
            </a:r>
            <a:r>
              <a:rPr lang="pt-BR" dirty="0" smtClean="0">
                <a:latin typeface="Whitney"/>
              </a:rPr>
              <a:t>página </a:t>
            </a:r>
            <a:r>
              <a:rPr lang="pt-BR" dirty="0">
                <a:latin typeface="Whitney"/>
              </a:rPr>
              <a:t>web onde pode-se facilmente descobrir e entender as capacidades de uma API sem precisar acessar código fonte e demais </a:t>
            </a:r>
            <a:r>
              <a:rPr lang="pt-BR" dirty="0" smtClean="0">
                <a:latin typeface="Whitney"/>
              </a:rPr>
              <a:t>documentações, </a:t>
            </a:r>
            <a:r>
              <a:rPr lang="pt-BR" dirty="0">
                <a:latin typeface="Whitney"/>
              </a:rPr>
              <a:t>possibilitando até testar requisições na página</a:t>
            </a:r>
            <a:r>
              <a:rPr lang="pt-BR" dirty="0" smtClean="0">
                <a:latin typeface="Whitney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Nessa apresentação falaremos sobre o Swagger Editor, Swagger Inspector e Swagger UI.</a:t>
            </a:r>
            <a:endParaRPr lang="pt-BR" dirty="0">
              <a:latin typeface="Whitney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>
                <a:latin typeface="Helvetica LT Std" panose="020B0504020202020204" pitchFamily="34" charset="0"/>
              </a:rPr>
              <a:t>Definição da Ferramenta</a:t>
            </a:r>
          </a:p>
        </p:txBody>
      </p:sp>
    </p:spTree>
    <p:extLst>
      <p:ext uri="{BB962C8B-B14F-4D97-AF65-F5344CB8AC3E}">
        <p14:creationId xmlns:p14="http://schemas.microsoft.com/office/powerpoint/2010/main" val="398618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2769989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A API REST é descrita em YAML, mas pode ser convertida para </a:t>
            </a:r>
            <a:r>
              <a:rPr lang="pt-BR" i="1" dirty="0" smtClean="0">
                <a:latin typeface="Whitney"/>
              </a:rPr>
              <a:t>.json</a:t>
            </a:r>
            <a:r>
              <a:rPr lang="pt-BR" dirty="0" smtClean="0">
                <a:latin typeface="Whitney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O Swagger Editor automaticamente gera a documentação da API (arquivos HTML) a partir do arquivo YAML ou JSON.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Por último, o Swagger UI (pacote do NPM),</a:t>
            </a:r>
            <a:r>
              <a:rPr lang="pt-BR" dirty="0">
                <a:latin typeface="Whitney"/>
              </a:rPr>
              <a:t/>
            </a:r>
            <a:br>
              <a:rPr lang="pt-BR" dirty="0">
                <a:latin typeface="Whitney"/>
              </a:rPr>
            </a:br>
            <a:r>
              <a:rPr lang="pt-BR" dirty="0" smtClean="0">
                <a:latin typeface="Whitney"/>
              </a:rPr>
              <a:t>permite encapsular toda a documentação em um</a:t>
            </a:r>
            <a:r>
              <a:rPr lang="pt-BR" dirty="0">
                <a:latin typeface="Whitney"/>
              </a:rPr>
              <a:t/>
            </a:r>
            <a:br>
              <a:rPr lang="pt-BR" dirty="0">
                <a:latin typeface="Whitney"/>
              </a:rPr>
            </a:br>
            <a:r>
              <a:rPr lang="pt-BR" dirty="0" smtClean="0">
                <a:latin typeface="Whitney"/>
              </a:rPr>
              <a:t>só elemento HTML.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Funcionamento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3486150"/>
            <a:ext cx="3076575" cy="11711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032" y="3776993"/>
            <a:ext cx="3733800" cy="924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038350"/>
            <a:ext cx="2590800" cy="13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2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46166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Whitney"/>
              </a:rPr>
              <a:t>É possível testar a API </a:t>
            </a:r>
            <a:r>
              <a:rPr lang="pt-BR" dirty="0" smtClean="0">
                <a:latin typeface="Whitney"/>
              </a:rPr>
              <a:t>com o Swagger Inspector.</a:t>
            </a:r>
            <a:endParaRPr lang="pt-BR" dirty="0">
              <a:latin typeface="Whitney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Testando a API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468669"/>
            <a:ext cx="4800600" cy="31612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68669"/>
            <a:ext cx="2362200" cy="310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2769989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u="sng" dirty="0" smtClean="0">
                <a:latin typeface="Whitney"/>
              </a:rPr>
              <a:t>Como deixar os testes automáticos</a:t>
            </a:r>
            <a:r>
              <a:rPr lang="pt-BR" dirty="0" smtClean="0">
                <a:latin typeface="Whitney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O Swagger não suporta testes automáticos por padrão; Apenas testes manuais, como vimos no slide passado.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Porém, existem outras ferramentas que integram com o Swagger e permitem a criação automática de testes. Uma delas é o Assertible, que será usada para fins de exemplos.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Testando a API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0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3231654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É possível importar um arquivo YAML ou JSON do Swagger para o Assertible.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Testes automáticos são criados para todos os endpoints e métodos fornecidos pela API descrita no arquivo.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Assertible permite a criação de </a:t>
            </a:r>
            <a:r>
              <a:rPr lang="pt-BR" i="1" dirty="0">
                <a:latin typeface="Whitney"/>
              </a:rPr>
              <a:t>s</a:t>
            </a:r>
            <a:r>
              <a:rPr lang="pt-BR" i="1" dirty="0" smtClean="0">
                <a:latin typeface="Whitney"/>
              </a:rPr>
              <a:t>etups</a:t>
            </a:r>
            <a:r>
              <a:rPr lang="pt-BR" dirty="0" smtClean="0">
                <a:latin typeface="Whitney"/>
              </a:rPr>
              <a:t> e </a:t>
            </a:r>
            <a:r>
              <a:rPr lang="pt-BR" i="1" dirty="0">
                <a:latin typeface="Whitney"/>
              </a:rPr>
              <a:t>t</a:t>
            </a:r>
            <a:r>
              <a:rPr lang="pt-BR" i="1" dirty="0" smtClean="0">
                <a:latin typeface="Whitney"/>
              </a:rPr>
              <a:t>eardowns</a:t>
            </a:r>
            <a:r>
              <a:rPr lang="pt-BR" dirty="0" smtClean="0">
                <a:latin typeface="Whitney"/>
              </a:rPr>
              <a:t> para cada teste, e também a criação de </a:t>
            </a:r>
            <a:r>
              <a:rPr lang="pt-BR" i="1" dirty="0">
                <a:latin typeface="Whitney"/>
              </a:rPr>
              <a:t>a</a:t>
            </a:r>
            <a:r>
              <a:rPr lang="pt-BR" i="1" dirty="0" smtClean="0">
                <a:latin typeface="Whitney"/>
              </a:rPr>
              <a:t>ssertions</a:t>
            </a:r>
            <a:r>
              <a:rPr lang="pt-BR" dirty="0" smtClean="0">
                <a:latin typeface="Whitney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Por último, permite a execução de testes em conjunto.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Assertible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7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92333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É possível criar </a:t>
            </a:r>
            <a:r>
              <a:rPr lang="pt-BR" i="1" dirty="0" smtClean="0">
                <a:latin typeface="Whitney"/>
              </a:rPr>
              <a:t>assertions</a:t>
            </a:r>
            <a:r>
              <a:rPr lang="pt-BR" dirty="0" smtClean="0">
                <a:latin typeface="Whitney"/>
              </a:rPr>
              <a:t> sobre: Códigos de resposta, valores do JSON de resposta, tempo de execução do teste, entre outros.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Assertible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81263"/>
            <a:ext cx="3810000" cy="2133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951232"/>
            <a:ext cx="2667000" cy="27636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930334"/>
            <a:ext cx="1828800" cy="65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71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007004"/>
            <a:ext cx="8387232" cy="2308324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Por último, é possível integrar os testes do Assertible com o Github, para que os testes sejam automaticamente executados após o </a:t>
            </a:r>
            <a:r>
              <a:rPr lang="pt-BR" i="1" dirty="0" smtClean="0">
                <a:latin typeface="Whitney"/>
              </a:rPr>
              <a:t>deployment</a:t>
            </a:r>
            <a:r>
              <a:rPr lang="pt-BR" dirty="0" smtClean="0">
                <a:latin typeface="Whitney"/>
              </a:rPr>
              <a:t> ocorrer.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Uma solução mais fácil é simplesmente executar um comando CURL (gerado pelo Assertible) quando o </a:t>
            </a:r>
            <a:r>
              <a:rPr lang="pt-BR" i="1" dirty="0" smtClean="0">
                <a:latin typeface="Whitney"/>
              </a:rPr>
              <a:t>deployment</a:t>
            </a:r>
            <a:r>
              <a:rPr lang="pt-BR" dirty="0" smtClean="0">
                <a:latin typeface="Whitney"/>
              </a:rPr>
              <a:t> ocorrer: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Assertible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486150"/>
            <a:ext cx="487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5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09161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Whitney"/>
              </a:rPr>
              <a:t>O Swagger permite criar a documentação da API de 3 formas: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Whitney"/>
              </a:rPr>
              <a:t>Automaticamente: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solidFill>
                  <a:srgbClr val="07477C"/>
                </a:solidFill>
                <a:latin typeface="Whitney"/>
                <a:cs typeface="Calibri"/>
              </a:rPr>
              <a:t>Simultaneamente ao desenvolvimento da API é gerada a documentação.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Whitney"/>
              </a:rPr>
              <a:t>Manualmente: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solidFill>
                  <a:srgbClr val="07477C"/>
                </a:solidFill>
                <a:latin typeface="Whitney"/>
                <a:cs typeface="Calibri"/>
              </a:rPr>
              <a:t>Escrevendo manualmente e publicando posteriormente.</a:t>
            </a:r>
            <a:endParaRPr lang="pt-BR" dirty="0">
              <a:latin typeface="Whitney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Whitney"/>
              </a:rPr>
              <a:t>Codegen</a:t>
            </a:r>
            <a:endParaRPr lang="pt-BR" dirty="0">
              <a:latin typeface="Whitney"/>
            </a:endParaRPr>
          </a:p>
          <a:p>
            <a:pPr lvl="1" algn="just">
              <a:lnSpc>
                <a:spcPct val="150000"/>
              </a:lnSpc>
            </a:pPr>
            <a:r>
              <a:rPr lang="pt-BR" dirty="0">
                <a:solidFill>
                  <a:srgbClr val="07477C"/>
                </a:solidFill>
                <a:latin typeface="Whitney"/>
                <a:cs typeface="Calibri"/>
              </a:rPr>
              <a:t>Convertendo as anotações no código da API REST em documentação.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74592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>
                <a:latin typeface="Helvetica LT Std" panose="020B0504020202020204" pitchFamily="34" charset="0"/>
              </a:rPr>
              <a:t>Desenvolvimento da documentação</a:t>
            </a:r>
          </a:p>
        </p:txBody>
      </p:sp>
    </p:spTree>
    <p:extLst>
      <p:ext uri="{BB962C8B-B14F-4D97-AF65-F5344CB8AC3E}">
        <p14:creationId xmlns:p14="http://schemas.microsoft.com/office/powerpoint/2010/main" val="3837401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2308324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Whitney"/>
              </a:rPr>
              <a:t>Sistema de Vendas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i="0" dirty="0" smtClean="0">
                <a:effectLst/>
                <a:latin typeface="Whitney"/>
              </a:rPr>
              <a:t>Aplicação REST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Whitney"/>
              </a:rPr>
              <a:t>Spring Boot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i="0" dirty="0" smtClean="0">
                <a:effectLst/>
                <a:latin typeface="Whitney"/>
              </a:rPr>
              <a:t>MySQL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trike="sngStrike" dirty="0" smtClean="0">
                <a:latin typeface="Whitney"/>
              </a:rPr>
              <a:t>JWT</a:t>
            </a:r>
            <a:endParaRPr lang="pt-BR" b="0" i="0" strike="sngStrike" dirty="0" smtClean="0">
              <a:effectLst/>
              <a:latin typeface="Whitney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9" r="8934"/>
          <a:stretch/>
        </p:blipFill>
        <p:spPr>
          <a:xfrm>
            <a:off x="4114800" y="514350"/>
            <a:ext cx="3810000" cy="395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1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14" y="1123950"/>
            <a:ext cx="4153486" cy="346863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32462"/>
            <a:ext cx="4343779" cy="34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0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31" y="1123950"/>
            <a:ext cx="4068369" cy="347008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50000" r="62500" b="21565"/>
          <a:stretch/>
        </p:blipFill>
        <p:spPr>
          <a:xfrm>
            <a:off x="4953000" y="1123949"/>
            <a:ext cx="32004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7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9475" r="3892"/>
          <a:stretch/>
        </p:blipFill>
        <p:spPr>
          <a:xfrm>
            <a:off x="3429000" y="1259681"/>
            <a:ext cx="5334001" cy="3250406"/>
          </a:xfrm>
          <a:prstGeom prst="rect">
            <a:avLst/>
          </a:prstGeom>
        </p:spPr>
      </p:pic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383" y="1302279"/>
            <a:ext cx="8387232" cy="866327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 smtClean="0">
                <a:latin typeface="Whitney"/>
              </a:rPr>
              <a:t>Swagger</a:t>
            </a:r>
            <a:r>
              <a:rPr lang="pt-BR" dirty="0" smtClean="0">
                <a:latin typeface="Whitney"/>
              </a:rPr>
              <a:t> </a:t>
            </a:r>
            <a:r>
              <a:rPr lang="pt-BR" dirty="0" err="1" smtClean="0">
                <a:latin typeface="Whitney"/>
              </a:rPr>
              <a:t>Dependency</a:t>
            </a:r>
            <a:endParaRPr lang="pt-BR" dirty="0" smtClean="0">
              <a:latin typeface="Whitney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i="0" dirty="0" err="1" smtClean="0">
                <a:effectLst/>
                <a:latin typeface="Whitney"/>
              </a:rPr>
              <a:t>Swagger</a:t>
            </a:r>
            <a:r>
              <a:rPr lang="pt-BR" b="0" i="0" dirty="0" smtClean="0">
                <a:effectLst/>
                <a:latin typeface="Whitney"/>
              </a:rPr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22820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07004"/>
            <a:ext cx="5922106" cy="36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2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5029200" y="717612"/>
            <a:ext cx="39677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3"/>
              </a:rPr>
              <a:t>http://localhost:8080/swagger-ui.html#/</a:t>
            </a:r>
            <a:r>
              <a:rPr lang="pt-BR" sz="1200" dirty="0">
                <a:solidFill>
                  <a:srgbClr val="242729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 </a:t>
            </a:r>
            <a:endParaRPr lang="pt-BR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11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7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31" y="1200150"/>
            <a:ext cx="8526070" cy="296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5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36"/>
            <a:ext cx="9144000" cy="514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8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 smtClean="0">
                <a:latin typeface="Helvetica LT Std" panose="020B0504020202020204" pitchFamily="34" charset="0"/>
              </a:rPr>
              <a:t>Exemplos</a:t>
            </a:r>
            <a:endParaRPr lang="pt-BR" kern="0" spc="-285" dirty="0">
              <a:latin typeface="Helvetica LT Std" panose="020B05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5"/>
          <a:stretch/>
        </p:blipFill>
        <p:spPr>
          <a:xfrm>
            <a:off x="0" y="0"/>
            <a:ext cx="9220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5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1C0C9FC-AD22-421C-9A0F-C54511B92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94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42253-18FA-4F68-975A-F0C0EC42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23950"/>
            <a:ext cx="8387232" cy="2769989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xmlns="" r:embed="rId3"/>
                    </a:ext>
                  </a:extLst>
                </a:blip>
              </a:buBlip>
            </a:pPr>
            <a:r>
              <a:rPr lang="pt-BR" dirty="0"/>
              <a:t>Comunidade grande gerando diversas ferramentas para o Swagger.</a:t>
            </a:r>
          </a:p>
          <a:p>
            <a:pPr marL="342900" indent="-342900" algn="just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xmlns="" r:embed="rId3"/>
                    </a:ext>
                  </a:extLst>
                </a:blip>
              </a:buBlip>
            </a:pPr>
            <a:r>
              <a:rPr lang="pt-BR" dirty="0"/>
              <a:t>Framework </a:t>
            </a:r>
            <a:r>
              <a:rPr lang="pt-BR" dirty="0" smtClean="0"/>
              <a:t>multi-linguagem</a:t>
            </a:r>
            <a:r>
              <a:rPr lang="pt-BR" dirty="0"/>
              <a:t>, implementado nas mais diversas tecnologias.</a:t>
            </a:r>
          </a:p>
          <a:p>
            <a:pPr marL="342900" indent="-342900" algn="just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xmlns="" r:embed="rId3"/>
                    </a:ext>
                  </a:extLst>
                </a:blip>
              </a:buBlip>
            </a:pPr>
            <a:r>
              <a:rPr lang="pt-BR" dirty="0"/>
              <a:t>Interface gráfica auxilia no entendimento das APIs REST.</a:t>
            </a:r>
          </a:p>
          <a:p>
            <a:pPr marL="342900" indent="-342900" algn="just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xmlns="" r:embed="rId3"/>
                    </a:ext>
                  </a:extLst>
                </a:blip>
              </a:buBlip>
            </a:pPr>
            <a:endParaRPr lang="pt-BR" dirty="0"/>
          </a:p>
          <a:p>
            <a:pPr marL="342900" indent="-342900" algn="just">
              <a:lnSpc>
                <a:spcPct val="1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</a:buBlip>
            </a:pPr>
            <a:r>
              <a:rPr lang="pt-BR" dirty="0" smtClean="0"/>
              <a:t>A </a:t>
            </a:r>
            <a:r>
              <a:rPr lang="pt-BR" dirty="0"/>
              <a:t>configuração pode ser trabalhosa</a:t>
            </a:r>
            <a:r>
              <a:rPr lang="pt-BR" dirty="0" smtClean="0"/>
              <a:t>.</a:t>
            </a:r>
          </a:p>
          <a:p>
            <a:pPr marL="342900" indent="-342900" algn="just">
              <a:lnSpc>
                <a:spcPct val="150000"/>
              </a:lnSpc>
              <a:buBlip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</a:buBlip>
            </a:pPr>
            <a:r>
              <a:rPr lang="pt-BR" dirty="0" smtClean="0"/>
              <a:t>Não faz testes automáticos nativamente.</a:t>
            </a:r>
            <a:endParaRPr lang="pt-BR" dirty="0"/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3131" y="440182"/>
            <a:ext cx="6849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kern="0" spc="-285" dirty="0">
                <a:latin typeface="Helvetica LT Std" panose="020B0504020202020204" pitchFamily="34" charset="0"/>
              </a:rPr>
              <a:t>Vantagens e Desvantagens</a:t>
            </a:r>
          </a:p>
        </p:txBody>
      </p:sp>
    </p:spTree>
    <p:extLst>
      <p:ext uri="{BB962C8B-B14F-4D97-AF65-F5344CB8AC3E}">
        <p14:creationId xmlns:p14="http://schemas.microsoft.com/office/powerpoint/2010/main" val="78901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640370" cy="2336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1400" b="1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Blackboard</a:t>
            </a: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 REST API.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&lt;https://developer.blackboard.com/portal/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displayApi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&gt;</a:t>
            </a:r>
          </a:p>
          <a:p>
            <a:pPr marL="2984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1400" b="1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What</a:t>
            </a: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 is Swagger?.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&lt;https://swagger.io/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docs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specification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/2-0/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what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-is-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swagger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/&gt;</a:t>
            </a:r>
          </a:p>
          <a:p>
            <a:pPr marL="2984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Documentando sua API </a:t>
            </a:r>
            <a:r>
              <a:rPr lang="pt-BR" sz="1400" b="1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Rest</a:t>
            </a: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 com Swagger.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&lt;http://www2.decom.ufop.br/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terralab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/documentando-sua-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api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-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rest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-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com-swagger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/&gt;</a:t>
            </a:r>
          </a:p>
          <a:p>
            <a:pPr marL="2984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Swagger (software).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&lt;https://en.wikipedia.org/wiki/Swagger_(software)&gt;</a:t>
            </a:r>
          </a:p>
          <a:p>
            <a:pPr marL="2984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Swagger – Documente seu ASP.NET Web API Rest.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&lt;https://rafaelcruz.azurewebsites.net/2016/08/23/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swagger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-documente-sua-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api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-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rest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/&gt;</a:t>
            </a:r>
          </a:p>
          <a:p>
            <a:pPr marL="2984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Swagger – Spring REST </a:t>
            </a:r>
            <a:r>
              <a:rPr lang="pt-BR" sz="1400" b="1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Example</a:t>
            </a:r>
            <a:r>
              <a:rPr lang="pt-BR" sz="14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.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&lt;https://howtodoinjava.com/swagger2/</a:t>
            </a:r>
            <a:r>
              <a:rPr lang="pt-BR" sz="14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swagger-spring-mvc-rest-example</a:t>
            </a:r>
            <a:r>
              <a:rPr lang="pt-BR" sz="1400" dirty="0">
                <a:solidFill>
                  <a:srgbClr val="07477C"/>
                </a:solidFill>
                <a:latin typeface="Helvetica LT Std" panose="020B0504020202020204" pitchFamily="34" charset="0"/>
              </a:rPr>
              <a:t>/&gt;</a:t>
            </a:r>
            <a:endParaRPr lang="pt-BR" i="1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7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1434</TotalTime>
  <Words>582</Words>
  <Application>Microsoft Office PowerPoint</Application>
  <PresentationFormat>Apresentação na tela (16:9)</PresentationFormat>
  <Paragraphs>84</Paragraphs>
  <Slides>23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Arial</vt:lpstr>
      <vt:lpstr>Calibri</vt:lpstr>
      <vt:lpstr>Fira Code</vt:lpstr>
      <vt:lpstr>Helvetica LT Std</vt:lpstr>
      <vt:lpstr>Whitney</vt:lpstr>
      <vt:lpstr>Office Theme</vt:lpstr>
      <vt:lpstr>Apresentação do PowerPoint</vt:lpstr>
      <vt:lpstr>Sumário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Usuário do Windows</cp:lastModifiedBy>
  <cp:revision>279</cp:revision>
  <dcterms:created xsi:type="dcterms:W3CDTF">2019-04-07T19:13:44Z</dcterms:created>
  <dcterms:modified xsi:type="dcterms:W3CDTF">2021-05-27T21:33:34Z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
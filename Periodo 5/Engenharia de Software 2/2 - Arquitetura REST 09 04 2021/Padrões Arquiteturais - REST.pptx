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93" r:id="rId4"/>
    <p:sldId id="294" r:id="rId5"/>
    <p:sldId id="304" r:id="rId6"/>
    <p:sldId id="295" r:id="rId7"/>
    <p:sldId id="296" r:id="rId8"/>
    <p:sldId id="297" r:id="rId9"/>
    <p:sldId id="298" r:id="rId10"/>
    <p:sldId id="299" r:id="rId11"/>
    <p:sldId id="300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301" r:id="rId20"/>
    <p:sldId id="302" r:id="rId21"/>
    <p:sldId id="303" r:id="rId22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0" autoAdjust="0"/>
    <p:restoredTop sz="95349" autoAdjust="0"/>
  </p:normalViewPr>
  <p:slideViewPr>
    <p:cSldViewPr>
      <p:cViewPr varScale="1">
        <p:scale>
          <a:sx n="98" d="100"/>
          <a:sy n="98" d="100"/>
        </p:scale>
        <p:origin x="78" y="8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08/04/2021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Imagem de Slid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Espaço Reservado para Anotações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pt-BR" altLang="pt-BR" smtClean="0">
                <a:solidFill>
                  <a:srgbClr val="252525"/>
                </a:solidFill>
                <a:latin typeface="Roboto"/>
              </a:rPr>
              <a:t>Rest: Transferência de Estado Representacional</a:t>
            </a:r>
          </a:p>
        </p:txBody>
      </p:sp>
      <p:sp>
        <p:nvSpPr>
          <p:cNvPr id="6148" name="Espaço Reservado para Número de Slid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6856E32F-AD7A-458F-9FBE-1584BE3B789E}" type="slidenum">
              <a:rPr lang="pt-BR" altLang="pt-BR"/>
              <a:pPr/>
              <a:t>3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50909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Imagem de Slid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Espaço Reservado para Anotações 2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BR" altLang="pt-BR" smtClean="0"/>
          </a:p>
        </p:txBody>
      </p:sp>
      <p:sp>
        <p:nvSpPr>
          <p:cNvPr id="8196" name="Espaço Reservado para Número de Slid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A48DE68-F791-49CA-903D-E74CA7E6E270}" type="slidenum">
              <a:rPr lang="pt-BR" altLang="pt-BR"/>
              <a:pPr/>
              <a:t>4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74268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247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9166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9690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891EA-2169-4D74-886B-EA8EA7CCD575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915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4/8/2021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1733550"/>
            <a:ext cx="6946900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PADRÕES ARQUITETURAIS: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REST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638550"/>
            <a:ext cx="69469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Gustavo Henrique </a:t>
            </a:r>
            <a:r>
              <a:rPr lang="pt-BR" spc="-130" dirty="0" err="1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Stahl</a:t>
            </a: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 Müller, Paulo Henrique </a:t>
            </a:r>
            <a:r>
              <a:rPr lang="pt-BR" spc="-130" dirty="0" err="1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Rohling</a:t>
            </a:r>
            <a:endParaRPr lang="pt-BR" spc="-130" dirty="0">
              <a:solidFill>
                <a:srgbClr val="07477C"/>
              </a:solidFill>
              <a:latin typeface="Helvetica LT Std" panose="020B0504020202020204" pitchFamily="34" charset="0"/>
              <a:cs typeface="Calibri"/>
            </a:endParaRPr>
          </a:p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e Vinícius Gabriel Martins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Sumário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2749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Definição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Problematização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Solução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Aplicação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Exemplos</a:t>
            </a:r>
          </a:p>
          <a:p>
            <a:pPr marL="355600" indent="-342900">
              <a:spcBef>
                <a:spcPts val="10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Vantagens e Desvantagens</a:t>
            </a:r>
            <a:endParaRPr lang="pt-BR" sz="22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Texto 2"/>
          <p:cNvSpPr>
            <a:spLocks noGrp="1" noChangeArrowheads="1"/>
          </p:cNvSpPr>
          <p:nvPr>
            <p:ph type="body" idx="1"/>
          </p:nvPr>
        </p:nvSpPr>
        <p:spPr>
          <a:xfrm>
            <a:off x="377825" y="1084263"/>
            <a:ext cx="8388350" cy="1801006"/>
          </a:xfrm>
        </p:spPr>
        <p:txBody>
          <a:bodyPr/>
          <a:lstStyle/>
          <a:p>
            <a:pPr marL="285750" indent="-285750"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1600" dirty="0" smtClean="0">
                <a:latin typeface="Whitney"/>
                <a:cs typeface="Calibri" panose="020F0502020204030204" pitchFamily="34" charset="0"/>
              </a:rPr>
              <a:t>A arquitetura REST (Representational State Transfer) foi idealizada por Roy Thomas Fielding em sua tese de doutorado, com o objetivo de designar uma arquitetura de design e desenvolvimento para a Web como (web services e APIs).</a:t>
            </a:r>
            <a:endParaRPr lang="pt-BR" altLang="pt-BR" sz="1600" dirty="0">
              <a:latin typeface="Whitney"/>
              <a:cs typeface="Calibri" panose="020F0502020204030204" pitchFamily="34" charset="0"/>
            </a:endParaRPr>
          </a:p>
          <a:p>
            <a:pPr marL="285750" indent="-285750"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1600" dirty="0" smtClean="0">
                <a:latin typeface="Whitney"/>
                <a:cs typeface="Calibri" panose="020F0502020204030204" pitchFamily="34" charset="0"/>
              </a:rPr>
              <a:t>O objetivo principal é realizar por meio de simples chamadas HTTP a manipulação dos recursos de uma aplicação.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2738" y="439738"/>
            <a:ext cx="2354262" cy="566737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kern="0" spc="-285" dirty="0">
                <a:latin typeface="Helvetica LT Std" panose="020B0504020202020204" pitchFamily="34" charset="0"/>
              </a:rPr>
              <a:t>Definição</a:t>
            </a:r>
          </a:p>
        </p:txBody>
      </p:sp>
      <p:pic>
        <p:nvPicPr>
          <p:cNvPr id="5124" name="Picture 2" descr="Mastering REST Architecture — Introduction | by Ahmet ÖZLÜ |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647950"/>
            <a:ext cx="2657475" cy="199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946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Texto 2"/>
          <p:cNvSpPr>
            <a:spLocks noGrp="1" noChangeArrowheads="1"/>
          </p:cNvSpPr>
          <p:nvPr>
            <p:ph type="body" idx="1"/>
          </p:nvPr>
        </p:nvSpPr>
        <p:spPr>
          <a:xfrm>
            <a:off x="377825" y="1084263"/>
            <a:ext cx="8388350" cy="2251322"/>
          </a:xfrm>
        </p:spPr>
        <p:txBody>
          <a:bodyPr/>
          <a:lstStyle/>
          <a:p>
            <a:pPr marL="342900" indent="-342900"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dirty="0">
                <a:latin typeface="Whitney"/>
                <a:cs typeface="Calibri" panose="020F0502020204030204" pitchFamily="34" charset="0"/>
              </a:rPr>
              <a:t>A crescente necessidade de comunicação entre aplicações impõe que o desenvolvimento dessa comunicação seja o mais eficiente possível.</a:t>
            </a:r>
          </a:p>
          <a:p>
            <a:pPr marL="342900" indent="-342900" algn="just" eaLnBrk="1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dirty="0">
                <a:latin typeface="Whitney"/>
                <a:cs typeface="Calibri" panose="020F0502020204030204" pitchFamily="34" charset="0"/>
              </a:rPr>
              <a:t>Porém, uma aplicação precisa ter mais do que só uma comunicação entre aplicações, precisa ser leve, rápida e desenvolvida sob boas práticas.</a:t>
            </a:r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312738" y="439738"/>
            <a:ext cx="3344862" cy="566737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kern="0" spc="-285" dirty="0">
                <a:latin typeface="Helvetica LT Std" panose="020B0504020202020204" pitchFamily="34" charset="0"/>
              </a:rPr>
              <a:t>Problematização</a:t>
            </a:r>
          </a:p>
        </p:txBody>
      </p:sp>
    </p:spTree>
    <p:extLst>
      <p:ext uri="{BB962C8B-B14F-4D97-AF65-F5344CB8AC3E}">
        <p14:creationId xmlns:p14="http://schemas.microsoft.com/office/powerpoint/2010/main" val="216877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Solução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92333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Usar REST.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É um modelo arquitetural que impõe restrições na criação de API’s.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Uma API que obedece os padrões REST é chamada de RESTful. </a:t>
            </a:r>
          </a:p>
        </p:txBody>
      </p:sp>
      <p:pic>
        <p:nvPicPr>
          <p:cNvPr id="6" name="Picture 2" descr="What is REST API? | Zestard Technolog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66950"/>
            <a:ext cx="5257800" cy="2243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371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Aplicação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2"/>
            <a:ext cx="8387232" cy="2477968"/>
          </a:xfrm>
        </p:spPr>
        <p:txBody>
          <a:bodyPr/>
          <a:lstStyle/>
          <a:p>
            <a:pPr marL="342900" indent="-34290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Uma das principais restrições do REST é a falta de estado.</a:t>
            </a:r>
            <a:endParaRPr lang="pt-BR" sz="1800" dirty="0">
              <a:latin typeface="Helvetica LT Std" panose="020B0504020202020204"/>
            </a:endParaRPr>
          </a:p>
          <a:p>
            <a:pPr marL="342900" indent="-34290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A carga útil de um recurso é representada por um formato comum à todos os sistemas (JSON/XML), por isso, é possível que diferentes sistemas se comuniquem através de uma API RESTful.</a:t>
            </a:r>
          </a:p>
          <a:p>
            <a:pPr marL="342900" indent="-34290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Geralmente é usada com HTTP.</a:t>
            </a:r>
          </a:p>
          <a:p>
            <a:pPr marL="342900" indent="-342900" algn="just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Nesse caso, os métodos HTTP da requisição dirão o que deve ser feito sobre</a:t>
            </a:r>
            <a:endParaRPr lang="pt-BR" sz="1800" dirty="0">
              <a:latin typeface="Helvetica LT Std" panose="020B0504020202020204"/>
            </a:endParaRPr>
          </a:p>
          <a:p>
            <a:pPr algn="just">
              <a:lnSpc>
                <a:spcPct val="114000"/>
              </a:lnSpc>
            </a:pPr>
            <a:r>
              <a:rPr lang="pt-BR" sz="1800" dirty="0" smtClean="0">
                <a:latin typeface="Helvetica LT Std" panose="020B0504020202020204"/>
              </a:rPr>
              <a:t>o recurso relacionado à URI requisitada (GET, POST, PUT, DELETE, etc..).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62200" y="3790950"/>
            <a:ext cx="1752600" cy="5232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tx2"/>
                </a:solidFill>
                <a:latin typeface="Helvetica LT Std" panose="020B0504020202020204"/>
              </a:rPr>
              <a:t>GET /clientes</a:t>
            </a:r>
            <a:br>
              <a:rPr lang="pt-BR" sz="1400" dirty="0" smtClean="0">
                <a:solidFill>
                  <a:schemeClr val="tx2"/>
                </a:solidFill>
                <a:latin typeface="Helvetica LT Std" panose="020B0504020202020204"/>
              </a:rPr>
            </a:br>
            <a:r>
              <a:rPr lang="pt-BR" sz="1400" dirty="0" smtClean="0">
                <a:solidFill>
                  <a:schemeClr val="tx2"/>
                </a:solidFill>
                <a:latin typeface="Helvetica LT Std" panose="020B0504020202020204"/>
              </a:rPr>
              <a:t>GET /clientes/1</a:t>
            </a:r>
            <a:endParaRPr lang="pt-BR" sz="1400" dirty="0">
              <a:solidFill>
                <a:schemeClr val="tx2"/>
              </a:solidFill>
              <a:latin typeface="Helvetica LT Std" panose="020B05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7200" y="3790950"/>
            <a:ext cx="1981200" cy="52322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tx2"/>
                </a:solidFill>
                <a:latin typeface="Helvetica LT Std" panose="020B0504020202020204"/>
              </a:rPr>
              <a:t>POST /clientes</a:t>
            </a:r>
            <a:br>
              <a:rPr lang="pt-BR" sz="1400" dirty="0" smtClean="0">
                <a:solidFill>
                  <a:schemeClr val="tx2"/>
                </a:solidFill>
                <a:latin typeface="Helvetica LT Std" panose="020B0504020202020204"/>
              </a:rPr>
            </a:br>
            <a:r>
              <a:rPr lang="pt-BR" sz="1400" dirty="0" smtClean="0">
                <a:solidFill>
                  <a:schemeClr val="tx2"/>
                </a:solidFill>
                <a:latin typeface="Helvetica LT Std" panose="020B0504020202020204"/>
              </a:rPr>
              <a:t>DELETE /clientes/3</a:t>
            </a:r>
            <a:endParaRPr lang="pt-BR" sz="1400" dirty="0">
              <a:solidFill>
                <a:schemeClr val="tx2"/>
              </a:solidFill>
              <a:latin typeface="Helvetica LT Std" panose="020B05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27127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Aplicação</a:t>
            </a:r>
            <a:endParaRPr lang="pt-BR" dirty="0">
              <a:latin typeface="Helvetica LT Std"/>
            </a:endParaRPr>
          </a:p>
        </p:txBody>
      </p:sp>
      <p:pic>
        <p:nvPicPr>
          <p:cNvPr id="3074" name="Picture 2" descr="Creating a simple REST API in PHP - ShareurCod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123950"/>
            <a:ext cx="4876800" cy="357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338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SOAP e REST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123110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REST não possui um padrão oficial, pois é um modelo arquitetural.</a:t>
            </a:r>
            <a:br>
              <a:rPr lang="pt-BR" dirty="0" smtClean="0">
                <a:latin typeface="Helvetica LT Std" panose="020B0504020202020204"/>
              </a:rPr>
            </a:br>
            <a:r>
              <a:rPr lang="pt-BR" dirty="0" smtClean="0">
                <a:latin typeface="Helvetica LT Std" panose="020B0504020202020204"/>
              </a:rPr>
              <a:t>SOAP, por outro lado, possui um padrão oficial porque é um protocolo;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>
              <a:latin typeface="Helvetica LT Std" panose="020B05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>
              <a:latin typeface="Helvetica LT Std" panose="020B0504020202020204"/>
            </a:endParaRPr>
          </a:p>
        </p:txBody>
      </p:sp>
      <p:pic>
        <p:nvPicPr>
          <p:cNvPr id="4101" name="Picture 5" descr="SOAP vs RE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571750"/>
            <a:ext cx="5788025" cy="2265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https://upload.wikimedia.org/wikipedia/commons/thumb/5/59/SOAP.svg/220px-SOAP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59" y="2629873"/>
            <a:ext cx="1820470" cy="1944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83059" y="1797288"/>
            <a:ext cx="2898341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chemeClr val="tx2"/>
                </a:solidFill>
                <a:latin typeface="Helvetica LT Std" panose="020B0504020202020204"/>
              </a:rPr>
              <a:t>Criar um Cliente</a:t>
            </a:r>
            <a:br>
              <a:rPr lang="pt-BR" sz="1200" b="1" dirty="0" smtClean="0">
                <a:solidFill>
                  <a:schemeClr val="tx2"/>
                </a:solidFill>
                <a:latin typeface="Helvetica LT Std" panose="020B0504020202020204"/>
              </a:rPr>
            </a:br>
            <a:r>
              <a:rPr lang="pt-BR" sz="1200" b="1" dirty="0" smtClean="0">
                <a:solidFill>
                  <a:schemeClr val="tx2"/>
                </a:solidFill>
                <a:latin typeface="Helvetica LT Std" panose="020B0504020202020204"/>
              </a:rPr>
              <a:t>REST</a:t>
            </a:r>
            <a:r>
              <a:rPr lang="pt-BR" sz="1200" dirty="0" smtClean="0">
                <a:solidFill>
                  <a:schemeClr val="tx2"/>
                </a:solidFill>
                <a:latin typeface="Helvetica LT Std" panose="020B0504020202020204"/>
              </a:rPr>
              <a:t>: POST /clientes</a:t>
            </a:r>
            <a:br>
              <a:rPr lang="pt-BR" sz="1200" dirty="0" smtClean="0">
                <a:solidFill>
                  <a:schemeClr val="tx2"/>
                </a:solidFill>
                <a:latin typeface="Helvetica LT Std" panose="020B0504020202020204"/>
              </a:rPr>
            </a:br>
            <a:r>
              <a:rPr lang="pt-BR" sz="1200" b="1" dirty="0" smtClean="0">
                <a:solidFill>
                  <a:schemeClr val="tx2"/>
                </a:solidFill>
                <a:latin typeface="Helvetica LT Std" panose="020B0504020202020204"/>
              </a:rPr>
              <a:t>Outro modelo</a:t>
            </a:r>
            <a:r>
              <a:rPr lang="pt-BR" sz="1200" dirty="0" smtClean="0">
                <a:solidFill>
                  <a:schemeClr val="tx2"/>
                </a:solidFill>
                <a:latin typeface="Helvetica LT Std" panose="020B0504020202020204"/>
              </a:rPr>
              <a:t>: GET /clientes/new</a:t>
            </a:r>
            <a:endParaRPr lang="pt-BR" sz="1200" dirty="0">
              <a:solidFill>
                <a:schemeClr val="tx2"/>
              </a:solidFill>
              <a:latin typeface="Helvetica LT Std" panose="020B05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050425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SOAP e REST</a:t>
            </a:r>
            <a:endParaRPr lang="pt-BR" dirty="0">
              <a:latin typeface="Helvetica LT Std"/>
            </a:endParaRPr>
          </a:p>
        </p:txBody>
      </p:sp>
      <p:pic>
        <p:nvPicPr>
          <p:cNvPr id="6150" name="Picture 6" descr="IBM Knowledge Cen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04950"/>
            <a:ext cx="4882398" cy="2667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724025"/>
            <a:ext cx="3476625" cy="22288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68556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Web Tokens</a:t>
            </a:r>
            <a:endParaRPr lang="pt-BR" dirty="0">
              <a:latin typeface="Helvetica LT Std"/>
            </a:endParaRP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246221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Sem estado: </a:t>
            </a:r>
            <a:r>
              <a:rPr lang="pt-BR" u="sng" dirty="0" smtClean="0">
                <a:latin typeface="Helvetica LT Std" panose="020B0504020202020204"/>
              </a:rPr>
              <a:t>Como lembrar se o usuário está logado ou não?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 smtClean="0">
              <a:latin typeface="Helvetica LT Std" panose="020B05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O usuário faz uma requisição de login para a API RESTful.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Um token é enviado no corpo da resposta.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A cada requisição que o usuário faz para a API RESTful que requer autenticação, esse token deve ser enviado como um cabeçalho.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smtClean="0">
                <a:latin typeface="Helvetica LT Std" panose="020B0504020202020204"/>
              </a:rPr>
              <a:t>O servidor checa se esse token está correto ou não.</a:t>
            </a:r>
            <a:br>
              <a:rPr lang="pt-BR" dirty="0" smtClean="0">
                <a:latin typeface="Helvetica LT Std" panose="020B0504020202020204"/>
              </a:rPr>
            </a:br>
            <a:endParaRPr lang="pt-BR" dirty="0" smtClean="0">
              <a:latin typeface="Helvetica LT Std" panose="020B05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84421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Web Tokens</a:t>
            </a:r>
            <a:endParaRPr lang="pt-BR" dirty="0">
              <a:latin typeface="Helvetica LT Std"/>
            </a:endParaRPr>
          </a:p>
        </p:txBody>
      </p:sp>
      <p:pic>
        <p:nvPicPr>
          <p:cNvPr id="1026" name="Picture 2" descr="JWT — Usando tokens para comunicação eficiente | by Lucas Santos | Training  Center | Mediu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123950"/>
            <a:ext cx="6172200" cy="3460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211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Exemplos</a:t>
            </a:r>
            <a:endParaRPr lang="pt-BR" dirty="0">
              <a:latin typeface="Helvetica LT Std"/>
            </a:endParaRPr>
          </a:p>
        </p:txBody>
      </p:sp>
      <p:pic>
        <p:nvPicPr>
          <p:cNvPr id="1026" name="Picture 2" descr="Amazon logo | Registra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29" y="1885950"/>
            <a:ext cx="4195045" cy="1763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ervices em Java com Spring Boot | by Odilio Noronha | RapaduraTech |  Medium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006"/>
          <a:stretch/>
        </p:blipFill>
        <p:spPr bwMode="auto">
          <a:xfrm>
            <a:off x="4800600" y="1885950"/>
            <a:ext cx="3672468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58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Exemplos</a:t>
            </a:r>
            <a:endParaRPr lang="pt-BR" dirty="0">
              <a:latin typeface="Helvetica LT Std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33125" t="24615" r="53125" b="54615"/>
          <a:stretch/>
        </p:blipFill>
        <p:spPr>
          <a:xfrm>
            <a:off x="446996" y="1123950"/>
            <a:ext cx="2757568" cy="3384288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3"/>
          <a:srcRect l="20930" t="10000" r="27907" b="9230"/>
          <a:stretch/>
        </p:blipFill>
        <p:spPr>
          <a:xfrm>
            <a:off x="3505200" y="590550"/>
            <a:ext cx="3382729" cy="403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99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Exemplos</a:t>
            </a:r>
            <a:endParaRPr lang="pt-BR" dirty="0">
              <a:latin typeface="Helvetica LT Std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/>
          <a:srcRect l="20930" t="30000" r="50000" b="16923"/>
          <a:stretch/>
        </p:blipFill>
        <p:spPr>
          <a:xfrm>
            <a:off x="313130" y="1037424"/>
            <a:ext cx="2582470" cy="3563809"/>
          </a:xfrm>
          <a:prstGeom prst="rect">
            <a:avLst/>
          </a:prstGeom>
        </p:spPr>
      </p:pic>
      <p:cxnSp>
        <p:nvCxnSpPr>
          <p:cNvPr id="9" name="Conector de Seta Reta 8"/>
          <p:cNvCxnSpPr/>
          <p:nvPr/>
        </p:nvCxnSpPr>
        <p:spPr>
          <a:xfrm>
            <a:off x="3124200" y="2819328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/>
          <a:srcRect l="20930" t="10000" r="25582" b="9231"/>
          <a:stretch/>
        </p:blipFill>
        <p:spPr>
          <a:xfrm>
            <a:off x="4298767" y="498857"/>
            <a:ext cx="3594463" cy="41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35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Exemplos</a:t>
            </a:r>
            <a:endParaRPr lang="pt-BR" dirty="0">
              <a:latin typeface="Helvetica LT Std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24145" t="23052" r="3358" b="2842"/>
          <a:stretch/>
        </p:blipFill>
        <p:spPr>
          <a:xfrm>
            <a:off x="0" y="0"/>
            <a:ext cx="9144000" cy="5158154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46430" y="91607"/>
            <a:ext cx="533400" cy="338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990600" y="50668"/>
            <a:ext cx="1600200" cy="3388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97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Exemplos</a:t>
            </a:r>
            <a:endParaRPr lang="pt-BR" dirty="0">
              <a:latin typeface="Helvetica LT Std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/>
          <a:srcRect l="23516" t="22665" r="2530" b="5777"/>
          <a:stretch/>
        </p:blipFill>
        <p:spPr>
          <a:xfrm>
            <a:off x="0" y="1"/>
            <a:ext cx="9144000" cy="513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2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553998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Exemplos</a:t>
            </a:r>
            <a:endParaRPr lang="pt-BR" dirty="0">
              <a:latin typeface="Helvetica LT Std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2"/>
          <a:srcRect l="23516" t="22663" r="2530" b="2563"/>
          <a:stretch/>
        </p:blipFill>
        <p:spPr>
          <a:xfrm>
            <a:off x="0" y="0"/>
            <a:ext cx="9144000" cy="51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23517" t="22663" r="2030" b="175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88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130" y="440182"/>
            <a:ext cx="5782869" cy="1107996"/>
          </a:xfrm>
        </p:spPr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Vantagens e Desvantagens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47750"/>
            <a:ext cx="8387232" cy="3877985"/>
          </a:xfrm>
        </p:spPr>
        <p:txBody>
          <a:bodyPr/>
          <a:lstStyle/>
          <a:p>
            <a:r>
              <a:rPr lang="pt-BR" sz="1800" b="1" u="sng" dirty="0" smtClean="0">
                <a:latin typeface="Helvetica LT Std" panose="020B0504020202020204"/>
              </a:rPr>
              <a:t>Vantagens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O uso de métodos HTTP bem definidos simplifica o entendimento da API.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O corpo de uma requisição feita para uma API RESTful é geralmente menor do que o corpo de uma requisição que atende o protocolo SOAP.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Mais conveniente caso seja usado com JSON.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A ausência de estado aumenta a escalabilidade de um sistema que disponibiliza uma API RESTful.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>
              <a:latin typeface="Helvetica LT Std" panose="020B0504020202020204"/>
            </a:endParaRPr>
          </a:p>
          <a:p>
            <a:r>
              <a:rPr lang="pt-BR" sz="1800" b="1" u="sng" dirty="0" smtClean="0">
                <a:latin typeface="Helvetica LT Std" panose="020B0504020202020204"/>
              </a:rPr>
              <a:t>Desvantagens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 smtClean="0">
                <a:latin typeface="Helvetica LT Std" panose="020B0504020202020204"/>
              </a:rPr>
              <a:t>Se </a:t>
            </a:r>
            <a:r>
              <a:rPr lang="pt-BR" sz="1800" dirty="0">
                <a:latin typeface="Helvetica LT Std" panose="020B0504020202020204"/>
              </a:rPr>
              <a:t>uma operação precisa ser </a:t>
            </a:r>
            <a:r>
              <a:rPr lang="pt-BR" sz="1800" dirty="0" smtClean="0">
                <a:latin typeface="Helvetica LT Std" panose="020B0504020202020204"/>
              </a:rPr>
              <a:t>continuada (ou seja, uma operação é composta de várias requisições), uma API RESTful precisará receber os estados da operação à cada requisição.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 smtClean="0">
              <a:latin typeface="Helvetica LT Std" panose="020B050402020202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dirty="0" smtClean="0">
              <a:latin typeface="Helvetica LT Std" panose="020B05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218549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2738" y="439738"/>
            <a:ext cx="2354262" cy="566737"/>
          </a:xfrm>
        </p:spPr>
        <p:txBody>
          <a:bodyPr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pt-BR" spc="-285" dirty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9219" name="object 3"/>
          <p:cNvSpPr txBox="1">
            <a:spLocks noChangeArrowheads="1"/>
          </p:cNvSpPr>
          <p:nvPr/>
        </p:nvSpPr>
        <p:spPr bwMode="auto">
          <a:xfrm>
            <a:off x="350838" y="1123950"/>
            <a:ext cx="8640762" cy="3367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 marL="298450" indent="-28575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43180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b="1" dirty="0">
                <a:solidFill>
                  <a:srgbClr val="07477C"/>
                </a:solidFill>
                <a:latin typeface="Helvetica LT Std" panose="020B0504020202020204"/>
              </a:rPr>
              <a:t>4 Conceitos sobre REST que Qualquer Desenvolvedor Precisa Conhecer.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 Disponível em: 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&lt;https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://blog.algaworks.com/4-conceitos-sobre-rest-que-qualquer-desenvolvedor-precisa-conhecer&gt;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b="1" dirty="0">
                <a:solidFill>
                  <a:srgbClr val="07477C"/>
                </a:solidFill>
                <a:latin typeface="Helvetica LT Std" panose="020B0504020202020204"/>
              </a:rPr>
              <a:t>Arquitetura REST e o serviço web '</a:t>
            </a:r>
            <a:r>
              <a:rPr lang="pt-BR" altLang="pt-BR" b="1" dirty="0" err="1">
                <a:solidFill>
                  <a:srgbClr val="07477C"/>
                </a:solidFill>
                <a:latin typeface="Helvetica LT Std" panose="020B0504020202020204"/>
              </a:rPr>
              <a:t>RESTful</a:t>
            </a:r>
            <a:r>
              <a:rPr lang="pt-BR" altLang="pt-BR" b="1" dirty="0">
                <a:solidFill>
                  <a:srgbClr val="07477C"/>
                </a:solidFill>
                <a:latin typeface="Helvetica LT Std" panose="020B0504020202020204"/>
              </a:rPr>
              <a:t>'. 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Disponível em: 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&lt;http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://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sao-paulo.pm.org/pub/arquitetura-rest-e-o-servico-web-restful-&gt;</a:t>
            </a:r>
            <a:endParaRPr lang="pt-BR" altLang="pt-BR" dirty="0">
              <a:solidFill>
                <a:srgbClr val="07477C"/>
              </a:solidFill>
              <a:latin typeface="Helvetica LT Std" panose="020B0504020202020204"/>
            </a:endParaRP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b="1" dirty="0" smtClean="0">
                <a:solidFill>
                  <a:srgbClr val="07477C"/>
                </a:solidFill>
                <a:latin typeface="Helvetica LT Std" panose="020B0504020202020204"/>
              </a:rPr>
              <a:t>O </a:t>
            </a:r>
            <a:r>
              <a:rPr lang="pt-BR" altLang="pt-BR" b="1" dirty="0">
                <a:solidFill>
                  <a:srgbClr val="07477C"/>
                </a:solidFill>
                <a:latin typeface="Helvetica LT Std" panose="020B0504020202020204"/>
              </a:rPr>
              <a:t>que é API? REST e </a:t>
            </a:r>
            <a:r>
              <a:rPr lang="pt-BR" altLang="pt-BR" b="1" dirty="0" err="1">
                <a:solidFill>
                  <a:srgbClr val="07477C"/>
                </a:solidFill>
                <a:latin typeface="Helvetica LT Std" panose="020B0504020202020204"/>
              </a:rPr>
              <a:t>RESTful</a:t>
            </a:r>
            <a:r>
              <a:rPr lang="pt-BR" altLang="pt-BR" b="1" dirty="0">
                <a:solidFill>
                  <a:srgbClr val="07477C"/>
                </a:solidFill>
                <a:latin typeface="Helvetica LT Std" panose="020B0504020202020204"/>
              </a:rPr>
              <a:t>? Conheça as definições e diferenças!.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 Disponível em: 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&lt;https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://becode.com.br/o-que-e-api-rest-e-restful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/&gt;</a:t>
            </a:r>
            <a:endParaRPr lang="pt-BR" altLang="pt-BR" dirty="0">
              <a:solidFill>
                <a:srgbClr val="07477C"/>
              </a:solidFill>
              <a:latin typeface="Helvetica LT Std" panose="020B0504020202020204"/>
            </a:endParaRP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b="1" dirty="0">
                <a:solidFill>
                  <a:srgbClr val="07477C"/>
                </a:solidFill>
                <a:latin typeface="Helvetica LT Std" panose="020B0504020202020204"/>
              </a:rPr>
              <a:t>Uma rápida Introdução ao REST 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Disponível em: 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&lt;https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://www.infoq.com/br/articles/rest-introduction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/&gt;</a:t>
            </a:r>
            <a:endParaRPr lang="pt-BR" altLang="pt-BR" dirty="0">
              <a:solidFill>
                <a:srgbClr val="07477C"/>
              </a:solidFill>
              <a:latin typeface="Helvetica LT Std" panose="020B0504020202020204"/>
            </a:endParaRPr>
          </a:p>
          <a:p>
            <a:pPr eaLnBrk="1" hangingPunct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altLang="pt-BR" b="1" dirty="0" smtClean="0">
                <a:solidFill>
                  <a:srgbClr val="07477C"/>
                </a:solidFill>
                <a:latin typeface="Helvetica LT Std" panose="020B0504020202020204"/>
              </a:rPr>
              <a:t>UMA </a:t>
            </a:r>
            <a:r>
              <a:rPr lang="pt-BR" altLang="pt-BR" b="1" dirty="0">
                <a:solidFill>
                  <a:srgbClr val="07477C"/>
                </a:solidFill>
                <a:latin typeface="Helvetica LT Std" panose="020B0504020202020204"/>
              </a:rPr>
              <a:t>ARQUITETURA DE SERVIÇOS WEB COMO MEIO DE INTERCÂMBIO DE DADOS. 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Disponível em: 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&lt;https</a:t>
            </a:r>
            <a:r>
              <a:rPr lang="pt-BR" altLang="pt-BR" dirty="0">
                <a:solidFill>
                  <a:srgbClr val="07477C"/>
                </a:solidFill>
                <a:latin typeface="Helvetica LT Std" panose="020B0504020202020204"/>
              </a:rPr>
              <a:t>://</a:t>
            </a:r>
            <a:r>
              <a:rPr lang="pt-BR" altLang="pt-BR" dirty="0" smtClean="0">
                <a:solidFill>
                  <a:srgbClr val="07477C"/>
                </a:solidFill>
                <a:latin typeface="Helvetica LT Std" panose="020B0504020202020204"/>
              </a:rPr>
              <a:t>core.ac.uk/download/pdf/30380424.pdf&gt;</a:t>
            </a:r>
            <a:endParaRPr lang="pt-BR" altLang="pt-BR" i="1" dirty="0">
              <a:solidFill>
                <a:srgbClr val="07477C"/>
              </a:solidFill>
              <a:latin typeface="Helvetica LT Std" panose="020B05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0870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23950"/>
            <a:ext cx="8640370" cy="28135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REST.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 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&lt;https://pt.wikipedia.org/wiki/REST/&gt;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en-US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SOAP vs. REST: The Differences and Benefits Between the Two Widely-Used Web Service Communication Protocols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Disponível em: &lt;https://stackify.com/soap-vs-rest/&gt;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REST X SOAP: QUAL O MELHOR TIPO DE INTEGRAÇÃO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?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 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&lt;https://blog.tecnospeed.com.br/rest-x-soap/&gt;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JSON Web Token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 Disponível em: &lt;https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://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en.wikipedia.org/wiki/JSON_Web_Token&gt;</a:t>
            </a: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SPRING BOOT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. 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&lt;https://spring.io/projects/spring-boot&gt;</a:t>
            </a:r>
          </a:p>
        </p:txBody>
      </p:sp>
    </p:spTree>
    <p:extLst>
      <p:ext uri="{BB962C8B-B14F-4D97-AF65-F5344CB8AC3E}">
        <p14:creationId xmlns:p14="http://schemas.microsoft.com/office/powerpoint/2010/main" val="1253559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</TotalTime>
  <Words>652</Words>
  <Application>Microsoft Office PowerPoint</Application>
  <PresentationFormat>Apresentação na tela (16:9)</PresentationFormat>
  <Paragraphs>79</Paragraphs>
  <Slides>21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Helvetica LT Std</vt:lpstr>
      <vt:lpstr>Roboto</vt:lpstr>
      <vt:lpstr>Whitney</vt:lpstr>
      <vt:lpstr>Office Theme</vt:lpstr>
      <vt:lpstr>Apresentação do PowerPoint</vt:lpstr>
      <vt:lpstr>Sumário</vt:lpstr>
      <vt:lpstr>Apresentação do PowerPoint</vt:lpstr>
      <vt:lpstr>Apresentação do PowerPoint</vt:lpstr>
      <vt:lpstr>Solução</vt:lpstr>
      <vt:lpstr>Aplicação</vt:lpstr>
      <vt:lpstr>Aplicação</vt:lpstr>
      <vt:lpstr>SOAP e REST</vt:lpstr>
      <vt:lpstr>SOAP e REST</vt:lpstr>
      <vt:lpstr>Web Tokens</vt:lpstr>
      <vt:lpstr>Web Tokens</vt:lpstr>
      <vt:lpstr>Exemplos</vt:lpstr>
      <vt:lpstr>Exemplos</vt:lpstr>
      <vt:lpstr>Exemplos</vt:lpstr>
      <vt:lpstr>Exemplos</vt:lpstr>
      <vt:lpstr>Exemplos</vt:lpstr>
      <vt:lpstr>Exemplos</vt:lpstr>
      <vt:lpstr>Apresentação do PowerPoint</vt:lpstr>
      <vt:lpstr>Vantagens e Desvantagens</vt:lpstr>
      <vt:lpstr>Referências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Usuário do Windows</cp:lastModifiedBy>
  <cp:revision>156</cp:revision>
  <dcterms:created xsi:type="dcterms:W3CDTF">2019-04-07T19:13:44Z</dcterms:created>
  <dcterms:modified xsi:type="dcterms:W3CDTF">2021-04-08T21:49:32Z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
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9144000" cy="5143500"/>
  <p:embeddedFontLst>
    <p:embeddedFont>
      <p:font typeface="Helvetica Neue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42" roundtripDataSignature="AMtx7mgBJ7U6wMRim66O86XdIwMPmBm8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57A03A-3E51-4811-B6A5-E5C1C6CDE288}">
  <a:tblStyle styleId="{6C57A03A-3E51-4811-B6A5-E5C1C6CDE28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HelveticaNeue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HelveticaNeue-bold.fntdata"/><Relationship Id="rId16" Type="http://schemas.openxmlformats.org/officeDocument/2006/relationships/slide" Target="slides/slide10.xml"/><Relationship Id="rId38" Type="http://schemas.openxmlformats.org/officeDocument/2006/relationships/font" Target="fonts/HelveticaNeue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24d8db2236_2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124d8db2236_2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/>
          <p:nvPr>
            <p:ph idx="2" type="sldImg"/>
          </p:nvPr>
        </p:nvSpPr>
        <p:spPr>
          <a:xfrm>
            <a:off x="3028950" y="642938"/>
            <a:ext cx="3086100" cy="17367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84eaf3b97_0_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" name="Google Shape;71;g1e84eaf3b97_0_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1e84eaf3b97_0_2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g1e84eaf3b97_0_2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e84eaf3b97_0_5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" name="Google Shape;83;g1e84eaf3b97_0_5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e84eaf3b97_0_4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1e84eaf3b97_0_4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e84eaf3b97_0_62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1e84eaf3b97_0_62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e84eaf3b97_0_1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1e84eaf3b97_0_1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e84eaf3b97_0_7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1e84eaf3b97_0_7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e84eaf3b97_0_7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1e84eaf3b97_0_7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e84eaf3b97_0_82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1e84eaf3b97_0_82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e84f0f0216_0_7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1e84f0f0216_0_7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e84f0f0216_0_7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1e84f0f0216_0_7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e84f0f0216_0_9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1e84f0f0216_0_9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e8574ff8ef_0_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1e8574ff8ef_0_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e84f0f0216_0_5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1e84f0f0216_0_5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e84f0f0216_0_5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1e84f0f0216_0_5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e84f0f0216_0_116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1e84f0f0216_0_116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e84f0f0216_0_10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1e84f0f0216_0_10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e80fe16337_0_2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1e80fe16337_0_2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e80fe16337_0_3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1e80fe16337_0_3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e84f0f0216_1_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1e84f0f0216_1_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e84f0f0216_1_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1e84f0f0216_1_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e84f0f0216_1_11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1e84f0f0216_1_11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e84f0f0216_1_17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1e84f0f0216_1_17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e84f0f0216_1_2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1e84f0f0216_1_2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1e84f0f0216_1_29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1e84f0f0216_1_29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e84f0f0216_1_35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1e84f0f0216_1_35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e80fe16337_0_23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1e80fe16337_0_23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e80fe16337_0_38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1e80fe16337_0_38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e80fe16337_0_10:notes"/>
          <p:cNvSpPr txBox="1"/>
          <p:nvPr>
            <p:ph idx="1" type="body"/>
          </p:nvPr>
        </p:nvSpPr>
        <p:spPr>
          <a:xfrm>
            <a:off x="914400" y="2474913"/>
            <a:ext cx="7315200" cy="20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1e80fe16337_0_10:notes"/>
          <p:cNvSpPr/>
          <p:nvPr>
            <p:ph idx="2" type="sldImg"/>
          </p:nvPr>
        </p:nvSpPr>
        <p:spPr>
          <a:xfrm>
            <a:off x="3028950" y="642938"/>
            <a:ext cx="3086100" cy="1736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/>
          <p:nvPr/>
        </p:nvSpPr>
        <p:spPr>
          <a:xfrm>
            <a:off x="1117091" y="541019"/>
            <a:ext cx="6910070" cy="192405"/>
          </a:xfrm>
          <a:custGeom>
            <a:rect b="b" l="l" r="r" t="t"/>
            <a:pathLst>
              <a:path extrusionOk="0" h="192404" w="6910070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9"/>
          <p:cNvSpPr/>
          <p:nvPr/>
        </p:nvSpPr>
        <p:spPr>
          <a:xfrm>
            <a:off x="1081277" y="1319022"/>
            <a:ext cx="6898005" cy="3810"/>
          </a:xfrm>
          <a:custGeom>
            <a:rect b="b" l="l" r="r" t="t"/>
            <a:pathLst>
              <a:path extrusionOk="0" h="3809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9"/>
          <p:cNvSpPr/>
          <p:nvPr/>
        </p:nvSpPr>
        <p:spPr>
          <a:xfrm>
            <a:off x="1081277" y="46718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9"/>
          <p:cNvSpPr/>
          <p:nvPr/>
        </p:nvSpPr>
        <p:spPr>
          <a:xfrm>
            <a:off x="1081277" y="3300221"/>
            <a:ext cx="6898005" cy="3810"/>
          </a:xfrm>
          <a:custGeom>
            <a:rect b="b" l="l" r="r" t="t"/>
            <a:pathLst>
              <a:path extrusionOk="0" h="3810" w="6898005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noFill/>
          <a:ln cap="flat" cmpd="sng" w="19800">
            <a:solidFill>
              <a:srgbClr val="07477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9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9144000" cy="386080"/>
          </a:xfrm>
          <a:custGeom>
            <a:rect b="b" l="l" r="r" t="t"/>
            <a:pathLst>
              <a:path extrusionOk="0" h="386080" w="914400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/>
          <p:nvPr/>
        </p:nvSpPr>
        <p:spPr>
          <a:xfrm>
            <a:off x="8740140" y="4757927"/>
            <a:ext cx="403860" cy="386080"/>
          </a:xfrm>
          <a:custGeom>
            <a:rect b="b" l="l" r="r" t="t"/>
            <a:pathLst>
              <a:path extrusionOk="0" h="386079" w="40385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8"/>
          <p:cNvSpPr/>
          <p:nvPr/>
        </p:nvSpPr>
        <p:spPr>
          <a:xfrm>
            <a:off x="0" y="4757927"/>
            <a:ext cx="402590" cy="386080"/>
          </a:xfrm>
          <a:custGeom>
            <a:rect b="b" l="l" r="r" t="t"/>
            <a:pathLst>
              <a:path extrusionOk="0" h="386079" w="402590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8"/>
          <p:cNvSpPr/>
          <p:nvPr/>
        </p:nvSpPr>
        <p:spPr>
          <a:xfrm>
            <a:off x="402336" y="4757927"/>
            <a:ext cx="8338184" cy="386080"/>
          </a:xfrm>
          <a:custGeom>
            <a:rect b="b" l="l" r="r" t="t"/>
            <a:pathLst>
              <a:path extrusionOk="0" h="386079" w="8338184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8"/>
          <p:cNvSpPr/>
          <p:nvPr/>
        </p:nvSpPr>
        <p:spPr>
          <a:xfrm>
            <a:off x="8170164" y="45719"/>
            <a:ext cx="974090" cy="1012190"/>
          </a:xfrm>
          <a:custGeom>
            <a:rect b="b" l="l" r="r" t="t"/>
            <a:pathLst>
              <a:path extrusionOk="0" h="1012190" w="9740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8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8"/>
          <p:cNvSpPr txBox="1"/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8"/>
          <p:cNvSpPr txBox="1"/>
          <p:nvPr>
            <p:ph idx="1" type="body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7477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4d8db2236_2_0"/>
          <p:cNvSpPr txBox="1"/>
          <p:nvPr/>
        </p:nvSpPr>
        <p:spPr>
          <a:xfrm>
            <a:off x="1965375" y="814775"/>
            <a:ext cx="5177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</a:t>
            </a:r>
            <a:r>
              <a:rPr lang="pt-BR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Politécnica</a:t>
            </a:r>
            <a:r>
              <a:rPr lang="pt-BR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</a:t>
            </a:r>
            <a:r>
              <a:rPr b="0" i="0" lang="pt-BR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" name="Google Shape;59;g124d8db2236_2_0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124d8db2236_2_0"/>
          <p:cNvSpPr txBox="1"/>
          <p:nvPr/>
        </p:nvSpPr>
        <p:spPr>
          <a:xfrm>
            <a:off x="1080516" y="1590738"/>
            <a:ext cx="69468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3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Capability Maturity Model Integration</a:t>
            </a:r>
            <a:endParaRPr b="1" i="0" sz="37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g124d8db2236_2_0"/>
          <p:cNvSpPr txBox="1"/>
          <p:nvPr/>
        </p:nvSpPr>
        <p:spPr>
          <a:xfrm>
            <a:off x="1080525" y="3587450"/>
            <a:ext cx="69468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Luiz Felipe Cipriani Morfelle</a:t>
            </a:r>
            <a:endParaRPr sz="18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62;g124d8db2236_2_0"/>
          <p:cNvSpPr txBox="1"/>
          <p:nvPr/>
        </p:nvSpPr>
        <p:spPr>
          <a:xfrm>
            <a:off x="1098600" y="2808338"/>
            <a:ext cx="6946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CMMI 1 e 2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/>
          <p:nvPr>
            <p:ph idx="1" type="body"/>
          </p:nvPr>
        </p:nvSpPr>
        <p:spPr>
          <a:xfrm>
            <a:off x="378375" y="1162775"/>
            <a:ext cx="83730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Contextualização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Definição e Origem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Objetivos, Benefícios e Versões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Definição e Representações do Modelo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Níveis 1 e 2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Como chegar no nível 3?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Diferenças entre CMMI e MPS.BR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2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Sumário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e84eaf3b97_0_5"/>
          <p:cNvSpPr txBox="1"/>
          <p:nvPr>
            <p:ph idx="1" type="body"/>
          </p:nvPr>
        </p:nvSpPr>
        <p:spPr>
          <a:xfrm>
            <a:off x="378375" y="1162775"/>
            <a:ext cx="83730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qualidade 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do processo de desenvolvimento de software é uma preocupação de toda empresa do ramo;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Vários conjuntos de recomendações e normas vêm sendo propostos ao longo dos anos: ISO, PMBOK, CMM e CMMI.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g1e84eaf3b97_0_5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Contextualização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e84eaf3b97_0_28"/>
          <p:cNvSpPr txBox="1"/>
          <p:nvPr>
            <p:ph idx="1" type="body"/>
          </p:nvPr>
        </p:nvSpPr>
        <p:spPr>
          <a:xfrm>
            <a:off x="378375" y="1162775"/>
            <a:ext cx="83730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O Capability Maturity Model Integration (CMMI) é um modelo de melhoria de processos 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constituído por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práticas 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e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diretrizes;</a:t>
            </a:r>
            <a:endParaRPr b="1"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Deve ser seguido para desenvolver e gerenciar produtos ou serviços com alta qualidade.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g1e84eaf3b97_0_28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Definição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e84eaf3b97_0_57"/>
          <p:cNvSpPr txBox="1"/>
          <p:nvPr>
            <p:ph idx="1" type="body"/>
          </p:nvPr>
        </p:nvSpPr>
        <p:spPr>
          <a:xfrm>
            <a:off x="378375" y="1162775"/>
            <a:ext cx="8373000" cy="3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Um CMM (Capability Maturity Model) são modelos que contém elementos essenciais para um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processo eficaz e eficiente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Os CMMs focam em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melhorar o processo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 de uma organização;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O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CMMI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, por sua vez, foi desenvolvido para mitigar os problemas ocasionados pela adoção de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múltiplos CMMs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" name="Google Shape;86;g1e84eaf3b97_0_57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CMM vs CMMI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84eaf3b97_0_47"/>
          <p:cNvSpPr txBox="1"/>
          <p:nvPr>
            <p:ph idx="1" type="body"/>
          </p:nvPr>
        </p:nvSpPr>
        <p:spPr>
          <a:xfrm>
            <a:off x="378375" y="1162775"/>
            <a:ext cx="8373000" cy="28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É atualmente gerenciado pelo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CMMI Institute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Foi desenvolvido pelo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SEI 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(Software Engineering Institute) da Universidade Carnegie Mellon;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Possui como base a premissa  </a:t>
            </a:r>
            <a:r>
              <a:rPr i="1" lang="pt-BR" sz="2200">
                <a:latin typeface="Helvetica Neue"/>
                <a:ea typeface="Helvetica Neue"/>
                <a:cs typeface="Helvetica Neue"/>
                <a:sym typeface="Helvetica Neue"/>
              </a:rPr>
              <a:t>“</a:t>
            </a:r>
            <a:r>
              <a:rPr b="1" i="1" lang="pt-BR" sz="2200"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i="1" lang="pt-BR" sz="22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1" lang="pt-BR" sz="2200">
                <a:latin typeface="Helvetica Neue"/>
                <a:ea typeface="Helvetica Neue"/>
                <a:cs typeface="Helvetica Neue"/>
                <a:sym typeface="Helvetica Neue"/>
              </a:rPr>
              <a:t>qualidade de um sistema ou produto</a:t>
            </a:r>
            <a:r>
              <a:rPr i="1" lang="pt-BR" sz="2200">
                <a:latin typeface="Helvetica Neue"/>
                <a:ea typeface="Helvetica Neue"/>
                <a:cs typeface="Helvetica Neue"/>
                <a:sym typeface="Helvetica Neue"/>
              </a:rPr>
              <a:t> é altamente influenciada pela </a:t>
            </a:r>
            <a:r>
              <a:rPr b="1" i="1" lang="pt-BR" sz="2200">
                <a:latin typeface="Helvetica Neue"/>
                <a:ea typeface="Helvetica Neue"/>
                <a:cs typeface="Helvetica Neue"/>
                <a:sym typeface="Helvetica Neue"/>
              </a:rPr>
              <a:t>qualidade do processo</a:t>
            </a:r>
            <a:r>
              <a:rPr i="1" lang="pt-BR" sz="2200">
                <a:latin typeface="Helvetica Neue"/>
                <a:ea typeface="Helvetica Neue"/>
                <a:cs typeface="Helvetica Neue"/>
                <a:sym typeface="Helvetica Neue"/>
              </a:rPr>
              <a:t> utilizado para desenvolvê-lo e mantê-lo.”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1e84eaf3b97_0_47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Origem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e84eaf3b97_0_62"/>
          <p:cNvSpPr txBox="1"/>
          <p:nvPr>
            <p:ph idx="1" type="body"/>
          </p:nvPr>
        </p:nvSpPr>
        <p:spPr>
          <a:xfrm>
            <a:off x="378375" y="1162775"/>
            <a:ext cx="83730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Possibilitar a elevação da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maturidade 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da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capacidade 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de suas equipes em suas atividades;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Descreve um caminho evolucionário, que começa com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processos imaturos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 e segue até um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processo maduro e disciplinado;</a:t>
            </a:r>
            <a:endParaRPr b="1"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Resulta no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controle do processo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 de produção de software por meio de métricas e modelos estatísticos.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g1e84eaf3b97_0_62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Objetivos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e84eaf3b97_0_13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Objetivos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4" name="Google Shape;104;g1e84eaf3b97_0_13"/>
          <p:cNvPicPr preferRelativeResize="0"/>
          <p:nvPr/>
        </p:nvPicPr>
        <p:blipFill rotWithShape="1">
          <a:blip r:embed="rId3">
            <a:alphaModFix/>
          </a:blip>
          <a:srcRect b="3238" l="10911" r="12195" t="3172"/>
          <a:stretch/>
        </p:blipFill>
        <p:spPr>
          <a:xfrm>
            <a:off x="4483150" y="1166425"/>
            <a:ext cx="4547750" cy="34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1e84eaf3b97_0_13"/>
          <p:cNvSpPr txBox="1"/>
          <p:nvPr/>
        </p:nvSpPr>
        <p:spPr>
          <a:xfrm>
            <a:off x="145400" y="1076325"/>
            <a:ext cx="4200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Auxilia organizações a melhorar sua </a:t>
            </a:r>
            <a:r>
              <a:rPr b="1" lang="pt-BR" sz="22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eficácia </a:t>
            </a:r>
            <a:r>
              <a:rPr lang="pt-BR" sz="22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</a:t>
            </a:r>
            <a:r>
              <a:rPr b="1" lang="pt-BR" sz="22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eficiência</a:t>
            </a:r>
            <a:r>
              <a:rPr lang="pt-BR" sz="22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sz="22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Mantém o processo no primeiro quadrante.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e84eaf3b97_0_70"/>
          <p:cNvSpPr txBox="1"/>
          <p:nvPr>
            <p:ph idx="1" type="body"/>
          </p:nvPr>
        </p:nvSpPr>
        <p:spPr>
          <a:xfrm>
            <a:off x="378375" y="1162775"/>
            <a:ext cx="83730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Garantia do cumprimento de prazos e custos;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Facilidade no gerenciamento de atividades;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Menor dependência da empresa com colaboradores;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Melhoria contínua.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g1e84eaf3b97_0_70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Benefícios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e84eaf3b97_0_75"/>
          <p:cNvSpPr txBox="1"/>
          <p:nvPr>
            <p:ph idx="1" type="body"/>
          </p:nvPr>
        </p:nvSpPr>
        <p:spPr>
          <a:xfrm>
            <a:off x="378375" y="1162775"/>
            <a:ext cx="83730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Inicialmente, o CMMI era um modelo que combinava outros três: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•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CMMI for Development (CMMI-DEV)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, voltado ao processo de desenvolvimento de produtos e serviços.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•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CMMI for Acquisition (CMMI-ACQ)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, voltado aos processos de aquisição e terceirização de bens e serviços.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•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CMMI for Services (CMMI-SVC)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, voltado aos processos de empresas prestadoras de serviços.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g1e84eaf3b97_0_75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Versões (v1.3 - 2010)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e84eaf3b97_0_82"/>
          <p:cNvSpPr txBox="1"/>
          <p:nvPr>
            <p:ph idx="1" type="body"/>
          </p:nvPr>
        </p:nvSpPr>
        <p:spPr>
          <a:xfrm>
            <a:off x="378375" y="1162775"/>
            <a:ext cx="83730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Esta versão ganhou destaque, pois: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Passou a dar suporte a metodologias ágeis de desenvolvimento de software;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Melhorou as práticas para os níveis de maturidades mais altos;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Definiu as representações contínuas e em estágios.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g1e84eaf3b97_0_82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Versões (v1.3 - 2010)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e84f0f0216_0_70"/>
          <p:cNvSpPr txBox="1"/>
          <p:nvPr>
            <p:ph idx="1" type="body"/>
          </p:nvPr>
        </p:nvSpPr>
        <p:spPr>
          <a:xfrm>
            <a:off x="378375" y="1087125"/>
            <a:ext cx="84564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Font typeface="Helvetica Neue"/>
              <a:buChar char="●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Para melhorar a eficácia e eficiência, é necessário medir o nível atual de 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maturidade 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dos processos da organização;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Font typeface="Helvetica Neue"/>
              <a:buChar char="●"/>
            </a:pP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Cada processo da organização pertence à uma área de processo (</a:t>
            </a:r>
            <a:r>
              <a:rPr b="1" lang="pt-BR" sz="1600">
                <a:latin typeface="Helvetica Neue"/>
                <a:ea typeface="Helvetica Neue"/>
                <a:cs typeface="Helvetica Neue"/>
                <a:sym typeface="Helvetica Neue"/>
              </a:rPr>
              <a:t>process area</a:t>
            </a:r>
            <a:r>
              <a:rPr lang="pt-BR" sz="1600">
                <a:latin typeface="Helvetica Neue"/>
                <a:ea typeface="Helvetica Neue"/>
                <a:cs typeface="Helvetica Neue"/>
                <a:sym typeface="Helvetica Neue"/>
              </a:rPr>
              <a:t>).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Font typeface="Helvetica Neue"/>
              <a:buChar char="○"/>
            </a:pPr>
            <a:r>
              <a:rPr lang="pt-BR" sz="16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</a:t>
            </a:r>
            <a:r>
              <a:rPr i="1" lang="pt-BR" sz="16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cluster of related practices in an area that, when implemented collectively, satisfies a set of goals considered important for making improvement in that area.</a:t>
            </a:r>
            <a:r>
              <a:rPr lang="pt-BR" sz="16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”</a:t>
            </a:r>
            <a:endParaRPr sz="16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302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600"/>
              <a:buFont typeface="Helvetica Neue"/>
              <a:buChar char="○"/>
            </a:pPr>
            <a:r>
              <a:rPr b="1" lang="pt-BR" sz="16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Exemplos</a:t>
            </a:r>
            <a:r>
              <a:rPr lang="pt-BR" sz="16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Configuration management, Project planning, Requirements Management, Measurement &amp; Analysis, etc…</a:t>
            </a:r>
            <a:endParaRPr sz="16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g1e84f0f0216_0_70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Modelo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e84f0f0216_0_75"/>
          <p:cNvSpPr txBox="1"/>
          <p:nvPr>
            <p:ph type="title"/>
          </p:nvPr>
        </p:nvSpPr>
        <p:spPr>
          <a:xfrm>
            <a:off x="313119" y="440175"/>
            <a:ext cx="746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 sz="3000">
                <a:latin typeface="Helvetica Neue"/>
                <a:ea typeface="Helvetica Neue"/>
                <a:cs typeface="Helvetica Neue"/>
                <a:sym typeface="Helvetica Neue"/>
              </a:rPr>
              <a:t>Componentes de uma área de processo</a:t>
            </a:r>
            <a:endParaRPr sz="3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5" name="Google Shape;135;g1e84f0f0216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4050" y="1063450"/>
            <a:ext cx="4166600" cy="35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e84f0f0216_0_95"/>
          <p:cNvSpPr txBox="1"/>
          <p:nvPr>
            <p:ph idx="1" type="body"/>
          </p:nvPr>
        </p:nvSpPr>
        <p:spPr>
          <a:xfrm>
            <a:off x="378375" y="1087125"/>
            <a:ext cx="84564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350"/>
              <a:buFont typeface="Helvetica Neue"/>
              <a:buChar char="●"/>
            </a:pPr>
            <a:r>
              <a:rPr b="1" lang="pt-BR" sz="1350"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b="1"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 1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- Atingir Metas Específicas</a:t>
            </a:r>
            <a:endParaRPr sz="1350">
              <a:solidFill>
                <a:srgbClr val="07477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350"/>
              <a:buFont typeface="Helvetica Neue"/>
              <a:buChar char="○"/>
            </a:pPr>
            <a:r>
              <a:rPr b="1"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SG 1.1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Realizar práticas específicas</a:t>
            </a:r>
            <a:endParaRPr sz="1350">
              <a:solidFill>
                <a:srgbClr val="07477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7477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7477C"/>
              </a:buClr>
              <a:buSzPts val="1350"/>
              <a:buFont typeface="Helvetica Neue"/>
              <a:buChar char="●"/>
            </a:pPr>
            <a:r>
              <a:rPr b="1"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GG 2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Institucionalizar um Processo Gerenciado</a:t>
            </a:r>
            <a:endParaRPr sz="1350">
              <a:solidFill>
                <a:srgbClr val="07477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350"/>
              <a:buFont typeface="Helvetica Neue"/>
              <a:buChar char="○"/>
            </a:pPr>
            <a:r>
              <a:rPr b="1"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GG 2.1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Estabelecer uma Política Organizacional</a:t>
            </a:r>
            <a:endParaRPr sz="1350">
              <a:solidFill>
                <a:srgbClr val="07477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350"/>
              <a:buFont typeface="Helvetica Neue"/>
              <a:buChar char="○"/>
            </a:pPr>
            <a:r>
              <a:rPr b="1"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GG 2.2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Planejar o Processo</a:t>
            </a:r>
            <a:endParaRPr sz="1350">
              <a:solidFill>
                <a:srgbClr val="07477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350"/>
              <a:buFont typeface="Helvetica Neue"/>
              <a:buChar char="○"/>
            </a:pPr>
            <a:r>
              <a:rPr b="1"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GG 2.3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Fornecer recursos</a:t>
            </a:r>
            <a:endParaRPr sz="1350">
              <a:solidFill>
                <a:srgbClr val="07477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350"/>
              <a:buFont typeface="Helvetica Neue"/>
              <a:buChar char="○"/>
            </a:pPr>
            <a:r>
              <a:rPr b="1"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GG 2.4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Atribuir responsabilidades</a:t>
            </a:r>
            <a:endParaRPr sz="1350">
              <a:solidFill>
                <a:srgbClr val="07477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350"/>
              <a:buFont typeface="Helvetica Neue"/>
              <a:buChar char="○"/>
            </a:pPr>
            <a:r>
              <a:rPr b="1"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GG 2.5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Treinar Pessoas</a:t>
            </a:r>
            <a:endParaRPr sz="1350">
              <a:solidFill>
                <a:srgbClr val="07477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350"/>
              <a:buFont typeface="Helvetica Neue"/>
              <a:buChar char="○"/>
            </a:pPr>
            <a:r>
              <a:rPr b="1"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GG 2.6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Gerenciar configurações</a:t>
            </a:r>
            <a:endParaRPr sz="1350">
              <a:solidFill>
                <a:srgbClr val="07477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350"/>
              <a:buFont typeface="Helvetica Neue"/>
              <a:buChar char="○"/>
            </a:pPr>
            <a:r>
              <a:rPr b="1"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GG 2.7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Identificar e envolver as partes interessadas relevantes</a:t>
            </a:r>
            <a:endParaRPr sz="1350">
              <a:solidFill>
                <a:srgbClr val="07477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350"/>
              <a:buFont typeface="Helvetica Neue"/>
              <a:buChar char="○"/>
            </a:pPr>
            <a:r>
              <a:rPr b="1"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GG 2.8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Monitorar e controlar o processo</a:t>
            </a:r>
            <a:endParaRPr sz="1350">
              <a:solidFill>
                <a:srgbClr val="07477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350"/>
              <a:buFont typeface="Helvetica Neue"/>
              <a:buChar char="○"/>
            </a:pPr>
            <a:r>
              <a:rPr b="1"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GG 2.9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Avaliar Objetivamente a Adesão</a:t>
            </a:r>
            <a:endParaRPr sz="1350">
              <a:solidFill>
                <a:srgbClr val="07477C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350"/>
              <a:buFont typeface="Helvetica Neue"/>
              <a:buChar char="○"/>
            </a:pPr>
            <a:r>
              <a:rPr b="1"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GG 2.10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- </a:t>
            </a:r>
            <a:r>
              <a:rPr lang="pt-BR" sz="1350">
                <a:solidFill>
                  <a:srgbClr val="07477C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Status de revisão com gerenciamento de nível superior</a:t>
            </a:r>
            <a:endParaRPr sz="21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g1e84f0f0216_0_95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Objetivos gerais e específicos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e8574ff8ef_0_1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Áreas de processo - CMMI-DEV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7" name="Google Shape;147;g1e8574ff8ef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700" y="1155800"/>
            <a:ext cx="3479475" cy="349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1e8574ff8ef_0_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9650" y="1546363"/>
            <a:ext cx="3154325" cy="27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e84f0f0216_0_51"/>
          <p:cNvSpPr txBox="1"/>
          <p:nvPr>
            <p:ph idx="1" type="body"/>
          </p:nvPr>
        </p:nvSpPr>
        <p:spPr>
          <a:xfrm>
            <a:off x="378375" y="1162775"/>
            <a:ext cx="84564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Char char="•"/>
            </a:pPr>
            <a:r>
              <a:rPr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CMMI possui duas “abordagens” diferentes:</a:t>
            </a:r>
            <a:endParaRPr sz="18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Font typeface="Helvetica Neue"/>
              <a:buNone/>
            </a:pPr>
            <a:r>
              <a:rPr lang="pt-BR" u="sng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Representação contínua</a:t>
            </a:r>
            <a:r>
              <a:rPr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1"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continuous</a:t>
            </a:r>
            <a:r>
              <a:rPr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400"/>
              <a:buFont typeface="Helvetica Neue"/>
              <a:buNone/>
            </a:pPr>
            <a:r>
              <a:rPr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Faz uso de </a:t>
            </a:r>
            <a:r>
              <a:rPr b="1"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níveis </a:t>
            </a:r>
            <a:r>
              <a:rPr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capacitação (0-3)</a:t>
            </a:r>
            <a:endParaRPr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400"/>
              <a:buFont typeface="Helvetica Neue"/>
              <a:buNone/>
            </a:pPr>
            <a:r>
              <a:rPr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área de processo é avaliada individualmente</a:t>
            </a:r>
            <a:endParaRPr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1" marL="9144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400"/>
              <a:buFont typeface="Helvetica Neue"/>
              <a:buNone/>
            </a:pPr>
            <a:r>
              <a:rPr lang="pt-BR" u="sng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Representação em estágio</a:t>
            </a:r>
            <a:r>
              <a:rPr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b="1"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staged</a:t>
            </a:r>
            <a:r>
              <a:rPr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400"/>
              <a:buFont typeface="Helvetica Neue"/>
              <a:buNone/>
            </a:pPr>
            <a:r>
              <a:rPr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Faz uso de </a:t>
            </a:r>
            <a:r>
              <a:rPr b="1"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níveis </a:t>
            </a:r>
            <a:r>
              <a:rPr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maturidade (1-5)</a:t>
            </a:r>
            <a:endParaRPr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2" marL="1371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400"/>
              <a:buFont typeface="Helvetica Neue"/>
              <a:buNone/>
            </a:pPr>
            <a:r>
              <a:rPr lang="pt-BR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organização é avaliada como um todo</a:t>
            </a:r>
            <a:endParaRPr sz="18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1800"/>
              <a:buChar char="•"/>
            </a:pPr>
            <a:r>
              <a:rPr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Iremos dar um enfoque para a </a:t>
            </a:r>
            <a:r>
              <a:rPr b="1"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representação em estágio</a:t>
            </a:r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4" name="Google Shape;154;g1e84f0f0216_0_51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Representações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e84f0f0216_0_56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Representação contínua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0" name="Google Shape;160;g1e84f0f0216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4000" y="1107350"/>
            <a:ext cx="5112149" cy="33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e84f0f0216_0_116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Representação em estágio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6" name="Google Shape;166;g1e84f0f0216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2100" y="1267700"/>
            <a:ext cx="3574224" cy="317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1e84f0f0216_0_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622" y="1550788"/>
            <a:ext cx="4876650" cy="261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e84f0f0216_0_108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Áreas de processo por níveis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3" name="Google Shape;173;g1e84f0f0216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3113" y="1043275"/>
            <a:ext cx="6037775" cy="352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e80fe16337_0_28"/>
          <p:cNvSpPr txBox="1"/>
          <p:nvPr>
            <p:ph idx="1" type="body"/>
          </p:nvPr>
        </p:nvSpPr>
        <p:spPr>
          <a:xfrm>
            <a:off x="378375" y="1162775"/>
            <a:ext cx="8373000" cy="28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Processos </a:t>
            </a:r>
            <a:r>
              <a:rPr b="1" lang="pt-BR" sz="2200">
                <a:latin typeface="Helvetica Neue"/>
                <a:ea typeface="Helvetica Neue"/>
                <a:cs typeface="Helvetica Neue"/>
                <a:sym typeface="Helvetica Neue"/>
              </a:rPr>
              <a:t>ad hoc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 e caóticos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Falta de um ambiente estável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Sucesso depende da competência pura das pessoas da organização e não dos processos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 u="sng">
                <a:latin typeface="Helvetica Neue"/>
                <a:ea typeface="Helvetica Neue"/>
                <a:cs typeface="Helvetica Neue"/>
                <a:sym typeface="Helvetica Neue"/>
              </a:rPr>
              <a:t>Características</a:t>
            </a: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: Abandono de processos, inconsistência de resultados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g1e80fe16337_0_28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Nível 1 - Inicial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e80fe16337_0_33"/>
          <p:cNvSpPr txBox="1"/>
          <p:nvPr>
            <p:ph idx="1" type="body"/>
          </p:nvPr>
        </p:nvSpPr>
        <p:spPr>
          <a:xfrm>
            <a:off x="378375" y="1162775"/>
            <a:ext cx="47574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•"/>
            </a:pP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Foco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: Gerência básica do projeto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•"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Existe planejamento, realização,</a:t>
            </a:r>
            <a:br>
              <a:rPr lang="pt-BR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medição e controle dos projetos</a:t>
            </a:r>
            <a:br>
              <a:rPr lang="pt-BR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pt-BR">
                <a:latin typeface="Helvetica Neue"/>
                <a:ea typeface="Helvetica Neue"/>
                <a:cs typeface="Helvetica Neue"/>
                <a:sym typeface="Helvetica Neue"/>
              </a:rPr>
              <a:t>individualmente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•"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Resultados mais controlados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556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000"/>
              <a:buChar char="•"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Ainda há a presença de alguns</a:t>
            </a:r>
            <a:br>
              <a:rPr lang="pt-BR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processos desorganizados do nível 1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5" name="Google Shape;185;g1e80fe16337_0_33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Nível 2 - Gerenciado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6" name="Google Shape;186;g1e80fe16337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5674" y="1208700"/>
            <a:ext cx="3470201" cy="265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e84f0f0216_1_0"/>
          <p:cNvSpPr txBox="1"/>
          <p:nvPr>
            <p:ph idx="1" type="body"/>
          </p:nvPr>
        </p:nvSpPr>
        <p:spPr>
          <a:xfrm>
            <a:off x="378375" y="1162775"/>
            <a:ext cx="8373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O site Indeed recomenda seis passos principais para se alcançar o nível 3 de maturidade do CMMI.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2" name="Google Shape;192;g1e84f0f0216_1_0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Como chegar ao nível 3?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e84f0f0216_1_5"/>
          <p:cNvSpPr txBox="1"/>
          <p:nvPr>
            <p:ph idx="1" type="body"/>
          </p:nvPr>
        </p:nvSpPr>
        <p:spPr>
          <a:xfrm>
            <a:off x="378375" y="1162775"/>
            <a:ext cx="8373000" cy="18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O primeiro passo para obter uma certificação CMMI nível 3 é entender quais processos e planos você precisa para obter a certificação. Isso ajudará a organizar as etapas, e definir as melhores decisões a serem tomadas para se comprometer a melhorar os processos e as metas de produção.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g1e84f0f0216_1_5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Passo 1 - Compreensão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e84f0f0216_1_11"/>
          <p:cNvSpPr txBox="1"/>
          <p:nvPr>
            <p:ph idx="1" type="body"/>
          </p:nvPr>
        </p:nvSpPr>
        <p:spPr>
          <a:xfrm>
            <a:off x="378375" y="1162775"/>
            <a:ext cx="83730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Busque o treinamento CMMI. Isso pode ajudar sua organização a desenvolver práticas recomendadas e agilizar processos para melhor produção, alinhamento de metas e segurança.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g1e84f0f0216_1_11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Passo 2 - Treinamento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e84f0f0216_1_17"/>
          <p:cNvSpPr txBox="1"/>
          <p:nvPr>
            <p:ph idx="1" type="body"/>
          </p:nvPr>
        </p:nvSpPr>
        <p:spPr>
          <a:xfrm>
            <a:off x="378375" y="1162775"/>
            <a:ext cx="8373000" cy="15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Contratar um avaliador líder CMMI é essencial para obter a certificação CMMI nível 3, devido a sua experiência, o avaliador pode ajudar a encontrar bons processos para melhorar a organização.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g1e84f0f0216_1_17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Passo 3 - Avaliador Líder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e84f0f0216_1_23"/>
          <p:cNvSpPr txBox="1"/>
          <p:nvPr>
            <p:ph idx="1" type="body"/>
          </p:nvPr>
        </p:nvSpPr>
        <p:spPr>
          <a:xfrm>
            <a:off x="378375" y="1162775"/>
            <a:ext cx="83730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Depois que um avaliador o ajudar a encontrar áreas de melhoria, você poderá melhorar os processos em toda a organização atualizando-os ou alterando-os. 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A atualização desses processos também é essencial para passar nas pré-avaliações de certificação e na avaliação SCAMPI A para certificações oficiais.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g1e84f0f0216_1_23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Passo 4 - Implantação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e84f0f0216_1_29"/>
          <p:cNvSpPr txBox="1"/>
          <p:nvPr>
            <p:ph idx="1" type="body"/>
          </p:nvPr>
        </p:nvSpPr>
        <p:spPr>
          <a:xfrm>
            <a:off x="378375" y="1162775"/>
            <a:ext cx="83730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Há duas avaliações que uma organização pode fazer antes de fazer a avaliação SCAMPI A. São as avaliações SCAMPI B e SCAMPI C. 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Essas pré-avaliações podem ajudar uma organização a encontrar áreas de oportunidade e melhoria dentro de seus processos. As avaliações também podem mostrar o quanto uma organização melhorou desde que buscou a certificação CMMI.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g1e84f0f0216_1_29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Passo 5 - </a:t>
            </a: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Pré Avaliações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e84f0f0216_1_35"/>
          <p:cNvSpPr txBox="1"/>
          <p:nvPr>
            <p:ph idx="1" type="body"/>
          </p:nvPr>
        </p:nvSpPr>
        <p:spPr>
          <a:xfrm>
            <a:off x="378375" y="1162775"/>
            <a:ext cx="8373000" cy="18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O último passo é fazer a avaliação formal SCAMPI A para obter a certificação.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7477C"/>
              </a:buClr>
              <a:buSzPts val="2200"/>
              <a:buChar char="•"/>
            </a:pPr>
            <a:r>
              <a:rPr lang="pt-BR" sz="2200">
                <a:latin typeface="Helvetica Neue"/>
                <a:ea typeface="Helvetica Neue"/>
                <a:cs typeface="Helvetica Neue"/>
                <a:sym typeface="Helvetica Neue"/>
              </a:rPr>
              <a:t>Após a conclusão bem-sucedida da avaliação, uma organização pode relatar que é aprovada e certificada CMMI nível 3. </a:t>
            </a:r>
            <a:endParaRPr sz="22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8" name="Google Shape;228;g1e84f0f0216_1_35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Passo 6 - SCAMPI A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e80fe16337_0_23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Diferenças entre CMMI e MPS.BR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34" name="Google Shape;234;g1e80fe16337_0_23"/>
          <p:cNvGraphicFramePr/>
          <p:nvPr/>
        </p:nvGraphicFramePr>
        <p:xfrm>
          <a:off x="952500" y="106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{6C57A03A-3E51-4811-B6A5-E5C1C6CDE288}</a:tableStyleId>
              </a:tblPr>
              <a:tblGrid>
                <a:gridCol w="3619500"/>
                <a:gridCol w="3619500"/>
              </a:tblGrid>
              <a:tr h="80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Custo Alto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Custo Baixo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Reconhecido Internacionalmente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Reconhecido na América Latina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5 Níveis (1 a 5)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7 Níveis (G a A)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Bem aceito em licitações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Bem aceito em licitações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Criado em 1992 pelo Software Engineering Institute - SEI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Criado em 2003 por instituições Brasileiras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Não inclui desenvolvimento para reutilização e gerência de projetos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Inclui desenvolvimento para reutilização </a:t>
                      </a:r>
                      <a:r>
                        <a:rPr lang="pt-BR">
                          <a:solidFill>
                            <a:schemeClr val="dk1"/>
                          </a:solidFill>
                        </a:rPr>
                        <a:t> e gerência de projetos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35" name="Google Shape;235;g1e80fe16337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0275" y="1108688"/>
            <a:ext cx="702100" cy="72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g1e80fe16337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9426" y="765088"/>
            <a:ext cx="2507274" cy="14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e80fe16337_0_38"/>
          <p:cNvSpPr txBox="1"/>
          <p:nvPr>
            <p:ph idx="1" type="body"/>
          </p:nvPr>
        </p:nvSpPr>
        <p:spPr>
          <a:xfrm>
            <a:off x="378375" y="1162775"/>
            <a:ext cx="8373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CHRISSIS, M. B.; KONRAD, M.; SHRUM, S. </a:t>
            </a:r>
            <a:r>
              <a:rPr b="1"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CMMI For Development: Guidelines for Process Integration and Product Improvement</a:t>
            </a: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3 ed. Pearson Education, 2011.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FRANCISCANI, J. F., PESTILI, L. C. </a:t>
            </a:r>
            <a:r>
              <a:rPr b="1"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CMMI e MPS.BR: Um estudo comparativo</a:t>
            </a: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Disponível em: https://www.unicerp.edu.br/revistas/rumos/01/p157.pdf. Acesso em: 25 set. 2023.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MORGADO, G. P. et al. </a:t>
            </a:r>
            <a:r>
              <a:rPr b="1"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Práticas do CMMI como regras de negócio</a:t>
            </a: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2007. Disponível em: https://doi.org/10.1590/S0103-65132007000200013. Acesso em: 24 set. 2023.</a:t>
            </a:r>
            <a:endParaRPr sz="16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 Editorial do Indeed. </a:t>
            </a:r>
            <a:r>
              <a:rPr b="1"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To Get a CMMI Level 3 Certification in 6 Steps</a:t>
            </a:r>
            <a:r>
              <a:rPr lang="pt-BR" sz="1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 Disponível em: https://www.unicerp.edu.br/revistas/rumos/01/p157.pdf. Acesso em: 01 out. 2023.</a:t>
            </a:r>
            <a:endParaRPr sz="16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2" name="Google Shape;242;g1e80fe16337_0_38"/>
          <p:cNvSpPr txBox="1"/>
          <p:nvPr>
            <p:ph type="title"/>
          </p:nvPr>
        </p:nvSpPr>
        <p:spPr>
          <a:xfrm>
            <a:off x="313119" y="440175"/>
            <a:ext cx="7466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pt-BR">
                <a:latin typeface="Helvetica Neue"/>
                <a:ea typeface="Helvetica Neue"/>
                <a:cs typeface="Helvetica Neue"/>
                <a:sym typeface="Helvetica Neue"/>
              </a:rPr>
              <a:t>Referências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1e80fe16337_0_10"/>
          <p:cNvSpPr txBox="1"/>
          <p:nvPr/>
        </p:nvSpPr>
        <p:spPr>
          <a:xfrm>
            <a:off x="1965375" y="814775"/>
            <a:ext cx="5177100" cy="4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Universidade do Vale do Itajaí</a:t>
            </a:r>
            <a:endParaRPr b="0" i="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pt-BR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Escola </a:t>
            </a:r>
            <a:r>
              <a:rPr lang="pt-BR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Politécnica</a:t>
            </a:r>
            <a:r>
              <a:rPr lang="pt-BR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- </a:t>
            </a:r>
            <a:r>
              <a:rPr b="0" i="0" lang="pt-BR" u="none" cap="none" strike="noStrike">
                <a:solidFill>
                  <a:srgbClr val="05356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Ciência da Computação</a:t>
            </a:r>
            <a:endParaRPr b="0" i="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8" name="Google Shape;248;g1e80fe16337_0_10"/>
          <p:cNvSpPr/>
          <p:nvPr/>
        </p:nvSpPr>
        <p:spPr>
          <a:xfrm>
            <a:off x="1080516" y="4788408"/>
            <a:ext cx="6946900" cy="192404"/>
          </a:xfrm>
          <a:custGeom>
            <a:rect b="b" l="l" r="r" t="t"/>
            <a:pathLst>
              <a:path extrusionOk="0" h="192404" w="6946900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1e80fe16337_0_10"/>
          <p:cNvSpPr txBox="1"/>
          <p:nvPr/>
        </p:nvSpPr>
        <p:spPr>
          <a:xfrm>
            <a:off x="1080516" y="1590738"/>
            <a:ext cx="69468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pt-BR" sz="37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Capability Maturity Model Integration</a:t>
            </a:r>
            <a:endParaRPr b="1" i="0" sz="37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0" name="Google Shape;250;g1e80fe16337_0_10"/>
          <p:cNvSpPr txBox="1"/>
          <p:nvPr/>
        </p:nvSpPr>
        <p:spPr>
          <a:xfrm>
            <a:off x="1080525" y="3587450"/>
            <a:ext cx="69468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Gustavo Henrique Stahl Müller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Luiz Felipe Cipriani Morfelle</a:t>
            </a:r>
            <a:endParaRPr sz="1800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Paulo Henrique Rohling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1" name="Google Shape;251;g1e80fe16337_0_10"/>
          <p:cNvSpPr txBox="1"/>
          <p:nvPr/>
        </p:nvSpPr>
        <p:spPr>
          <a:xfrm>
            <a:off x="1098600" y="2808338"/>
            <a:ext cx="69468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>
                <a:solidFill>
                  <a:srgbClr val="07477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CMMI 1 e 2</a:t>
            </a:r>
            <a:endParaRPr b="0" i="0" sz="1800" u="none" cap="none" strike="noStrike">
              <a:solidFill>
                <a:srgbClr val="07477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2019-04-07T19:13:44Z</dcterms:created>
  <dc:creator>Paulo Henrique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
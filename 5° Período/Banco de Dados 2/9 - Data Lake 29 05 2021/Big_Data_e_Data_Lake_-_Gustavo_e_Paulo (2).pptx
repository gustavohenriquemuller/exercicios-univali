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89" r:id="rId2"/>
    <p:sldId id="257" r:id="rId3"/>
    <p:sldId id="281" r:id="rId4"/>
    <p:sldId id="287" r:id="rId5"/>
    <p:sldId id="286" r:id="rId6"/>
    <p:sldId id="283" r:id="rId7"/>
    <p:sldId id="282" r:id="rId8"/>
    <p:sldId id="280" r:id="rId9"/>
    <p:sldId id="288" r:id="rId10"/>
  </p:sldIdLst>
  <p:sldSz cx="9144000" cy="5143500" type="screen16x9"/>
  <p:notesSz cx="9144000" cy="51435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47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720" autoAdjust="0"/>
    <p:restoredTop sz="94660"/>
  </p:normalViewPr>
  <p:slideViewPr>
    <p:cSldViewPr>
      <p:cViewPr varScale="1">
        <p:scale>
          <a:sx n="144" d="100"/>
          <a:sy n="144" d="100"/>
        </p:scale>
        <p:origin x="2196" y="12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DD78BE-1989-4411-8E38-70FFB3D22DDC}" type="datetimeFigureOut">
              <a:rPr lang="pt-BR" smtClean="0"/>
              <a:t>29/05/2021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3891EA-2169-4D74-886B-EA8EA7CCD57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6238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3891EA-2169-4D74-886B-EA8EA7CCD575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0702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5/29/2021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7477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7477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5/29/2021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7477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5/29/2021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7477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5/29/2021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117091" y="541019"/>
            <a:ext cx="6910070" cy="192405"/>
          </a:xfrm>
          <a:custGeom>
            <a:avLst/>
            <a:gdLst/>
            <a:ahLst/>
            <a:cxnLst/>
            <a:rect l="l" t="t" r="r" b="b"/>
            <a:pathLst>
              <a:path w="6910070" h="192404">
                <a:moveTo>
                  <a:pt x="0" y="192024"/>
                </a:moveTo>
                <a:lnTo>
                  <a:pt x="6909816" y="192024"/>
                </a:lnTo>
                <a:lnTo>
                  <a:pt x="6909816" y="0"/>
                </a:lnTo>
                <a:lnTo>
                  <a:pt x="0" y="0"/>
                </a:lnTo>
                <a:lnTo>
                  <a:pt x="0" y="192024"/>
                </a:lnTo>
                <a:close/>
              </a:path>
            </a:pathLst>
          </a:custGeom>
          <a:solidFill>
            <a:srgbClr val="0747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1081277" y="1319022"/>
            <a:ext cx="6898005" cy="3810"/>
          </a:xfrm>
          <a:custGeom>
            <a:avLst/>
            <a:gdLst/>
            <a:ahLst/>
            <a:cxnLst/>
            <a:rect l="l" t="t" r="r" b="b"/>
            <a:pathLst>
              <a:path w="6898005" h="3809">
                <a:moveTo>
                  <a:pt x="6897878" y="3301"/>
                </a:moveTo>
                <a:lnTo>
                  <a:pt x="0" y="0"/>
                </a:lnTo>
              </a:path>
            </a:pathLst>
          </a:custGeom>
          <a:ln w="19811">
            <a:solidFill>
              <a:srgbClr val="0747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1081277" y="4671821"/>
            <a:ext cx="6898005" cy="3810"/>
          </a:xfrm>
          <a:custGeom>
            <a:avLst/>
            <a:gdLst/>
            <a:ahLst/>
            <a:cxnLst/>
            <a:rect l="l" t="t" r="r" b="b"/>
            <a:pathLst>
              <a:path w="6898005" h="3810">
                <a:moveTo>
                  <a:pt x="6897878" y="3301"/>
                </a:moveTo>
                <a:lnTo>
                  <a:pt x="0" y="0"/>
                </a:lnTo>
              </a:path>
            </a:pathLst>
          </a:custGeom>
          <a:ln w="19811">
            <a:solidFill>
              <a:srgbClr val="0747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1081277" y="3300221"/>
            <a:ext cx="6898005" cy="3810"/>
          </a:xfrm>
          <a:custGeom>
            <a:avLst/>
            <a:gdLst/>
            <a:ahLst/>
            <a:cxnLst/>
            <a:rect l="l" t="t" r="r" b="b"/>
            <a:pathLst>
              <a:path w="6898005" h="3810">
                <a:moveTo>
                  <a:pt x="6897878" y="3301"/>
                </a:moveTo>
                <a:lnTo>
                  <a:pt x="0" y="0"/>
                </a:lnTo>
              </a:path>
            </a:pathLst>
          </a:custGeom>
          <a:ln w="19811">
            <a:solidFill>
              <a:srgbClr val="0747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4066032" y="0"/>
            <a:ext cx="1011936" cy="8305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5/29/2021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386080"/>
          </a:xfrm>
          <a:custGeom>
            <a:avLst/>
            <a:gdLst/>
            <a:ahLst/>
            <a:cxnLst/>
            <a:rect l="l" t="t" r="r" b="b"/>
            <a:pathLst>
              <a:path w="9144000" h="386080">
                <a:moveTo>
                  <a:pt x="0" y="385572"/>
                </a:moveTo>
                <a:lnTo>
                  <a:pt x="9144000" y="385572"/>
                </a:lnTo>
                <a:lnTo>
                  <a:pt x="9144000" y="0"/>
                </a:lnTo>
                <a:lnTo>
                  <a:pt x="0" y="0"/>
                </a:lnTo>
                <a:lnTo>
                  <a:pt x="0" y="385572"/>
                </a:lnTo>
                <a:close/>
              </a:path>
            </a:pathLst>
          </a:custGeom>
          <a:solidFill>
            <a:srgbClr val="0747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8740140" y="4757927"/>
            <a:ext cx="403860" cy="386080"/>
          </a:xfrm>
          <a:custGeom>
            <a:avLst/>
            <a:gdLst/>
            <a:ahLst/>
            <a:cxnLst/>
            <a:rect l="l" t="t" r="r" b="b"/>
            <a:pathLst>
              <a:path w="403859" h="386079">
                <a:moveTo>
                  <a:pt x="0" y="385571"/>
                </a:moveTo>
                <a:lnTo>
                  <a:pt x="403860" y="385571"/>
                </a:lnTo>
                <a:lnTo>
                  <a:pt x="403860" y="0"/>
                </a:lnTo>
                <a:lnTo>
                  <a:pt x="0" y="0"/>
                </a:lnTo>
                <a:lnTo>
                  <a:pt x="0" y="385571"/>
                </a:lnTo>
                <a:close/>
              </a:path>
            </a:pathLst>
          </a:custGeom>
          <a:solidFill>
            <a:srgbClr val="0747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0" y="4757927"/>
            <a:ext cx="402590" cy="386080"/>
          </a:xfrm>
          <a:custGeom>
            <a:avLst/>
            <a:gdLst/>
            <a:ahLst/>
            <a:cxnLst/>
            <a:rect l="l" t="t" r="r" b="b"/>
            <a:pathLst>
              <a:path w="402590" h="386079">
                <a:moveTo>
                  <a:pt x="0" y="385571"/>
                </a:moveTo>
                <a:lnTo>
                  <a:pt x="402336" y="385571"/>
                </a:lnTo>
                <a:lnTo>
                  <a:pt x="402336" y="0"/>
                </a:lnTo>
                <a:lnTo>
                  <a:pt x="0" y="0"/>
                </a:lnTo>
                <a:lnTo>
                  <a:pt x="0" y="385571"/>
                </a:lnTo>
                <a:close/>
              </a:path>
            </a:pathLst>
          </a:custGeom>
          <a:solidFill>
            <a:srgbClr val="0747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402336" y="4757927"/>
            <a:ext cx="8338184" cy="386080"/>
          </a:xfrm>
          <a:custGeom>
            <a:avLst/>
            <a:gdLst/>
            <a:ahLst/>
            <a:cxnLst/>
            <a:rect l="l" t="t" r="r" b="b"/>
            <a:pathLst>
              <a:path w="8338184" h="386079">
                <a:moveTo>
                  <a:pt x="0" y="385571"/>
                </a:moveTo>
                <a:lnTo>
                  <a:pt x="8337804" y="385571"/>
                </a:lnTo>
                <a:lnTo>
                  <a:pt x="8337804" y="0"/>
                </a:lnTo>
                <a:lnTo>
                  <a:pt x="0" y="0"/>
                </a:lnTo>
                <a:lnTo>
                  <a:pt x="0" y="385571"/>
                </a:lnTo>
                <a:close/>
              </a:path>
            </a:pathLst>
          </a:custGeom>
          <a:solidFill>
            <a:srgbClr val="0747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8170164" y="45719"/>
            <a:ext cx="974090" cy="1012190"/>
          </a:xfrm>
          <a:custGeom>
            <a:avLst/>
            <a:gdLst/>
            <a:ahLst/>
            <a:cxnLst/>
            <a:rect l="l" t="t" r="r" b="b"/>
            <a:pathLst>
              <a:path w="974090" h="1012190">
                <a:moveTo>
                  <a:pt x="811529" y="0"/>
                </a:moveTo>
                <a:lnTo>
                  <a:pt x="162305" y="0"/>
                </a:lnTo>
                <a:lnTo>
                  <a:pt x="119150" y="5796"/>
                </a:lnTo>
                <a:lnTo>
                  <a:pt x="80376" y="22154"/>
                </a:lnTo>
                <a:lnTo>
                  <a:pt x="47529" y="47529"/>
                </a:lnTo>
                <a:lnTo>
                  <a:pt x="22154" y="80376"/>
                </a:lnTo>
                <a:lnTo>
                  <a:pt x="5796" y="119150"/>
                </a:lnTo>
                <a:lnTo>
                  <a:pt x="0" y="162305"/>
                </a:lnTo>
                <a:lnTo>
                  <a:pt x="0" y="849629"/>
                </a:lnTo>
                <a:lnTo>
                  <a:pt x="5796" y="892785"/>
                </a:lnTo>
                <a:lnTo>
                  <a:pt x="22154" y="931559"/>
                </a:lnTo>
                <a:lnTo>
                  <a:pt x="47529" y="964406"/>
                </a:lnTo>
                <a:lnTo>
                  <a:pt x="80376" y="989781"/>
                </a:lnTo>
                <a:lnTo>
                  <a:pt x="119150" y="1006139"/>
                </a:lnTo>
                <a:lnTo>
                  <a:pt x="162305" y="1011935"/>
                </a:lnTo>
                <a:lnTo>
                  <a:pt x="811529" y="1011935"/>
                </a:lnTo>
                <a:lnTo>
                  <a:pt x="854685" y="1006139"/>
                </a:lnTo>
                <a:lnTo>
                  <a:pt x="893459" y="989781"/>
                </a:lnTo>
                <a:lnTo>
                  <a:pt x="926306" y="964406"/>
                </a:lnTo>
                <a:lnTo>
                  <a:pt x="951681" y="931559"/>
                </a:lnTo>
                <a:lnTo>
                  <a:pt x="968039" y="892785"/>
                </a:lnTo>
                <a:lnTo>
                  <a:pt x="973835" y="849629"/>
                </a:lnTo>
                <a:lnTo>
                  <a:pt x="973835" y="162305"/>
                </a:lnTo>
                <a:lnTo>
                  <a:pt x="968039" y="119150"/>
                </a:lnTo>
                <a:lnTo>
                  <a:pt x="951681" y="80376"/>
                </a:lnTo>
                <a:lnTo>
                  <a:pt x="926306" y="47529"/>
                </a:lnTo>
                <a:lnTo>
                  <a:pt x="893459" y="22154"/>
                </a:lnTo>
                <a:lnTo>
                  <a:pt x="854685" y="5796"/>
                </a:lnTo>
                <a:lnTo>
                  <a:pt x="811529" y="0"/>
                </a:lnTo>
                <a:close/>
              </a:path>
            </a:pathLst>
          </a:custGeom>
          <a:solidFill>
            <a:srgbClr val="0747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k object 21"/>
          <p:cNvSpPr/>
          <p:nvPr/>
        </p:nvSpPr>
        <p:spPr>
          <a:xfrm>
            <a:off x="8261604" y="385572"/>
            <a:ext cx="792479" cy="54102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3131" y="440182"/>
            <a:ext cx="3684904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07477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383" y="1084383"/>
            <a:ext cx="8387232" cy="3181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07477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5/29/2021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14725" y="735533"/>
            <a:ext cx="2124710" cy="5302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100" spc="-80" dirty="0">
                <a:solidFill>
                  <a:srgbClr val="05356B"/>
                </a:solidFill>
                <a:latin typeface="Calibri"/>
                <a:cs typeface="Calibri"/>
              </a:rPr>
              <a:t>Universidade </a:t>
            </a:r>
            <a:r>
              <a:rPr sz="1100" spc="-105" dirty="0">
                <a:solidFill>
                  <a:srgbClr val="05356B"/>
                </a:solidFill>
                <a:latin typeface="Calibri"/>
                <a:cs typeface="Calibri"/>
              </a:rPr>
              <a:t>do </a:t>
            </a:r>
            <a:r>
              <a:rPr sz="1100" spc="-75" dirty="0">
                <a:solidFill>
                  <a:srgbClr val="05356B"/>
                </a:solidFill>
                <a:latin typeface="Calibri"/>
                <a:cs typeface="Calibri"/>
              </a:rPr>
              <a:t>Vale </a:t>
            </a:r>
            <a:r>
              <a:rPr sz="1100" spc="-105" dirty="0">
                <a:solidFill>
                  <a:srgbClr val="05356B"/>
                </a:solidFill>
                <a:latin typeface="Calibri"/>
                <a:cs typeface="Calibri"/>
              </a:rPr>
              <a:t>do</a:t>
            </a:r>
            <a:r>
              <a:rPr sz="1100" dirty="0">
                <a:solidFill>
                  <a:srgbClr val="05356B"/>
                </a:solidFill>
                <a:latin typeface="Calibri"/>
                <a:cs typeface="Calibri"/>
              </a:rPr>
              <a:t> </a:t>
            </a:r>
            <a:r>
              <a:rPr sz="1100" spc="-55" dirty="0">
                <a:solidFill>
                  <a:srgbClr val="05356B"/>
                </a:solidFill>
                <a:latin typeface="Calibri"/>
                <a:cs typeface="Calibri"/>
              </a:rPr>
              <a:t>Itajaí</a:t>
            </a:r>
            <a:endParaRPr sz="11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100" spc="-70" dirty="0">
                <a:solidFill>
                  <a:srgbClr val="05356B"/>
                </a:solidFill>
                <a:latin typeface="Calibri"/>
                <a:cs typeface="Calibri"/>
              </a:rPr>
              <a:t>Escola </a:t>
            </a:r>
            <a:r>
              <a:rPr sz="1100" spc="-105" dirty="0">
                <a:solidFill>
                  <a:srgbClr val="05356B"/>
                </a:solidFill>
                <a:latin typeface="Calibri"/>
                <a:cs typeface="Calibri"/>
              </a:rPr>
              <a:t>do </a:t>
            </a:r>
            <a:r>
              <a:rPr sz="1100" spc="-120" dirty="0">
                <a:solidFill>
                  <a:srgbClr val="05356B"/>
                </a:solidFill>
                <a:latin typeface="Calibri"/>
                <a:cs typeface="Calibri"/>
              </a:rPr>
              <a:t>Mar, </a:t>
            </a:r>
            <a:r>
              <a:rPr sz="1100" spc="-70" dirty="0">
                <a:solidFill>
                  <a:srgbClr val="05356B"/>
                </a:solidFill>
                <a:latin typeface="Calibri"/>
                <a:cs typeface="Calibri"/>
              </a:rPr>
              <a:t>Ciência </a:t>
            </a:r>
            <a:r>
              <a:rPr sz="1100" spc="-95" dirty="0">
                <a:solidFill>
                  <a:srgbClr val="05356B"/>
                </a:solidFill>
                <a:latin typeface="Calibri"/>
                <a:cs typeface="Calibri"/>
              </a:rPr>
              <a:t>e </a:t>
            </a:r>
            <a:r>
              <a:rPr sz="1100" spc="-65" dirty="0">
                <a:solidFill>
                  <a:srgbClr val="05356B"/>
                </a:solidFill>
                <a:latin typeface="Calibri"/>
                <a:cs typeface="Calibri"/>
              </a:rPr>
              <a:t>Tecnologia </a:t>
            </a:r>
            <a:r>
              <a:rPr sz="1100" spc="-20" dirty="0">
                <a:solidFill>
                  <a:srgbClr val="05356B"/>
                </a:solidFill>
                <a:latin typeface="Calibri"/>
                <a:cs typeface="Calibri"/>
              </a:rPr>
              <a:t>-</a:t>
            </a:r>
            <a:r>
              <a:rPr sz="1100" spc="-70" dirty="0">
                <a:solidFill>
                  <a:srgbClr val="05356B"/>
                </a:solidFill>
                <a:latin typeface="Calibri"/>
                <a:cs typeface="Calibri"/>
              </a:rPr>
              <a:t> </a:t>
            </a:r>
            <a:r>
              <a:rPr sz="1100" spc="-110" dirty="0">
                <a:solidFill>
                  <a:srgbClr val="05356B"/>
                </a:solidFill>
                <a:latin typeface="Calibri"/>
                <a:cs typeface="Calibri"/>
              </a:rPr>
              <a:t>EMCT</a:t>
            </a:r>
            <a:endParaRPr sz="11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100" spc="-70" dirty="0">
                <a:solidFill>
                  <a:srgbClr val="05356B"/>
                </a:solidFill>
                <a:latin typeface="Calibri"/>
                <a:cs typeface="Calibri"/>
              </a:rPr>
              <a:t>Ciência </a:t>
            </a:r>
            <a:r>
              <a:rPr sz="1100" spc="-95" dirty="0">
                <a:solidFill>
                  <a:srgbClr val="05356B"/>
                </a:solidFill>
                <a:latin typeface="Calibri"/>
                <a:cs typeface="Calibri"/>
              </a:rPr>
              <a:t>da</a:t>
            </a:r>
            <a:r>
              <a:rPr sz="1100" spc="10" dirty="0">
                <a:solidFill>
                  <a:srgbClr val="05356B"/>
                </a:solidFill>
                <a:latin typeface="Calibri"/>
                <a:cs typeface="Calibri"/>
              </a:rPr>
              <a:t> </a:t>
            </a:r>
            <a:r>
              <a:rPr sz="1100" spc="-100" dirty="0">
                <a:solidFill>
                  <a:srgbClr val="05356B"/>
                </a:solidFill>
                <a:latin typeface="Calibri"/>
                <a:cs typeface="Calibri"/>
              </a:rPr>
              <a:t>Computação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80516" y="4788408"/>
            <a:ext cx="6946900" cy="192405"/>
          </a:xfrm>
          <a:custGeom>
            <a:avLst/>
            <a:gdLst/>
            <a:ahLst/>
            <a:cxnLst/>
            <a:rect l="l" t="t" r="r" b="b"/>
            <a:pathLst>
              <a:path w="6946900" h="192404">
                <a:moveTo>
                  <a:pt x="0" y="192023"/>
                </a:moveTo>
                <a:lnTo>
                  <a:pt x="6946392" y="192023"/>
                </a:lnTo>
                <a:lnTo>
                  <a:pt x="6946392" y="0"/>
                </a:lnTo>
                <a:lnTo>
                  <a:pt x="0" y="0"/>
                </a:lnTo>
                <a:lnTo>
                  <a:pt x="0" y="192023"/>
                </a:lnTo>
                <a:close/>
              </a:path>
            </a:pathLst>
          </a:custGeom>
          <a:solidFill>
            <a:srgbClr val="0747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80516" y="2038350"/>
            <a:ext cx="69469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pt-BR" sz="4000" b="1" spc="-270" dirty="0" smtClean="0">
                <a:solidFill>
                  <a:srgbClr val="07477C"/>
                </a:solidFill>
                <a:latin typeface="Helvetica LT Std" panose="020B0504020202020204"/>
                <a:cs typeface="Calibri"/>
              </a:rPr>
              <a:t>BIG DATA E DATA LAKE</a:t>
            </a:r>
            <a:endParaRPr lang="pt-BR" sz="3200" b="1" spc="-200" dirty="0" smtClean="0">
              <a:solidFill>
                <a:srgbClr val="07477C"/>
              </a:solidFill>
              <a:latin typeface="Helvetica LT Std" panose="020B0504020202020204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80516" y="3790950"/>
            <a:ext cx="694690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pt-BR" spc="-130" dirty="0" smtClean="0">
                <a:solidFill>
                  <a:srgbClr val="07477C"/>
                </a:solidFill>
                <a:latin typeface="Helvetica LT Std" panose="020B0504020202020204" pitchFamily="34" charset="0"/>
                <a:cs typeface="Calibri"/>
              </a:rPr>
              <a:t>Gustavo Henrique Stahl Müller e Paulo Henrique Rohling</a:t>
            </a:r>
          </a:p>
        </p:txBody>
      </p:sp>
    </p:spTree>
    <p:extLst>
      <p:ext uri="{BB962C8B-B14F-4D97-AF65-F5344CB8AC3E}">
        <p14:creationId xmlns:p14="http://schemas.microsoft.com/office/powerpoint/2010/main" val="1092162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3131" y="440182"/>
            <a:ext cx="235386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pc="-285" dirty="0" smtClean="0">
                <a:latin typeface="Helvetica LT Std" panose="020B0504020202020204" pitchFamily="34" charset="0"/>
              </a:rPr>
              <a:t>Sumário</a:t>
            </a:r>
            <a:endParaRPr spc="-285" dirty="0">
              <a:latin typeface="Helvetica LT Std" panose="020B0504020202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1230" y="1118691"/>
            <a:ext cx="8640370" cy="1310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1800" indent="-419100">
              <a:spcBef>
                <a:spcPts val="100"/>
              </a:spcBef>
              <a:spcAft>
                <a:spcPts val="1000"/>
              </a:spcAft>
              <a:buFont typeface="Arial"/>
              <a:buChar char="●"/>
              <a:tabLst>
                <a:tab pos="431800" algn="l"/>
                <a:tab pos="432434" algn="l"/>
              </a:tabLst>
            </a:pPr>
            <a:r>
              <a:rPr lang="pt-BR" sz="2200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Contextualização</a:t>
            </a:r>
          </a:p>
          <a:p>
            <a:pPr marL="431800" indent="-419100">
              <a:spcBef>
                <a:spcPts val="100"/>
              </a:spcBef>
              <a:spcAft>
                <a:spcPts val="1000"/>
              </a:spcAft>
              <a:buFont typeface="Arial"/>
              <a:buChar char="●"/>
              <a:tabLst>
                <a:tab pos="431800" algn="l"/>
                <a:tab pos="432434" algn="l"/>
              </a:tabLst>
            </a:pPr>
            <a:r>
              <a:rPr lang="pt-BR" sz="2200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Justificativa da importância</a:t>
            </a:r>
          </a:p>
          <a:p>
            <a:pPr marL="431800" indent="-419100">
              <a:spcBef>
                <a:spcPts val="100"/>
              </a:spcBef>
              <a:spcAft>
                <a:spcPts val="1000"/>
              </a:spcAft>
              <a:buFont typeface="Arial"/>
              <a:buChar char="●"/>
              <a:tabLst>
                <a:tab pos="431800" algn="l"/>
                <a:tab pos="432434" algn="l"/>
              </a:tabLst>
            </a:pPr>
            <a:r>
              <a:rPr lang="pt-BR" sz="2200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Casos de uso</a:t>
            </a:r>
            <a:endParaRPr lang="pt-BR" sz="2200" dirty="0">
              <a:solidFill>
                <a:srgbClr val="07477C"/>
              </a:solidFill>
              <a:latin typeface="Helvetica LT Std" panose="020B05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3130" y="440182"/>
            <a:ext cx="7383069" cy="553998"/>
          </a:xfrm>
        </p:spPr>
        <p:txBody>
          <a:bodyPr/>
          <a:lstStyle/>
          <a:p>
            <a:r>
              <a:rPr lang="pt-BR" spc="-285" dirty="0" smtClean="0">
                <a:latin typeface="Helvetica LT Std" panose="020B0504020202020204" pitchFamily="34" charset="0"/>
              </a:rPr>
              <a:t>Big Data: </a:t>
            </a:r>
            <a:r>
              <a:rPr lang="pt-BR" b="0" spc="-285" dirty="0" smtClean="0">
                <a:latin typeface="Helvetica LT Std" panose="020B0504020202020204" pitchFamily="34" charset="0"/>
              </a:rPr>
              <a:t>Contextualização</a:t>
            </a:r>
            <a:endParaRPr lang="pt-BR" b="0" dirty="0">
              <a:latin typeface="Helvetica LT Std"/>
            </a:endParaRPr>
          </a:p>
        </p:txBody>
      </p:sp>
      <p:pic>
        <p:nvPicPr>
          <p:cNvPr id="9" name="Picture 2" descr="Big Data em supermercados: mentalidade para conhecer os dados - Blog APAS  Show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456"/>
          <a:stretch/>
        </p:blipFill>
        <p:spPr bwMode="auto">
          <a:xfrm>
            <a:off x="5105400" y="2114550"/>
            <a:ext cx="3935102" cy="1841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8383" y="1230286"/>
            <a:ext cx="8387232" cy="3077766"/>
          </a:xfrm>
        </p:spPr>
        <p:txBody>
          <a:bodyPr/>
          <a:lstStyle/>
          <a:p>
            <a:r>
              <a:rPr lang="pt-BR" b="1" dirty="0" smtClean="0">
                <a:latin typeface="Helvetica" pitchFamily="2" charset="0"/>
              </a:rPr>
              <a:t>Tempos Modernos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 smtClean="0">
                <a:latin typeface="Helvetica" pitchFamily="2" charset="0"/>
              </a:rPr>
              <a:t>Maior consumo de tecnologias;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 smtClean="0">
                <a:latin typeface="Helvetica" pitchFamily="2" charset="0"/>
              </a:rPr>
              <a:t>Aumento na produção de dados;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 smtClean="0">
                <a:latin typeface="Helvetica" pitchFamily="2" charset="0"/>
              </a:rPr>
              <a:t>Evolução dos dispositivos de armazenamento.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>
              <a:latin typeface="Helvetica" pitchFamily="2" charset="0"/>
            </a:endParaRPr>
          </a:p>
          <a:p>
            <a:r>
              <a:rPr lang="pt-BR" b="1" dirty="0" err="1" smtClean="0">
                <a:latin typeface="Helvetica" pitchFamily="2" charset="0"/>
              </a:rPr>
              <a:t>Vs</a:t>
            </a:r>
            <a:r>
              <a:rPr lang="pt-BR" b="1" dirty="0" smtClean="0">
                <a:latin typeface="Helvetica" pitchFamily="2" charset="0"/>
              </a:rPr>
              <a:t> do Big Data</a:t>
            </a:r>
            <a:endParaRPr lang="pt-BR" b="1" dirty="0">
              <a:latin typeface="Helvetica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 smtClean="0">
                <a:latin typeface="Helvetica" pitchFamily="2" charset="0"/>
              </a:rPr>
              <a:t>Volume, Variedade e Velocidade;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 smtClean="0">
                <a:latin typeface="Helvetica" pitchFamily="2" charset="0"/>
              </a:rPr>
              <a:t>Veracidade e Valor.</a:t>
            </a:r>
            <a:endParaRPr lang="pt-BR" dirty="0">
              <a:latin typeface="Helvetica" pitchFamily="2" charset="0"/>
            </a:endParaRPr>
          </a:p>
          <a:p>
            <a:endParaRPr lang="pt-BR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442252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3130" y="440182"/>
            <a:ext cx="7383069" cy="553998"/>
          </a:xfrm>
        </p:spPr>
        <p:txBody>
          <a:bodyPr/>
          <a:lstStyle/>
          <a:p>
            <a:r>
              <a:rPr lang="pt-BR" spc="-285" dirty="0" smtClean="0">
                <a:latin typeface="Helvetica LT Std" panose="020B0504020202020204" pitchFamily="34" charset="0"/>
              </a:rPr>
              <a:t>Big Data: </a:t>
            </a:r>
            <a:r>
              <a:rPr lang="pt-BR" b="0" spc="-285" dirty="0" smtClean="0">
                <a:latin typeface="Helvetica LT Std" panose="020B0504020202020204" pitchFamily="34" charset="0"/>
              </a:rPr>
              <a:t>Por que é importante?</a:t>
            </a:r>
            <a:endParaRPr lang="pt-BR" b="0" dirty="0">
              <a:latin typeface="Helvetica LT Std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8383" y="1230286"/>
            <a:ext cx="8387232" cy="2213426"/>
          </a:xfrm>
        </p:spPr>
        <p:txBody>
          <a:bodyPr/>
          <a:lstStyle/>
          <a:p>
            <a:pPr>
              <a:spcAft>
                <a:spcPts val="800"/>
              </a:spcAft>
            </a:pPr>
            <a:r>
              <a:rPr lang="pt-BR" b="1" dirty="0" smtClean="0">
                <a:latin typeface="Helvetica" pitchFamily="2" charset="0"/>
              </a:rPr>
              <a:t>Tomada de Decisão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dirty="0" smtClean="0">
                <a:latin typeface="Helvetica" pitchFamily="2" charset="0"/>
              </a:rPr>
              <a:t>Rapidez;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dirty="0" smtClean="0">
                <a:latin typeface="Helvetica" pitchFamily="2" charset="0"/>
              </a:rPr>
              <a:t>Disponibilidade;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dirty="0" smtClean="0">
                <a:latin typeface="Helvetica" pitchFamily="2" charset="0"/>
              </a:rPr>
              <a:t>Escalabilidade;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dirty="0" smtClean="0">
                <a:latin typeface="Helvetica" pitchFamily="2" charset="0"/>
              </a:rPr>
              <a:t>Eficiência.</a:t>
            </a:r>
          </a:p>
          <a:p>
            <a:pPr>
              <a:spcAft>
                <a:spcPts val="800"/>
              </a:spcAft>
            </a:pPr>
            <a:endParaRPr lang="pt-BR" sz="1050" dirty="0">
              <a:latin typeface="Helvetica" pitchFamily="2" charset="0"/>
            </a:endParaRPr>
          </a:p>
        </p:txBody>
      </p:sp>
      <p:pic>
        <p:nvPicPr>
          <p:cNvPr id="1028" name="Picture 4" descr="Os fatores que interferem a tomada de decisão - SIMEON Estratégia para Açã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7274" y="1230286"/>
            <a:ext cx="4722251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Placeholder 2"/>
          <p:cNvSpPr txBox="1">
            <a:spLocks/>
          </p:cNvSpPr>
          <p:nvPr/>
        </p:nvSpPr>
        <p:spPr>
          <a:xfrm>
            <a:off x="378383" y="3333750"/>
            <a:ext cx="5870017" cy="12311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2000" b="0" i="0">
                <a:solidFill>
                  <a:srgbClr val="07477C"/>
                </a:solidFill>
                <a:latin typeface="Calibri"/>
                <a:ea typeface="+mn-ea"/>
                <a:cs typeface="Calibri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just">
              <a:spcAft>
                <a:spcPts val="800"/>
              </a:spcAft>
            </a:pPr>
            <a:r>
              <a:rPr lang="pt-BR" dirty="0">
                <a:latin typeface="Helvetica" pitchFamily="2" charset="0"/>
              </a:rPr>
              <a:t>Decisões são tomadas baseadas nas informações disponíveis no momento; quanto mais informações disponíveis, mais lúcida ela se </a:t>
            </a:r>
            <a:r>
              <a:rPr lang="pt-BR" dirty="0" smtClean="0">
                <a:latin typeface="Helvetica" pitchFamily="2" charset="0"/>
              </a:rPr>
              <a:t>torna </a:t>
            </a:r>
            <a:r>
              <a:rPr lang="pt-BR" dirty="0">
                <a:latin typeface="Helvetica" pitchFamily="2" charset="0"/>
              </a:rPr>
              <a:t>(</a:t>
            </a:r>
            <a:r>
              <a:rPr lang="pt-BR" dirty="0">
                <a:latin typeface="Helvetica LT Std" panose="020B0504020202020204" pitchFamily="34" charset="0"/>
              </a:rPr>
              <a:t>MARQUESONE, 2019</a:t>
            </a:r>
            <a:r>
              <a:rPr lang="pt-BR" dirty="0" smtClean="0">
                <a:latin typeface="Helvetica" pitchFamily="2" charset="0"/>
              </a:rPr>
              <a:t>).</a:t>
            </a:r>
            <a:endParaRPr lang="pt-BR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3278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3130" y="440182"/>
            <a:ext cx="7383069" cy="553998"/>
          </a:xfrm>
        </p:spPr>
        <p:txBody>
          <a:bodyPr/>
          <a:lstStyle/>
          <a:p>
            <a:r>
              <a:rPr lang="pt-BR" spc="-285" dirty="0" smtClean="0">
                <a:latin typeface="Helvetica LT Std" panose="020B0504020202020204" pitchFamily="34" charset="0"/>
              </a:rPr>
              <a:t>Data Lake: </a:t>
            </a:r>
            <a:r>
              <a:rPr lang="pt-BR" b="0" spc="-285" dirty="0" smtClean="0">
                <a:latin typeface="Helvetica LT Std" panose="020B0504020202020204" pitchFamily="34" charset="0"/>
              </a:rPr>
              <a:t>Contextualização</a:t>
            </a:r>
            <a:endParaRPr lang="pt-BR" b="0" dirty="0">
              <a:latin typeface="Helvetica LT Std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8383" y="1640571"/>
            <a:ext cx="8387232" cy="3077766"/>
          </a:xfrm>
        </p:spPr>
        <p:txBody>
          <a:bodyPr/>
          <a:lstStyle/>
          <a:p>
            <a:r>
              <a:rPr lang="pt-BR" b="1" dirty="0" smtClean="0">
                <a:latin typeface="Helvetica" pitchFamily="2" charset="0"/>
              </a:rPr>
              <a:t>Características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 smtClean="0">
                <a:latin typeface="Helvetica" pitchFamily="2" charset="0"/>
              </a:rPr>
              <a:t>Armazenamento de dados brutos;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 smtClean="0">
                <a:latin typeface="Helvetica" pitchFamily="2" charset="0"/>
              </a:rPr>
              <a:t>Análise pós-consulta;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 smtClean="0">
                <a:latin typeface="Helvetica" pitchFamily="2" charset="0"/>
              </a:rPr>
              <a:t>Investimento no futuro.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>
              <a:latin typeface="Helvetica" pitchFamily="2" charset="0"/>
            </a:endParaRPr>
          </a:p>
          <a:p>
            <a:r>
              <a:rPr lang="pt-BR" b="1" dirty="0" smtClean="0">
                <a:latin typeface="Helvetica" pitchFamily="2" charset="0"/>
              </a:rPr>
              <a:t>Por que é importante?</a:t>
            </a:r>
            <a:endParaRPr lang="pt-BR" b="1" dirty="0">
              <a:latin typeface="Helvetica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 smtClean="0">
                <a:latin typeface="Helvetica" pitchFamily="2" charset="0"/>
              </a:rPr>
              <a:t>Disponibilidade de dados;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 smtClean="0">
                <a:latin typeface="Helvetica" pitchFamily="2" charset="0"/>
              </a:rPr>
              <a:t>Melhora a tomada de decisões.</a:t>
            </a:r>
            <a:endParaRPr lang="pt-BR" dirty="0">
              <a:latin typeface="Helvetica" pitchFamily="2" charset="0"/>
            </a:endParaRPr>
          </a:p>
          <a:p>
            <a:endParaRPr lang="pt-BR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 smtClean="0"/>
          </a:p>
        </p:txBody>
      </p:sp>
      <p:sp>
        <p:nvSpPr>
          <p:cNvPr id="6" name="Text Placeholder 2"/>
          <p:cNvSpPr txBox="1">
            <a:spLocks/>
          </p:cNvSpPr>
          <p:nvPr/>
        </p:nvSpPr>
        <p:spPr>
          <a:xfrm>
            <a:off x="378383" y="1194265"/>
            <a:ext cx="8387232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2000" b="0" i="0">
                <a:solidFill>
                  <a:srgbClr val="07477C"/>
                </a:solidFill>
                <a:latin typeface="Calibri"/>
                <a:ea typeface="+mn-ea"/>
                <a:cs typeface="Calibri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600" i="1" kern="0" dirty="0" smtClean="0">
                <a:latin typeface="Helvetica" pitchFamily="2" charset="0"/>
              </a:rPr>
              <a:t>“O que sabemos é uma gota; o que ignoramos é um oceano.” – Isaac Newton</a:t>
            </a:r>
            <a:endParaRPr lang="pt-BR" sz="1600" i="1" kern="0" dirty="0" smtClean="0"/>
          </a:p>
        </p:txBody>
      </p:sp>
      <p:pic>
        <p:nvPicPr>
          <p:cNvPr id="3074" name="Picture 2" descr="Datalake Icon – Free Download, PNG and Vector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2303154"/>
            <a:ext cx="1752600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1755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pc="-285" dirty="0" smtClean="0">
                <a:latin typeface="Helvetica LT Std" panose="020B0504020202020204" pitchFamily="34" charset="0"/>
              </a:rPr>
              <a:t>Uso de Data Lakes</a:t>
            </a:r>
            <a:endParaRPr lang="pt-BR" dirty="0">
              <a:latin typeface="Helvetica LT Std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8383" y="1084383"/>
            <a:ext cx="8387232" cy="3385542"/>
          </a:xfrm>
        </p:spPr>
        <p:txBody>
          <a:bodyPr/>
          <a:lstStyle/>
          <a:p>
            <a:r>
              <a:rPr lang="pt-BR" b="1" dirty="0" smtClean="0">
                <a:latin typeface="Helvetica" pitchFamily="2" charset="0"/>
              </a:rPr>
              <a:t>O uso de Data Lakes se torna útil nas seguintes situações: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 smtClean="0">
                <a:latin typeface="Helvetica" pitchFamily="2" charset="0"/>
              </a:rPr>
              <a:t>Os dados armazenados possuem naturezas muito diferentes;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 smtClean="0">
                <a:latin typeface="Helvetica" pitchFamily="2" charset="0"/>
              </a:rPr>
              <a:t>A formatação dos dados é muito custosa;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 smtClean="0">
                <a:latin typeface="Helvetica" pitchFamily="2" charset="0"/>
              </a:rPr>
              <a:t>Qualquer tipo de dado pode vir à ser útil;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 smtClean="0">
                <a:latin typeface="Helvetica" pitchFamily="2" charset="0"/>
              </a:rPr>
              <a:t>Mais escritas do que leituras.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>
              <a:latin typeface="Helvetica" pitchFamily="2" charset="0"/>
            </a:endParaRPr>
          </a:p>
          <a:p>
            <a:r>
              <a:rPr lang="pt-BR" b="1" dirty="0">
                <a:latin typeface="Helvetica" pitchFamily="2" charset="0"/>
              </a:rPr>
              <a:t>Alguns exemplos de serviços que utilizam Data Lakes: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latin typeface="Helvetica" pitchFamily="2" charset="0"/>
              </a:rPr>
              <a:t>Google </a:t>
            </a:r>
            <a:r>
              <a:rPr lang="pt-BR" dirty="0" err="1">
                <a:latin typeface="Helvetica" pitchFamily="2" charset="0"/>
              </a:rPr>
              <a:t>Cloud</a:t>
            </a:r>
            <a:r>
              <a:rPr lang="pt-BR" dirty="0">
                <a:latin typeface="Helvetica" pitchFamily="2" charset="0"/>
              </a:rPr>
              <a:t> </a:t>
            </a:r>
            <a:r>
              <a:rPr lang="pt-BR" dirty="0" err="1" smtClean="0">
                <a:latin typeface="Helvetica" pitchFamily="2" charset="0"/>
              </a:rPr>
              <a:t>Storage</a:t>
            </a:r>
            <a:r>
              <a:rPr lang="pt-BR" dirty="0" smtClean="0">
                <a:latin typeface="Helvetica" pitchFamily="2" charset="0"/>
              </a:rPr>
              <a:t>;</a:t>
            </a:r>
            <a:endParaRPr lang="pt-BR" dirty="0">
              <a:latin typeface="Helvetica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latin typeface="Helvetica" pitchFamily="2" charset="0"/>
              </a:rPr>
              <a:t>Amazon Simple Storage Service (S3).</a:t>
            </a:r>
          </a:p>
          <a:p>
            <a:endParaRPr lang="pt-BR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 smtClean="0"/>
          </a:p>
        </p:txBody>
      </p:sp>
      <p:pic>
        <p:nvPicPr>
          <p:cNvPr id="7" name="Picture 2" descr="Google Cloud Storage. Google Cloud Platform na Prática | by Walter  Gandarella | Blog do LFDev | Mediu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1733550"/>
            <a:ext cx="1596980" cy="1133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O que é Amazon S3?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1885950"/>
            <a:ext cx="2209831" cy="762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5268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3130" y="440182"/>
            <a:ext cx="5782869" cy="1107996"/>
          </a:xfrm>
        </p:spPr>
        <p:txBody>
          <a:bodyPr/>
          <a:lstStyle/>
          <a:p>
            <a:r>
              <a:rPr lang="pt-BR" spc="-285" dirty="0" smtClean="0">
                <a:latin typeface="Helvetica LT Std" panose="020B0504020202020204" pitchFamily="34" charset="0"/>
              </a:rPr>
              <a:t>Uso de Big Data em Data Lakes</a:t>
            </a:r>
            <a:endParaRPr lang="pt-BR" dirty="0">
              <a:latin typeface="Helvetica LT Std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8383" y="1123950"/>
            <a:ext cx="8387232" cy="3046988"/>
          </a:xfrm>
        </p:spPr>
        <p:txBody>
          <a:bodyPr/>
          <a:lstStyle/>
          <a:p>
            <a:pPr algn="just"/>
            <a:r>
              <a:rPr lang="pt-BR" sz="1800" dirty="0" smtClean="0">
                <a:latin typeface="Helvetica" pitchFamily="2" charset="0"/>
              </a:rPr>
              <a:t>Os casos de uso de Big Data em Data Lakes são inúmeros, já que as técnicas de Big Data permitem a extração e entendimento de muitos tipos de dados diferentes.</a:t>
            </a:r>
          </a:p>
          <a:p>
            <a:pPr algn="just"/>
            <a:r>
              <a:rPr lang="pt-BR" sz="1800" dirty="0" smtClean="0">
                <a:latin typeface="Helvetica" pitchFamily="2" charset="0"/>
              </a:rPr>
              <a:t/>
            </a:r>
            <a:br>
              <a:rPr lang="pt-BR" sz="1800" dirty="0" smtClean="0">
                <a:latin typeface="Helvetica" pitchFamily="2" charset="0"/>
              </a:rPr>
            </a:br>
            <a:r>
              <a:rPr lang="pt-BR" sz="1800" b="1" dirty="0" smtClean="0">
                <a:latin typeface="Helvetica" pitchFamily="2" charset="0"/>
              </a:rPr>
              <a:t>Alguns desses casos de uso de Big Data em Data Lakes: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1800" dirty="0" smtClean="0">
                <a:latin typeface="Helvetica" pitchFamily="2" charset="0"/>
              </a:rPr>
              <a:t>Análise de dados coletados do censo populacional;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1800" dirty="0">
                <a:latin typeface="Helvetica" pitchFamily="2" charset="0"/>
              </a:rPr>
              <a:t>Empresas de tecnologia como a Netflix e a Spotify utilizam de big data para definir as preferências dos seus usuários, e fornecer para eles conteúdos mais </a:t>
            </a:r>
            <a:r>
              <a:rPr lang="pt-BR" sz="1800" dirty="0" smtClean="0">
                <a:latin typeface="Helvetica" pitchFamily="2" charset="0"/>
              </a:rPr>
              <a:t>individualizados.</a:t>
            </a:r>
          </a:p>
          <a:p>
            <a:endParaRPr lang="pt-BR" sz="1800" dirty="0" smtClean="0">
              <a:latin typeface="Helvetica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800" dirty="0" smtClean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0344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3131" y="440182"/>
            <a:ext cx="235386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pc="-285" dirty="0" smtClean="0">
                <a:latin typeface="Helvetica LT Std" panose="020B0504020202020204" pitchFamily="34" charset="0"/>
              </a:rPr>
              <a:t>Referências</a:t>
            </a:r>
            <a:endParaRPr spc="-285" dirty="0">
              <a:latin typeface="Helvetica LT Std" panose="020B0504020202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1230" y="1123950"/>
            <a:ext cx="8640370" cy="34445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Aft>
                <a:spcPts val="600"/>
              </a:spcAft>
              <a:tabLst>
                <a:tab pos="431800" algn="l"/>
                <a:tab pos="432434" algn="l"/>
              </a:tabLst>
            </a:pPr>
            <a:endParaRPr lang="pt-BR" b="1" dirty="0" smtClean="0">
              <a:solidFill>
                <a:srgbClr val="07477C"/>
              </a:solidFill>
              <a:latin typeface="Helvetica LT Std" panose="020B0504020202020204" pitchFamily="34" charset="0"/>
            </a:endParaRPr>
          </a:p>
          <a:p>
            <a:pPr marL="431800" indent="-419100">
              <a:spcAft>
                <a:spcPts val="600"/>
              </a:spcAft>
              <a:buFont typeface="Arial"/>
              <a:buChar char="●"/>
              <a:tabLst>
                <a:tab pos="431800" algn="l"/>
                <a:tab pos="432434" algn="l"/>
              </a:tabLst>
            </a:pPr>
            <a:r>
              <a:rPr lang="pt-BR" dirty="0">
                <a:solidFill>
                  <a:srgbClr val="07477C"/>
                </a:solidFill>
                <a:latin typeface="Helvetica LT Std" panose="020B0504020202020204" pitchFamily="34" charset="0"/>
              </a:rPr>
              <a:t>MARQUESONE, R. </a:t>
            </a:r>
            <a:r>
              <a:rPr lang="pt-BR" b="1" dirty="0">
                <a:solidFill>
                  <a:srgbClr val="07477C"/>
                </a:solidFill>
                <a:latin typeface="Helvetica LT Std" panose="020B0504020202020204" pitchFamily="34" charset="0"/>
              </a:rPr>
              <a:t>Big Data: Técnicas e tecnologias para extração de valor dos dados.</a:t>
            </a:r>
            <a:r>
              <a:rPr lang="pt-BR" dirty="0">
                <a:solidFill>
                  <a:srgbClr val="07477C"/>
                </a:solidFill>
                <a:latin typeface="Helvetica LT Std" panose="020B0504020202020204" pitchFamily="34" charset="0"/>
              </a:rPr>
              <a:t> São Paulo: Casa do Código, 2019</a:t>
            </a:r>
            <a:r>
              <a:rPr lang="pt-BR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.</a:t>
            </a:r>
          </a:p>
          <a:p>
            <a:pPr marL="431800" indent="-419100">
              <a:spcAft>
                <a:spcPts val="600"/>
              </a:spcAft>
              <a:buFont typeface="Arial"/>
              <a:buChar char="●"/>
              <a:tabLst>
                <a:tab pos="431800" algn="l"/>
                <a:tab pos="432434" algn="l"/>
              </a:tabLst>
            </a:pPr>
            <a:r>
              <a:rPr lang="pt-BR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ORGAT, A. </a:t>
            </a:r>
            <a:r>
              <a:rPr lang="pt-BR" b="1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Data </a:t>
            </a:r>
            <a:r>
              <a:rPr lang="pt-BR" b="1" dirty="0" err="1" smtClean="0">
                <a:solidFill>
                  <a:srgbClr val="07477C"/>
                </a:solidFill>
                <a:latin typeface="Helvetica LT Std" panose="020B0504020202020204" pitchFamily="34" charset="0"/>
              </a:rPr>
              <a:t>Lakes</a:t>
            </a:r>
            <a:r>
              <a:rPr lang="pt-BR" b="1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 for Big Data</a:t>
            </a:r>
            <a:r>
              <a:rPr lang="pt-BR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. </a:t>
            </a:r>
            <a:r>
              <a:rPr lang="pt-BR" dirty="0">
                <a:solidFill>
                  <a:srgbClr val="07477C"/>
                </a:solidFill>
                <a:latin typeface="Helvetica LT Std" panose="020B0504020202020204" pitchFamily="34" charset="0"/>
              </a:rPr>
              <a:t>Disponível em: </a:t>
            </a:r>
            <a:r>
              <a:rPr lang="pt-BR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&lt;https</a:t>
            </a:r>
            <a:r>
              <a:rPr lang="pt-BR" dirty="0">
                <a:solidFill>
                  <a:srgbClr val="07477C"/>
                </a:solidFill>
                <a:latin typeface="Helvetica LT Std" panose="020B0504020202020204" pitchFamily="34" charset="0"/>
              </a:rPr>
              <a:t>://</a:t>
            </a:r>
            <a:r>
              <a:rPr lang="pt-BR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www.researchgate.net/publication/350382496_Data_Lakes_for_Big_Data_Report_on_Existing_Data_Lakes&gt;. Acesso em 29 maio 2021.</a:t>
            </a:r>
            <a:endParaRPr lang="pt-BR" dirty="0">
              <a:solidFill>
                <a:srgbClr val="07477C"/>
              </a:solidFill>
              <a:latin typeface="Helvetica LT Std" panose="020B0504020202020204" pitchFamily="34" charset="0"/>
            </a:endParaRPr>
          </a:p>
          <a:p>
            <a:pPr marL="431800" indent="-419100">
              <a:spcAft>
                <a:spcPts val="600"/>
              </a:spcAft>
              <a:buFont typeface="Arial"/>
              <a:buChar char="●"/>
              <a:tabLst>
                <a:tab pos="431800" algn="l"/>
                <a:tab pos="432434" algn="l"/>
              </a:tabLst>
            </a:pPr>
            <a:r>
              <a:rPr lang="pt-BR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WIKIPÉDIA. </a:t>
            </a:r>
            <a:r>
              <a:rPr lang="pt-BR" b="1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Big </a:t>
            </a:r>
            <a:r>
              <a:rPr lang="pt-BR" b="1" dirty="0">
                <a:solidFill>
                  <a:srgbClr val="07477C"/>
                </a:solidFill>
                <a:latin typeface="Helvetica LT Std" panose="020B0504020202020204" pitchFamily="34" charset="0"/>
              </a:rPr>
              <a:t>Data.</a:t>
            </a:r>
            <a:r>
              <a:rPr lang="pt-BR" dirty="0">
                <a:solidFill>
                  <a:srgbClr val="07477C"/>
                </a:solidFill>
                <a:latin typeface="Helvetica LT Std" panose="020B0504020202020204" pitchFamily="34" charset="0"/>
              </a:rPr>
              <a:t>  Disponível em: &lt;https://pt.wikipedia.org/wiki/Big_data/&gt;. Acesso em: 29 maio 2021.</a:t>
            </a:r>
          </a:p>
          <a:p>
            <a:pPr marL="431800" indent="-419100">
              <a:spcAft>
                <a:spcPts val="600"/>
              </a:spcAft>
              <a:buFont typeface="Arial"/>
              <a:buChar char="●"/>
              <a:tabLst>
                <a:tab pos="431800" algn="l"/>
                <a:tab pos="432434" algn="l"/>
              </a:tabLst>
            </a:pPr>
            <a:r>
              <a:rPr lang="pt-BR" dirty="0">
                <a:solidFill>
                  <a:srgbClr val="07477C"/>
                </a:solidFill>
                <a:latin typeface="Helvetica LT Std" panose="020B0504020202020204" pitchFamily="34" charset="0"/>
              </a:rPr>
              <a:t>WIKIPÉDIA. </a:t>
            </a:r>
            <a:r>
              <a:rPr lang="pt-BR" b="1" dirty="0">
                <a:solidFill>
                  <a:srgbClr val="07477C"/>
                </a:solidFill>
                <a:latin typeface="Helvetica LT Std" panose="020B0504020202020204" pitchFamily="34" charset="0"/>
              </a:rPr>
              <a:t>Data </a:t>
            </a:r>
            <a:r>
              <a:rPr lang="pt-BR" b="1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Lake.</a:t>
            </a:r>
            <a:r>
              <a:rPr lang="pt-BR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  </a:t>
            </a:r>
            <a:r>
              <a:rPr lang="pt-BR" dirty="0">
                <a:solidFill>
                  <a:srgbClr val="07477C"/>
                </a:solidFill>
                <a:latin typeface="Helvetica LT Std" panose="020B0504020202020204" pitchFamily="34" charset="0"/>
              </a:rPr>
              <a:t>Disponível em</a:t>
            </a:r>
            <a:r>
              <a:rPr lang="pt-BR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: &lt;https</a:t>
            </a:r>
            <a:r>
              <a:rPr lang="pt-BR" dirty="0">
                <a:solidFill>
                  <a:srgbClr val="07477C"/>
                </a:solidFill>
                <a:latin typeface="Helvetica LT Std" panose="020B0504020202020204" pitchFamily="34" charset="0"/>
              </a:rPr>
              <a:t>://</a:t>
            </a:r>
            <a:r>
              <a:rPr lang="pt-BR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pt.wikipedia.org/wiki/Data_Lake/&gt;. Acesso em: 29 maio 2021.</a:t>
            </a:r>
          </a:p>
          <a:p>
            <a:pPr marL="431800" indent="-419100">
              <a:spcAft>
                <a:spcPts val="600"/>
              </a:spcAft>
              <a:buFont typeface="Arial"/>
              <a:buChar char="●"/>
              <a:tabLst>
                <a:tab pos="431800" algn="l"/>
                <a:tab pos="432434" algn="l"/>
              </a:tabLst>
            </a:pPr>
            <a:endParaRPr lang="pt-BR" dirty="0">
              <a:solidFill>
                <a:srgbClr val="07477C"/>
              </a:solidFill>
              <a:latin typeface="Helvetica LT Std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2102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14725" y="735533"/>
            <a:ext cx="2124710" cy="5302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100" spc="-80" dirty="0">
                <a:solidFill>
                  <a:srgbClr val="05356B"/>
                </a:solidFill>
                <a:latin typeface="Calibri"/>
                <a:cs typeface="Calibri"/>
              </a:rPr>
              <a:t>Universidade </a:t>
            </a:r>
            <a:r>
              <a:rPr sz="1100" spc="-105" dirty="0">
                <a:solidFill>
                  <a:srgbClr val="05356B"/>
                </a:solidFill>
                <a:latin typeface="Calibri"/>
                <a:cs typeface="Calibri"/>
              </a:rPr>
              <a:t>do </a:t>
            </a:r>
            <a:r>
              <a:rPr sz="1100" spc="-75" dirty="0">
                <a:solidFill>
                  <a:srgbClr val="05356B"/>
                </a:solidFill>
                <a:latin typeface="Calibri"/>
                <a:cs typeface="Calibri"/>
              </a:rPr>
              <a:t>Vale </a:t>
            </a:r>
            <a:r>
              <a:rPr sz="1100" spc="-105" dirty="0">
                <a:solidFill>
                  <a:srgbClr val="05356B"/>
                </a:solidFill>
                <a:latin typeface="Calibri"/>
                <a:cs typeface="Calibri"/>
              </a:rPr>
              <a:t>do</a:t>
            </a:r>
            <a:r>
              <a:rPr sz="1100" dirty="0">
                <a:solidFill>
                  <a:srgbClr val="05356B"/>
                </a:solidFill>
                <a:latin typeface="Calibri"/>
                <a:cs typeface="Calibri"/>
              </a:rPr>
              <a:t> </a:t>
            </a:r>
            <a:r>
              <a:rPr sz="1100" spc="-55" dirty="0">
                <a:solidFill>
                  <a:srgbClr val="05356B"/>
                </a:solidFill>
                <a:latin typeface="Calibri"/>
                <a:cs typeface="Calibri"/>
              </a:rPr>
              <a:t>Itajaí</a:t>
            </a:r>
            <a:endParaRPr sz="11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100" spc="-70" dirty="0">
                <a:solidFill>
                  <a:srgbClr val="05356B"/>
                </a:solidFill>
                <a:latin typeface="Calibri"/>
                <a:cs typeface="Calibri"/>
              </a:rPr>
              <a:t>Escola </a:t>
            </a:r>
            <a:r>
              <a:rPr sz="1100" spc="-105" dirty="0">
                <a:solidFill>
                  <a:srgbClr val="05356B"/>
                </a:solidFill>
                <a:latin typeface="Calibri"/>
                <a:cs typeface="Calibri"/>
              </a:rPr>
              <a:t>do </a:t>
            </a:r>
            <a:r>
              <a:rPr sz="1100" spc="-120" dirty="0">
                <a:solidFill>
                  <a:srgbClr val="05356B"/>
                </a:solidFill>
                <a:latin typeface="Calibri"/>
                <a:cs typeface="Calibri"/>
              </a:rPr>
              <a:t>Mar, </a:t>
            </a:r>
            <a:r>
              <a:rPr sz="1100" spc="-70" dirty="0">
                <a:solidFill>
                  <a:srgbClr val="05356B"/>
                </a:solidFill>
                <a:latin typeface="Calibri"/>
                <a:cs typeface="Calibri"/>
              </a:rPr>
              <a:t>Ciência </a:t>
            </a:r>
            <a:r>
              <a:rPr sz="1100" spc="-95" dirty="0">
                <a:solidFill>
                  <a:srgbClr val="05356B"/>
                </a:solidFill>
                <a:latin typeface="Calibri"/>
                <a:cs typeface="Calibri"/>
              </a:rPr>
              <a:t>e </a:t>
            </a:r>
            <a:r>
              <a:rPr sz="1100" spc="-65" dirty="0">
                <a:solidFill>
                  <a:srgbClr val="05356B"/>
                </a:solidFill>
                <a:latin typeface="Calibri"/>
                <a:cs typeface="Calibri"/>
              </a:rPr>
              <a:t>Tecnologia </a:t>
            </a:r>
            <a:r>
              <a:rPr sz="1100" spc="-20" dirty="0">
                <a:solidFill>
                  <a:srgbClr val="05356B"/>
                </a:solidFill>
                <a:latin typeface="Calibri"/>
                <a:cs typeface="Calibri"/>
              </a:rPr>
              <a:t>-</a:t>
            </a:r>
            <a:r>
              <a:rPr sz="1100" spc="-70" dirty="0">
                <a:solidFill>
                  <a:srgbClr val="05356B"/>
                </a:solidFill>
                <a:latin typeface="Calibri"/>
                <a:cs typeface="Calibri"/>
              </a:rPr>
              <a:t> </a:t>
            </a:r>
            <a:r>
              <a:rPr sz="1100" spc="-110" dirty="0">
                <a:solidFill>
                  <a:srgbClr val="05356B"/>
                </a:solidFill>
                <a:latin typeface="Calibri"/>
                <a:cs typeface="Calibri"/>
              </a:rPr>
              <a:t>EMCT</a:t>
            </a:r>
            <a:endParaRPr sz="11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100" spc="-70" dirty="0">
                <a:solidFill>
                  <a:srgbClr val="05356B"/>
                </a:solidFill>
                <a:latin typeface="Calibri"/>
                <a:cs typeface="Calibri"/>
              </a:rPr>
              <a:t>Ciência </a:t>
            </a:r>
            <a:r>
              <a:rPr sz="1100" spc="-95" dirty="0">
                <a:solidFill>
                  <a:srgbClr val="05356B"/>
                </a:solidFill>
                <a:latin typeface="Calibri"/>
                <a:cs typeface="Calibri"/>
              </a:rPr>
              <a:t>da</a:t>
            </a:r>
            <a:r>
              <a:rPr sz="1100" spc="10" dirty="0">
                <a:solidFill>
                  <a:srgbClr val="05356B"/>
                </a:solidFill>
                <a:latin typeface="Calibri"/>
                <a:cs typeface="Calibri"/>
              </a:rPr>
              <a:t> </a:t>
            </a:r>
            <a:r>
              <a:rPr sz="1100" spc="-100" dirty="0">
                <a:solidFill>
                  <a:srgbClr val="05356B"/>
                </a:solidFill>
                <a:latin typeface="Calibri"/>
                <a:cs typeface="Calibri"/>
              </a:rPr>
              <a:t>Computação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80516" y="4788408"/>
            <a:ext cx="6946900" cy="192405"/>
          </a:xfrm>
          <a:custGeom>
            <a:avLst/>
            <a:gdLst/>
            <a:ahLst/>
            <a:cxnLst/>
            <a:rect l="l" t="t" r="r" b="b"/>
            <a:pathLst>
              <a:path w="6946900" h="192404">
                <a:moveTo>
                  <a:pt x="0" y="192023"/>
                </a:moveTo>
                <a:lnTo>
                  <a:pt x="6946392" y="192023"/>
                </a:lnTo>
                <a:lnTo>
                  <a:pt x="6946392" y="0"/>
                </a:lnTo>
                <a:lnTo>
                  <a:pt x="0" y="0"/>
                </a:lnTo>
                <a:lnTo>
                  <a:pt x="0" y="192023"/>
                </a:lnTo>
                <a:close/>
              </a:path>
            </a:pathLst>
          </a:custGeom>
          <a:solidFill>
            <a:srgbClr val="0747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80516" y="2038350"/>
            <a:ext cx="69469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pt-BR" sz="4000" b="1" spc="-270" dirty="0" smtClean="0">
                <a:solidFill>
                  <a:srgbClr val="07477C"/>
                </a:solidFill>
                <a:latin typeface="Helvetica LT Std" panose="020B0504020202020204"/>
                <a:cs typeface="Calibri"/>
              </a:rPr>
              <a:t>BIG DATA E DATA LAKE</a:t>
            </a:r>
            <a:endParaRPr lang="pt-BR" sz="3200" b="1" spc="-200" dirty="0" smtClean="0">
              <a:solidFill>
                <a:srgbClr val="07477C"/>
              </a:solidFill>
              <a:latin typeface="Helvetica LT Std" panose="020B0504020202020204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80516" y="3790950"/>
            <a:ext cx="694690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pt-BR" spc="-130" dirty="0" smtClean="0">
                <a:solidFill>
                  <a:srgbClr val="07477C"/>
                </a:solidFill>
                <a:latin typeface="Helvetica LT Std" panose="020B0504020202020204" pitchFamily="34" charset="0"/>
                <a:cs typeface="Calibri"/>
              </a:rPr>
              <a:t>Gustavo Henrique Stahl Müller e Paulo Henrique Rohling</a:t>
            </a:r>
          </a:p>
        </p:txBody>
      </p:sp>
    </p:spTree>
    <p:extLst>
      <p:ext uri="{BB962C8B-B14F-4D97-AF65-F5344CB8AC3E}">
        <p14:creationId xmlns:p14="http://schemas.microsoft.com/office/powerpoint/2010/main" val="149610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592</TotalTime>
  <Words>398</Words>
  <Application>Microsoft Office PowerPoint</Application>
  <PresentationFormat>Apresentação na tela (16:9)</PresentationFormat>
  <Paragraphs>62</Paragraphs>
  <Slides>9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4" baseType="lpstr">
      <vt:lpstr>Arial</vt:lpstr>
      <vt:lpstr>Calibri</vt:lpstr>
      <vt:lpstr>Helvetica</vt:lpstr>
      <vt:lpstr>Helvetica LT Std</vt:lpstr>
      <vt:lpstr>Office Theme</vt:lpstr>
      <vt:lpstr>Apresentação do PowerPoint</vt:lpstr>
      <vt:lpstr>Sumário</vt:lpstr>
      <vt:lpstr>Big Data: Contextualização</vt:lpstr>
      <vt:lpstr>Big Data: Por que é importante?</vt:lpstr>
      <vt:lpstr>Data Lake: Contextualização</vt:lpstr>
      <vt:lpstr>Uso de Data Lakes</vt:lpstr>
      <vt:lpstr>Uso de Big Data em Data Lakes</vt:lpstr>
      <vt:lpstr>Referências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Introdução a Ciência da Computação Unidade 1 – Conceitos básicos de Ciência da Computação</dc:title>
  <dc:creator>Paulo Henrique</dc:creator>
  <cp:lastModifiedBy>Usuário do Windows</cp:lastModifiedBy>
  <cp:revision>158</cp:revision>
  <dcterms:created xsi:type="dcterms:W3CDTF">2019-04-07T19:13:44Z</dcterms:created>
  <dcterms:modified xsi:type="dcterms:W3CDTF">2021-05-30T00:29:21Z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2019-04-01T00:00:00Z</vt:filetime>
  </property>
  <property fmtid="{D5CDD505-2E9C-101B-9397-08002B2CF9AE}" pid="3" name="Creator">
    <vt:lpwstr>Microsoft® PowerPoint® para Office 365</vt:lpwstr>
  </property>
  <property fmtid="{D5CDD505-2E9C-101B-9397-08002B2CF9AE}" pid="4" name="LastSaved">
    <vt:filetime>2019-04-07T00:00:00Z</vt:filetime>
  </property>
</Properties>
</file>
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23"/>
  </p:notesMasterIdLst>
  <p:sldIdLst>
    <p:sldId id="286" r:id="rId3"/>
    <p:sldId id="257" r:id="rId4"/>
    <p:sldId id="287" r:id="rId5"/>
    <p:sldId id="281" r:id="rId6"/>
    <p:sldId id="283" r:id="rId7"/>
    <p:sldId id="282" r:id="rId8"/>
    <p:sldId id="284" r:id="rId9"/>
    <p:sldId id="285" r:id="rId10"/>
    <p:sldId id="300" r:id="rId11"/>
    <p:sldId id="290" r:id="rId12"/>
    <p:sldId id="291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288" r:id="rId21"/>
    <p:sldId id="289" r:id="rId22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9B7E06-2E25-4710-BFD1-E27EB517C4E1}" v="7" dt="2021-05-02T21:24:14.2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0" autoAdjust="0"/>
    <p:restoredTop sz="94822" autoAdjust="0"/>
  </p:normalViewPr>
  <p:slideViewPr>
    <p:cSldViewPr>
      <p:cViewPr>
        <p:scale>
          <a:sx n="150" d="100"/>
          <a:sy n="150" d="100"/>
        </p:scale>
        <p:origin x="9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icius martins" userId="175d80b1f1f4dab5" providerId="LiveId" clId="{6E9B7E06-2E25-4710-BFD1-E27EB517C4E1}"/>
    <pc:docChg chg="undo redo custSel addSld delSld modSld sldOrd addMainMaster">
      <pc:chgData name="vinicius martins" userId="175d80b1f1f4dab5" providerId="LiveId" clId="{6E9B7E06-2E25-4710-BFD1-E27EB517C4E1}" dt="2021-05-02T21:30:03.752" v="251" actId="20577"/>
      <pc:docMkLst>
        <pc:docMk/>
      </pc:docMkLst>
      <pc:sldChg chg="del">
        <pc:chgData name="vinicius martins" userId="175d80b1f1f4dab5" providerId="LiveId" clId="{6E9B7E06-2E25-4710-BFD1-E27EB517C4E1}" dt="2021-05-02T21:16:58.404" v="6" actId="47"/>
        <pc:sldMkLst>
          <pc:docMk/>
          <pc:sldMk cId="0" sldId="256"/>
        </pc:sldMkLst>
      </pc:sldChg>
      <pc:sldChg chg="modSp mod ord">
        <pc:chgData name="vinicius martins" userId="175d80b1f1f4dab5" providerId="LiveId" clId="{6E9B7E06-2E25-4710-BFD1-E27EB517C4E1}" dt="2021-05-02T21:30:03.752" v="251" actId="20577"/>
        <pc:sldMkLst>
          <pc:docMk/>
          <pc:sldMk cId="0" sldId="257"/>
        </pc:sldMkLst>
        <pc:spChg chg="mod">
          <ac:chgData name="vinicius martins" userId="175d80b1f1f4dab5" providerId="LiveId" clId="{6E9B7E06-2E25-4710-BFD1-E27EB517C4E1}" dt="2021-05-02T21:30:03.752" v="25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del mod">
        <pc:chgData name="vinicius martins" userId="175d80b1f1f4dab5" providerId="LiveId" clId="{6E9B7E06-2E25-4710-BFD1-E27EB517C4E1}" dt="2021-05-02T21:25:59.348" v="190" actId="47"/>
        <pc:sldMkLst>
          <pc:docMk/>
          <pc:sldMk cId="3912102037" sldId="280"/>
        </pc:sldMkLst>
        <pc:spChg chg="mod">
          <ac:chgData name="vinicius martins" userId="175d80b1f1f4dab5" providerId="LiveId" clId="{6E9B7E06-2E25-4710-BFD1-E27EB517C4E1}" dt="2021-05-02T21:20:29.813" v="130" actId="1076"/>
          <ac:spMkLst>
            <pc:docMk/>
            <pc:sldMk cId="3912102037" sldId="280"/>
            <ac:spMk id="3" creationId="{00000000-0000-0000-0000-000000000000}"/>
          </ac:spMkLst>
        </pc:spChg>
      </pc:sldChg>
      <pc:sldChg chg="modSp mod">
        <pc:chgData name="vinicius martins" userId="175d80b1f1f4dab5" providerId="LiveId" clId="{6E9B7E06-2E25-4710-BFD1-E27EB517C4E1}" dt="2021-05-02T21:06:35.416" v="0" actId="14100"/>
        <pc:sldMkLst>
          <pc:docMk/>
          <pc:sldMk cId="1490415432" sldId="282"/>
        </pc:sldMkLst>
        <pc:spChg chg="mod">
          <ac:chgData name="vinicius martins" userId="175d80b1f1f4dab5" providerId="LiveId" clId="{6E9B7E06-2E25-4710-BFD1-E27EB517C4E1}" dt="2021-05-02T21:06:35.416" v="0" actId="14100"/>
          <ac:spMkLst>
            <pc:docMk/>
            <pc:sldMk cId="1490415432" sldId="282"/>
            <ac:spMk id="2" creationId="{00000000-0000-0000-0000-000000000000}"/>
          </ac:spMkLst>
        </pc:spChg>
      </pc:sldChg>
      <pc:sldChg chg="ord">
        <pc:chgData name="vinicius martins" userId="175d80b1f1f4dab5" providerId="LiveId" clId="{6E9B7E06-2E25-4710-BFD1-E27EB517C4E1}" dt="2021-05-02T21:28:08.281" v="203"/>
        <pc:sldMkLst>
          <pc:docMk/>
          <pc:sldMk cId="3285761597" sldId="283"/>
        </pc:sldMkLst>
      </pc:sldChg>
      <pc:sldChg chg="modSp mod">
        <pc:chgData name="vinicius martins" userId="175d80b1f1f4dab5" providerId="LiveId" clId="{6E9B7E06-2E25-4710-BFD1-E27EB517C4E1}" dt="2021-05-02T21:26:37.225" v="194" actId="20577"/>
        <pc:sldMkLst>
          <pc:docMk/>
          <pc:sldMk cId="3160079974" sldId="284"/>
        </pc:sldMkLst>
        <pc:spChg chg="mod">
          <ac:chgData name="vinicius martins" userId="175d80b1f1f4dab5" providerId="LiveId" clId="{6E9B7E06-2E25-4710-BFD1-E27EB517C4E1}" dt="2021-05-02T21:07:16.840" v="1" actId="14100"/>
          <ac:spMkLst>
            <pc:docMk/>
            <pc:sldMk cId="3160079974" sldId="284"/>
            <ac:spMk id="2" creationId="{00000000-0000-0000-0000-000000000000}"/>
          </ac:spMkLst>
        </pc:spChg>
        <pc:spChg chg="mod">
          <ac:chgData name="vinicius martins" userId="175d80b1f1f4dab5" providerId="LiveId" clId="{6E9B7E06-2E25-4710-BFD1-E27EB517C4E1}" dt="2021-05-02T21:26:37.225" v="194" actId="20577"/>
          <ac:spMkLst>
            <pc:docMk/>
            <pc:sldMk cId="3160079974" sldId="284"/>
            <ac:spMk id="3" creationId="{00000000-0000-0000-0000-000000000000}"/>
          </ac:spMkLst>
        </pc:spChg>
      </pc:sldChg>
      <pc:sldChg chg="modSp mod">
        <pc:chgData name="vinicius martins" userId="175d80b1f1f4dab5" providerId="LiveId" clId="{6E9B7E06-2E25-4710-BFD1-E27EB517C4E1}" dt="2021-05-02T21:26:27.560" v="193" actId="14100"/>
        <pc:sldMkLst>
          <pc:docMk/>
          <pc:sldMk cId="290810478" sldId="285"/>
        </pc:sldMkLst>
        <pc:spChg chg="mod">
          <ac:chgData name="vinicius martins" userId="175d80b1f1f4dab5" providerId="LiveId" clId="{6E9B7E06-2E25-4710-BFD1-E27EB517C4E1}" dt="2021-05-02T21:26:27.560" v="193" actId="14100"/>
          <ac:spMkLst>
            <pc:docMk/>
            <pc:sldMk cId="290810478" sldId="285"/>
            <ac:spMk id="2" creationId="{00000000-0000-0000-0000-000000000000}"/>
          </ac:spMkLst>
        </pc:spChg>
      </pc:sldChg>
      <pc:sldChg chg="add">
        <pc:chgData name="vinicius martins" userId="175d80b1f1f4dab5" providerId="LiveId" clId="{6E9B7E06-2E25-4710-BFD1-E27EB517C4E1}" dt="2021-05-02T21:16:53.694" v="5"/>
        <pc:sldMkLst>
          <pc:docMk/>
          <pc:sldMk cId="1505123098" sldId="286"/>
        </pc:sldMkLst>
      </pc:sldChg>
      <pc:sldChg chg="new del">
        <pc:chgData name="vinicius martins" userId="175d80b1f1f4dab5" providerId="LiveId" clId="{6E9B7E06-2E25-4710-BFD1-E27EB517C4E1}" dt="2021-05-02T21:15:53.415" v="3" actId="680"/>
        <pc:sldMkLst>
          <pc:docMk/>
          <pc:sldMk cId="3813194859" sldId="286"/>
        </pc:sldMkLst>
      </pc:sldChg>
      <pc:sldChg chg="add">
        <pc:chgData name="vinicius martins" userId="175d80b1f1f4dab5" providerId="LiveId" clId="{6E9B7E06-2E25-4710-BFD1-E27EB517C4E1}" dt="2021-05-02T21:16:53.694" v="5"/>
        <pc:sldMkLst>
          <pc:docMk/>
          <pc:sldMk cId="1906662560" sldId="287"/>
        </pc:sldMkLst>
      </pc:sldChg>
      <pc:sldChg chg="add ord">
        <pc:chgData name="vinicius martins" userId="175d80b1f1f4dab5" providerId="LiveId" clId="{6E9B7E06-2E25-4710-BFD1-E27EB517C4E1}" dt="2021-05-02T21:27:28.145" v="196"/>
        <pc:sldMkLst>
          <pc:docMk/>
          <pc:sldMk cId="3176881772" sldId="288"/>
        </pc:sldMkLst>
      </pc:sldChg>
      <pc:sldChg chg="modSp add mod ord">
        <pc:chgData name="vinicius martins" userId="175d80b1f1f4dab5" providerId="LiveId" clId="{6E9B7E06-2E25-4710-BFD1-E27EB517C4E1}" dt="2021-05-02T21:25:44.196" v="189" actId="255"/>
        <pc:sldMkLst>
          <pc:docMk/>
          <pc:sldMk cId="1363113044" sldId="289"/>
        </pc:sldMkLst>
        <pc:spChg chg="mod">
          <ac:chgData name="vinicius martins" userId="175d80b1f1f4dab5" providerId="LiveId" clId="{6E9B7E06-2E25-4710-BFD1-E27EB517C4E1}" dt="2021-05-02T21:25:44.196" v="189" actId="255"/>
          <ac:spMkLst>
            <pc:docMk/>
            <pc:sldMk cId="1363113044" sldId="289"/>
            <ac:spMk id="9219" creationId="{97150758-2257-4658-841C-613221FBFA42}"/>
          </ac:spMkLst>
        </pc:spChg>
      </pc:sldChg>
      <pc:sldMasterChg chg="add addSldLayout">
        <pc:chgData name="vinicius martins" userId="175d80b1f1f4dab5" providerId="LiveId" clId="{6E9B7E06-2E25-4710-BFD1-E27EB517C4E1}" dt="2021-05-02T21:16:53.687" v="4" actId="27028"/>
        <pc:sldMasterMkLst>
          <pc:docMk/>
          <pc:sldMasterMk cId="0" sldId="2147483684"/>
        </pc:sldMasterMkLst>
        <pc:sldLayoutChg chg="add">
          <pc:chgData name="vinicius martins" userId="175d80b1f1f4dab5" providerId="LiveId" clId="{6E9B7E06-2E25-4710-BFD1-E27EB517C4E1}" dt="2021-05-02T21:16:53.687" v="4" actId="27028"/>
          <pc:sldLayoutMkLst>
            <pc:docMk/>
            <pc:sldMasterMk cId="0" sldId="2147483684"/>
            <pc:sldLayoutMk cId="3225513902" sldId="2147483679"/>
          </pc:sldLayoutMkLst>
        </pc:sldLayoutChg>
        <pc:sldLayoutChg chg="add">
          <pc:chgData name="vinicius martins" userId="175d80b1f1f4dab5" providerId="LiveId" clId="{6E9B7E06-2E25-4710-BFD1-E27EB517C4E1}" dt="2021-05-02T21:16:53.687" v="4" actId="27028"/>
          <pc:sldLayoutMkLst>
            <pc:docMk/>
            <pc:sldMasterMk cId="0" sldId="2147483684"/>
            <pc:sldLayoutMk cId="3250053808" sldId="2147483680"/>
          </pc:sldLayoutMkLst>
        </pc:sldLayoutChg>
        <pc:sldLayoutChg chg="add">
          <pc:chgData name="vinicius martins" userId="175d80b1f1f4dab5" providerId="LiveId" clId="{6E9B7E06-2E25-4710-BFD1-E27EB517C4E1}" dt="2021-05-02T21:16:53.687" v="4" actId="27028"/>
          <pc:sldLayoutMkLst>
            <pc:docMk/>
            <pc:sldMasterMk cId="0" sldId="2147483684"/>
            <pc:sldLayoutMk cId="1405937700" sldId="2147483681"/>
          </pc:sldLayoutMkLst>
        </pc:sldLayoutChg>
        <pc:sldLayoutChg chg="add">
          <pc:chgData name="vinicius martins" userId="175d80b1f1f4dab5" providerId="LiveId" clId="{6E9B7E06-2E25-4710-BFD1-E27EB517C4E1}" dt="2021-05-02T21:16:53.687" v="4" actId="27028"/>
          <pc:sldLayoutMkLst>
            <pc:docMk/>
            <pc:sldMasterMk cId="0" sldId="2147483684"/>
            <pc:sldLayoutMk cId="3597745274" sldId="2147483682"/>
          </pc:sldLayoutMkLst>
        </pc:sldLayoutChg>
        <pc:sldLayoutChg chg="add">
          <pc:chgData name="vinicius martins" userId="175d80b1f1f4dab5" providerId="LiveId" clId="{6E9B7E06-2E25-4710-BFD1-E27EB517C4E1}" dt="2021-05-02T21:16:53.687" v="4" actId="27028"/>
          <pc:sldLayoutMkLst>
            <pc:docMk/>
            <pc:sldMasterMk cId="0" sldId="2147483684"/>
            <pc:sldLayoutMk cId="2602040352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78BE-1989-4411-8E38-70FFB3D22DDC}" type="datetimeFigureOut">
              <a:rPr lang="pt-BR" smtClean="0"/>
              <a:t>06/05/2021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891EA-2169-4D74-886B-EA8EA7CCD5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23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Imagem de Slide 1">
            <a:extLst>
              <a:ext uri="{FF2B5EF4-FFF2-40B4-BE49-F238E27FC236}">
                <a16:creationId xmlns="" xmlns:a16="http://schemas.microsoft.com/office/drawing/2014/main" id="{783D6E41-1C1F-48C7-BE0A-13838828FD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Espaço Reservado para Anotações 2">
            <a:extLst>
              <a:ext uri="{FF2B5EF4-FFF2-40B4-BE49-F238E27FC236}">
                <a16:creationId xmlns="" xmlns:a16="http://schemas.microsoft.com/office/drawing/2014/main" id="{6855781B-A3B7-489E-B090-092DC4C27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 dirty="0">
                <a:solidFill>
                  <a:srgbClr val="252525"/>
                </a:solidFill>
                <a:latin typeface="Roboto" panose="02000000000000000000" pitchFamily="2" charset="0"/>
              </a:rPr>
              <a:t>Nota de apresentação: Há vários pacotes para cada um dos módulos na imagem.</a:t>
            </a:r>
          </a:p>
        </p:txBody>
      </p:sp>
      <p:sp>
        <p:nvSpPr>
          <p:cNvPr id="6148" name="Espaço Reservado para Número de Slide 3">
            <a:extLst>
              <a:ext uri="{FF2B5EF4-FFF2-40B4-BE49-F238E27FC236}">
                <a16:creationId xmlns="" xmlns:a16="http://schemas.microsoft.com/office/drawing/2014/main" id="{901947C0-773F-474B-BD1D-585E3E07F2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1DDC6A0-F45E-4124-9A06-E4F912AF78F3}" type="slidenum">
              <a:rPr lang="pt-BR" altLang="pt-BR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44600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8544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292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254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Imagem de Slide 1">
            <a:extLst>
              <a:ext uri="{FF2B5EF4-FFF2-40B4-BE49-F238E27FC236}">
                <a16:creationId xmlns="" xmlns:a16="http://schemas.microsoft.com/office/drawing/2014/main" id="{EA31CD89-3D0C-4FCE-9C36-0CA7A581D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Espaço Reservado para Anotações 2">
            <a:extLst>
              <a:ext uri="{FF2B5EF4-FFF2-40B4-BE49-F238E27FC236}">
                <a16:creationId xmlns="" xmlns:a16="http://schemas.microsoft.com/office/drawing/2014/main" id="{3DD6702B-C21B-4EA4-9EA8-7E9E79527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8196" name="Espaço Reservado para Número de Slide 3">
            <a:extLst>
              <a:ext uri="{FF2B5EF4-FFF2-40B4-BE49-F238E27FC236}">
                <a16:creationId xmlns="" xmlns:a16="http://schemas.microsoft.com/office/drawing/2014/main" id="{864D2687-CD02-42B8-81E7-CA8BFE3B8E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DAC758-0FE1-400D-8FA7-1807E44CFB50}" type="slidenum">
              <a:rPr lang="pt-BR" altLang="pt-BR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3915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17091" y="541019"/>
            <a:ext cx="6910070" cy="192405"/>
          </a:xfrm>
          <a:custGeom>
            <a:avLst/>
            <a:gdLst/>
            <a:ahLst/>
            <a:cxnLst/>
            <a:rect l="l" t="t" r="r" b="b"/>
            <a:pathLst>
              <a:path w="6910070" h="192404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081277" y="1319022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09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081277" y="46718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81277" y="33002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4C412F3D-7BC9-4A82-AB4D-A7E82B9B00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016A879D-2050-42E3-A7EE-F53B10903A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6856F1-9DB4-44B1-93CA-952D18DFD4AF}" type="datetimeFigureOut">
              <a:rPr lang="en-US"/>
              <a:pPr>
                <a:defRPr/>
              </a:pPr>
              <a:t>5/6/2021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50A2F9E7-C189-4072-AD36-B04F945C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D4510-D1F1-4DB1-A54D-32D46481C30B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551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EF207EB5-712B-4C24-A2FD-1C9BF853A6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607C93E3-07E2-4F07-968D-3A6B596057A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2BBB9-F1A9-482D-9CCD-0AC2EF2EB157}" type="datetimeFigureOut">
              <a:rPr lang="en-US"/>
              <a:pPr>
                <a:defRPr/>
              </a:pPr>
              <a:t>5/6/2021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B5D46BD6-ACF3-4ABC-BE36-B353CDC5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01DBA-CEC0-4BE1-BFCD-9C13B3ECEF52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005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="" xmlns:a16="http://schemas.microsoft.com/office/drawing/2014/main" id="{6861AEE8-D058-4438-B534-1B8AE76B19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5">
            <a:extLst>
              <a:ext uri="{FF2B5EF4-FFF2-40B4-BE49-F238E27FC236}">
                <a16:creationId xmlns="" xmlns:a16="http://schemas.microsoft.com/office/drawing/2014/main" id="{C43706E1-DF1B-4A23-ACBD-4B32A537CF8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0D9E7-C1AB-4AA3-91CA-6A520B49182B}" type="datetimeFigureOut">
              <a:rPr lang="en-US"/>
              <a:pPr>
                <a:defRPr/>
              </a:pPr>
              <a:t>5/6/2021</a:t>
            </a:fld>
            <a:endParaRPr lang="en-US"/>
          </a:p>
        </p:txBody>
      </p:sp>
      <p:sp>
        <p:nvSpPr>
          <p:cNvPr id="7" name="Holder 6">
            <a:extLst>
              <a:ext uri="{FF2B5EF4-FFF2-40B4-BE49-F238E27FC236}">
                <a16:creationId xmlns="" xmlns:a16="http://schemas.microsoft.com/office/drawing/2014/main" id="{4C80B4F9-9E0C-4194-97EB-BF4121C8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40426-15B0-4F53-B26B-66145D82DA99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3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="" xmlns:a16="http://schemas.microsoft.com/office/drawing/2014/main" id="{52C64600-4F88-48F2-BFCC-147B784DC0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5">
            <a:extLst>
              <a:ext uri="{FF2B5EF4-FFF2-40B4-BE49-F238E27FC236}">
                <a16:creationId xmlns="" xmlns:a16="http://schemas.microsoft.com/office/drawing/2014/main" id="{9F4AA447-2187-4D22-B4CB-71A83D598F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FA424-38C3-4E14-B39D-69CF7754CAC6}" type="datetimeFigureOut">
              <a:rPr lang="en-US"/>
              <a:pPr>
                <a:defRPr/>
              </a:pPr>
              <a:t>5/6/2021</a:t>
            </a:fld>
            <a:endParaRPr lang="en-US"/>
          </a:p>
        </p:txBody>
      </p:sp>
      <p:sp>
        <p:nvSpPr>
          <p:cNvPr id="5" name="Holder 6">
            <a:extLst>
              <a:ext uri="{FF2B5EF4-FFF2-40B4-BE49-F238E27FC236}">
                <a16:creationId xmlns="" xmlns:a16="http://schemas.microsoft.com/office/drawing/2014/main" id="{4BBD328C-9B84-433A-888A-231272BB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7B6A1-2B47-4263-AFE1-C717A47A8AF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774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k object 16">
            <a:extLst>
              <a:ext uri="{FF2B5EF4-FFF2-40B4-BE49-F238E27FC236}">
                <a16:creationId xmlns="" xmlns:a16="http://schemas.microsoft.com/office/drawing/2014/main" id="{06A30489-2789-45C9-84C1-FBC7C8CF293B}"/>
              </a:ext>
            </a:extLst>
          </p:cNvPr>
          <p:cNvSpPr>
            <a:spLocks/>
          </p:cNvSpPr>
          <p:nvPr/>
        </p:nvSpPr>
        <p:spPr bwMode="auto">
          <a:xfrm>
            <a:off x="1117600" y="541338"/>
            <a:ext cx="6908800" cy="192087"/>
          </a:xfrm>
          <a:custGeom>
            <a:avLst/>
            <a:gdLst>
              <a:gd name="T0" fmla="*/ 0 w 6910070"/>
              <a:gd name="T1" fmla="*/ 191392 h 192404"/>
              <a:gd name="T2" fmla="*/ 6907276 w 6910070"/>
              <a:gd name="T3" fmla="*/ 191392 h 192404"/>
              <a:gd name="T4" fmla="*/ 6907276 w 6910070"/>
              <a:gd name="T5" fmla="*/ 0 h 192404"/>
              <a:gd name="T6" fmla="*/ 0 w 6910070"/>
              <a:gd name="T7" fmla="*/ 0 h 192404"/>
              <a:gd name="T8" fmla="*/ 0 w 6910070"/>
              <a:gd name="T9" fmla="*/ 191392 h 1924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910070" h="192404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3" name="bk object 17">
            <a:extLst>
              <a:ext uri="{FF2B5EF4-FFF2-40B4-BE49-F238E27FC236}">
                <a16:creationId xmlns="" xmlns:a16="http://schemas.microsoft.com/office/drawing/2014/main" id="{F1325C54-1E16-4D3B-B7E5-67D55BF3E269}"/>
              </a:ext>
            </a:extLst>
          </p:cNvPr>
          <p:cNvSpPr>
            <a:spLocks/>
          </p:cNvSpPr>
          <p:nvPr/>
        </p:nvSpPr>
        <p:spPr bwMode="auto">
          <a:xfrm>
            <a:off x="1081088" y="1319213"/>
            <a:ext cx="6897687" cy="3175"/>
          </a:xfrm>
          <a:custGeom>
            <a:avLst/>
            <a:gdLst>
              <a:gd name="T0" fmla="*/ 6897242 w 6898005"/>
              <a:gd name="T1" fmla="*/ 2294 h 3809"/>
              <a:gd name="T2" fmla="*/ 0 w 6898005"/>
              <a:gd name="T3" fmla="*/ 0 h 380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898005" h="3809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w="19811">
            <a:solidFill>
              <a:srgbClr val="07477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" name="bk object 18">
            <a:extLst>
              <a:ext uri="{FF2B5EF4-FFF2-40B4-BE49-F238E27FC236}">
                <a16:creationId xmlns="" xmlns:a16="http://schemas.microsoft.com/office/drawing/2014/main" id="{5A6600FC-6A12-4B8C-8096-D1F5DEE696CD}"/>
              </a:ext>
            </a:extLst>
          </p:cNvPr>
          <p:cNvSpPr>
            <a:spLocks/>
          </p:cNvSpPr>
          <p:nvPr/>
        </p:nvSpPr>
        <p:spPr bwMode="auto">
          <a:xfrm>
            <a:off x="1081088" y="4672013"/>
            <a:ext cx="6897687" cy="3175"/>
          </a:xfrm>
          <a:custGeom>
            <a:avLst/>
            <a:gdLst>
              <a:gd name="T0" fmla="*/ 6897242 w 6898005"/>
              <a:gd name="T1" fmla="*/ 2293 h 3810"/>
              <a:gd name="T2" fmla="*/ 0 w 6898005"/>
              <a:gd name="T3" fmla="*/ 0 h 381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w="19811">
            <a:solidFill>
              <a:srgbClr val="07477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5" name="bk object 19">
            <a:extLst>
              <a:ext uri="{FF2B5EF4-FFF2-40B4-BE49-F238E27FC236}">
                <a16:creationId xmlns="" xmlns:a16="http://schemas.microsoft.com/office/drawing/2014/main" id="{C0981362-A7AA-4850-A9B5-6E6CA12A14F4}"/>
              </a:ext>
            </a:extLst>
          </p:cNvPr>
          <p:cNvSpPr>
            <a:spLocks/>
          </p:cNvSpPr>
          <p:nvPr/>
        </p:nvSpPr>
        <p:spPr bwMode="auto">
          <a:xfrm>
            <a:off x="1081088" y="3300413"/>
            <a:ext cx="6897687" cy="3175"/>
          </a:xfrm>
          <a:custGeom>
            <a:avLst/>
            <a:gdLst>
              <a:gd name="T0" fmla="*/ 6897242 w 6898005"/>
              <a:gd name="T1" fmla="*/ 2293 h 3810"/>
              <a:gd name="T2" fmla="*/ 0 w 6898005"/>
              <a:gd name="T3" fmla="*/ 0 h 381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w="19811">
            <a:solidFill>
              <a:srgbClr val="07477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6" name="bk object 20">
            <a:extLst>
              <a:ext uri="{FF2B5EF4-FFF2-40B4-BE49-F238E27FC236}">
                <a16:creationId xmlns="" xmlns:a16="http://schemas.microsoft.com/office/drawing/2014/main" id="{177C8D9E-46BD-4161-B483-478F64E7A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588" y="0"/>
            <a:ext cx="1012825" cy="8302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endParaRPr lang="pt-BR" altLang="pt-BR"/>
          </a:p>
        </p:txBody>
      </p:sp>
      <p:sp>
        <p:nvSpPr>
          <p:cNvPr id="7" name="Holder 2">
            <a:extLst>
              <a:ext uri="{FF2B5EF4-FFF2-40B4-BE49-F238E27FC236}">
                <a16:creationId xmlns="" xmlns:a16="http://schemas.microsoft.com/office/drawing/2014/main" id="{C8B2AF1F-62A5-4F21-BCED-791423231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Holder 3">
            <a:extLst>
              <a:ext uri="{FF2B5EF4-FFF2-40B4-BE49-F238E27FC236}">
                <a16:creationId xmlns="" xmlns:a16="http://schemas.microsoft.com/office/drawing/2014/main" id="{CE3BDDF8-53E5-4B44-8792-8716FFD4E94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92CBC1B-BDE5-4633-B738-B76E9530186C}" type="datetimeFigureOut">
              <a:rPr lang="en-US"/>
              <a:pPr>
                <a:defRPr/>
              </a:pPr>
              <a:t>5/6/2021</a:t>
            </a:fld>
            <a:endParaRPr lang="en-US"/>
          </a:p>
        </p:txBody>
      </p:sp>
      <p:sp>
        <p:nvSpPr>
          <p:cNvPr id="9" name="Holder 4">
            <a:extLst>
              <a:ext uri="{FF2B5EF4-FFF2-40B4-BE49-F238E27FC236}">
                <a16:creationId xmlns="" xmlns:a16="http://schemas.microsoft.com/office/drawing/2014/main" id="{0F306592-7EF8-4FC1-B2CC-D8837C4F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9C52AB-A087-4874-B917-DDD80A3F392A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204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740140" y="4757927"/>
            <a:ext cx="403860" cy="386080"/>
          </a:xfrm>
          <a:custGeom>
            <a:avLst/>
            <a:gdLst/>
            <a:ahLst/>
            <a:cxnLst/>
            <a:rect l="l" t="t" r="r" b="b"/>
            <a:pathLst>
              <a:path w="403859" h="38607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4757927"/>
            <a:ext cx="402590" cy="386080"/>
          </a:xfrm>
          <a:custGeom>
            <a:avLst/>
            <a:gdLst/>
            <a:ahLst/>
            <a:cxnLst/>
            <a:rect l="l" t="t" r="r" b="b"/>
            <a:pathLst>
              <a:path w="402590" h="386079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02336" y="4757927"/>
            <a:ext cx="8338184" cy="386080"/>
          </a:xfrm>
          <a:custGeom>
            <a:avLst/>
            <a:gdLst/>
            <a:ahLst/>
            <a:cxnLst/>
            <a:rect l="l" t="t" r="r" b="b"/>
            <a:pathLst>
              <a:path w="8338184" h="386079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170164" y="45719"/>
            <a:ext cx="974090" cy="1012190"/>
          </a:xfrm>
          <a:custGeom>
            <a:avLst/>
            <a:gdLst/>
            <a:ahLst/>
            <a:cxnLst/>
            <a:rect l="l" t="t" r="r" b="b"/>
            <a:pathLst>
              <a:path w="974090" h="10121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bk object 16">
            <a:extLst>
              <a:ext uri="{FF2B5EF4-FFF2-40B4-BE49-F238E27FC236}">
                <a16:creationId xmlns="" xmlns:a16="http://schemas.microsoft.com/office/drawing/2014/main" id="{E78E943B-E637-4D59-A53B-5EF132173ED8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9144000" cy="385763"/>
          </a:xfrm>
          <a:custGeom>
            <a:avLst/>
            <a:gdLst>
              <a:gd name="T0" fmla="*/ 0 w 9144000"/>
              <a:gd name="T1" fmla="*/ 384939 h 386080"/>
              <a:gd name="T2" fmla="*/ 9144000 w 9144000"/>
              <a:gd name="T3" fmla="*/ 384939 h 386080"/>
              <a:gd name="T4" fmla="*/ 9144000 w 9144000"/>
              <a:gd name="T5" fmla="*/ 0 h 386080"/>
              <a:gd name="T6" fmla="*/ 0 w 9144000"/>
              <a:gd name="T7" fmla="*/ 0 h 386080"/>
              <a:gd name="T8" fmla="*/ 0 w 9144000"/>
              <a:gd name="T9" fmla="*/ 384939 h 3860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144000" h="38608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1027" name="bk object 17">
            <a:extLst>
              <a:ext uri="{FF2B5EF4-FFF2-40B4-BE49-F238E27FC236}">
                <a16:creationId xmlns="" xmlns:a16="http://schemas.microsoft.com/office/drawing/2014/main" id="{9DDDF9EB-098F-4459-8D34-A52779F61C76}"/>
              </a:ext>
            </a:extLst>
          </p:cNvPr>
          <p:cNvSpPr>
            <a:spLocks/>
          </p:cNvSpPr>
          <p:nvPr/>
        </p:nvSpPr>
        <p:spPr bwMode="auto">
          <a:xfrm>
            <a:off x="8740775" y="4757738"/>
            <a:ext cx="403225" cy="385762"/>
          </a:xfrm>
          <a:custGeom>
            <a:avLst/>
            <a:gdLst>
              <a:gd name="T0" fmla="*/ 0 w 403859"/>
              <a:gd name="T1" fmla="*/ 384938 h 386079"/>
              <a:gd name="T2" fmla="*/ 402593 w 403859"/>
              <a:gd name="T3" fmla="*/ 384938 h 386079"/>
              <a:gd name="T4" fmla="*/ 402593 w 403859"/>
              <a:gd name="T5" fmla="*/ 0 h 386079"/>
              <a:gd name="T6" fmla="*/ 0 w 403859"/>
              <a:gd name="T7" fmla="*/ 0 h 386079"/>
              <a:gd name="T8" fmla="*/ 0 w 403859"/>
              <a:gd name="T9" fmla="*/ 384938 h 3860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3859" h="38607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1028" name="bk object 18">
            <a:extLst>
              <a:ext uri="{FF2B5EF4-FFF2-40B4-BE49-F238E27FC236}">
                <a16:creationId xmlns="" xmlns:a16="http://schemas.microsoft.com/office/drawing/2014/main" id="{DBE158AF-592A-4532-B73C-99175196F988}"/>
              </a:ext>
            </a:extLst>
          </p:cNvPr>
          <p:cNvSpPr>
            <a:spLocks/>
          </p:cNvSpPr>
          <p:nvPr/>
        </p:nvSpPr>
        <p:spPr bwMode="auto">
          <a:xfrm>
            <a:off x="0" y="4757738"/>
            <a:ext cx="403225" cy="385762"/>
          </a:xfrm>
          <a:custGeom>
            <a:avLst/>
            <a:gdLst>
              <a:gd name="T0" fmla="*/ 0 w 402590"/>
              <a:gd name="T1" fmla="*/ 384938 h 386079"/>
              <a:gd name="T2" fmla="*/ 403607 w 402590"/>
              <a:gd name="T3" fmla="*/ 384938 h 386079"/>
              <a:gd name="T4" fmla="*/ 403607 w 402590"/>
              <a:gd name="T5" fmla="*/ 0 h 386079"/>
              <a:gd name="T6" fmla="*/ 0 w 402590"/>
              <a:gd name="T7" fmla="*/ 0 h 386079"/>
              <a:gd name="T8" fmla="*/ 0 w 402590"/>
              <a:gd name="T9" fmla="*/ 384938 h 3860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2590" h="386079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1029" name="bk object 19">
            <a:extLst>
              <a:ext uri="{FF2B5EF4-FFF2-40B4-BE49-F238E27FC236}">
                <a16:creationId xmlns="" xmlns:a16="http://schemas.microsoft.com/office/drawing/2014/main" id="{A1CB80A7-4030-443C-8AC7-580562F9BF7F}"/>
              </a:ext>
            </a:extLst>
          </p:cNvPr>
          <p:cNvSpPr>
            <a:spLocks/>
          </p:cNvSpPr>
          <p:nvPr/>
        </p:nvSpPr>
        <p:spPr bwMode="auto">
          <a:xfrm>
            <a:off x="401638" y="4757738"/>
            <a:ext cx="8339137" cy="385762"/>
          </a:xfrm>
          <a:custGeom>
            <a:avLst/>
            <a:gdLst>
              <a:gd name="T0" fmla="*/ 0 w 8338184"/>
              <a:gd name="T1" fmla="*/ 384938 h 386079"/>
              <a:gd name="T2" fmla="*/ 8339710 w 8338184"/>
              <a:gd name="T3" fmla="*/ 384938 h 386079"/>
              <a:gd name="T4" fmla="*/ 8339710 w 8338184"/>
              <a:gd name="T5" fmla="*/ 0 h 386079"/>
              <a:gd name="T6" fmla="*/ 0 w 8338184"/>
              <a:gd name="T7" fmla="*/ 0 h 386079"/>
              <a:gd name="T8" fmla="*/ 0 w 8338184"/>
              <a:gd name="T9" fmla="*/ 384938 h 3860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338184" h="386079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1030" name="bk object 20">
            <a:extLst>
              <a:ext uri="{FF2B5EF4-FFF2-40B4-BE49-F238E27FC236}">
                <a16:creationId xmlns="" xmlns:a16="http://schemas.microsoft.com/office/drawing/2014/main" id="{333A98F6-990C-477C-AEF2-283F6FBFB0E2}"/>
              </a:ext>
            </a:extLst>
          </p:cNvPr>
          <p:cNvSpPr>
            <a:spLocks/>
          </p:cNvSpPr>
          <p:nvPr/>
        </p:nvSpPr>
        <p:spPr bwMode="auto">
          <a:xfrm>
            <a:off x="8170863" y="46038"/>
            <a:ext cx="973137" cy="1011237"/>
          </a:xfrm>
          <a:custGeom>
            <a:avLst/>
            <a:gdLst>
              <a:gd name="T0" fmla="*/ 809942 w 974090"/>
              <a:gd name="T1" fmla="*/ 0 h 1012190"/>
              <a:gd name="T2" fmla="*/ 161987 w 974090"/>
              <a:gd name="T3" fmla="*/ 0 h 1012190"/>
              <a:gd name="T4" fmla="*/ 118917 w 974090"/>
              <a:gd name="T5" fmla="*/ 5786 h 1012190"/>
              <a:gd name="T6" fmla="*/ 80218 w 974090"/>
              <a:gd name="T7" fmla="*/ 22112 h 1012190"/>
              <a:gd name="T8" fmla="*/ 47437 w 974090"/>
              <a:gd name="T9" fmla="*/ 47439 h 1012190"/>
              <a:gd name="T10" fmla="*/ 22110 w 974090"/>
              <a:gd name="T11" fmla="*/ 80224 h 1012190"/>
              <a:gd name="T12" fmla="*/ 5784 w 974090"/>
              <a:gd name="T13" fmla="*/ 118926 h 1012190"/>
              <a:gd name="T14" fmla="*/ 0 w 974090"/>
              <a:gd name="T15" fmla="*/ 161999 h 1012190"/>
              <a:gd name="T16" fmla="*/ 0 w 974090"/>
              <a:gd name="T17" fmla="*/ 848030 h 1012190"/>
              <a:gd name="T18" fmla="*/ 5784 w 974090"/>
              <a:gd name="T19" fmla="*/ 891104 h 1012190"/>
              <a:gd name="T20" fmla="*/ 22110 w 974090"/>
              <a:gd name="T21" fmla="*/ 929806 h 1012190"/>
              <a:gd name="T22" fmla="*/ 47437 w 974090"/>
              <a:gd name="T23" fmla="*/ 962591 h 1012190"/>
              <a:gd name="T24" fmla="*/ 80218 w 974090"/>
              <a:gd name="T25" fmla="*/ 987918 h 1012190"/>
              <a:gd name="T26" fmla="*/ 118917 w 974090"/>
              <a:gd name="T27" fmla="*/ 1004246 h 1012190"/>
              <a:gd name="T28" fmla="*/ 161987 w 974090"/>
              <a:gd name="T29" fmla="*/ 1010030 h 1012190"/>
              <a:gd name="T30" fmla="*/ 809942 w 974090"/>
              <a:gd name="T31" fmla="*/ 1010030 h 1012190"/>
              <a:gd name="T32" fmla="*/ 853014 w 974090"/>
              <a:gd name="T33" fmla="*/ 1004246 h 1012190"/>
              <a:gd name="T34" fmla="*/ 891712 w 974090"/>
              <a:gd name="T35" fmla="*/ 987918 h 1012190"/>
              <a:gd name="T36" fmla="*/ 924495 w 974090"/>
              <a:gd name="T37" fmla="*/ 962591 h 1012190"/>
              <a:gd name="T38" fmla="*/ 949820 w 974090"/>
              <a:gd name="T39" fmla="*/ 929806 h 1012190"/>
              <a:gd name="T40" fmla="*/ 966146 w 974090"/>
              <a:gd name="T41" fmla="*/ 891104 h 1012190"/>
              <a:gd name="T42" fmla="*/ 971930 w 974090"/>
              <a:gd name="T43" fmla="*/ 848030 h 1012190"/>
              <a:gd name="T44" fmla="*/ 971930 w 974090"/>
              <a:gd name="T45" fmla="*/ 161999 h 1012190"/>
              <a:gd name="T46" fmla="*/ 966146 w 974090"/>
              <a:gd name="T47" fmla="*/ 118926 h 1012190"/>
              <a:gd name="T48" fmla="*/ 949820 w 974090"/>
              <a:gd name="T49" fmla="*/ 80224 h 1012190"/>
              <a:gd name="T50" fmla="*/ 924495 w 974090"/>
              <a:gd name="T51" fmla="*/ 47439 h 1012190"/>
              <a:gd name="T52" fmla="*/ 891712 w 974090"/>
              <a:gd name="T53" fmla="*/ 22112 h 1012190"/>
              <a:gd name="T54" fmla="*/ 853014 w 974090"/>
              <a:gd name="T55" fmla="*/ 5786 h 1012190"/>
              <a:gd name="T56" fmla="*/ 809942 w 974090"/>
              <a:gd name="T57" fmla="*/ 0 h 1012190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974090" h="10121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1031" name="bk object 21">
            <a:extLst>
              <a:ext uri="{FF2B5EF4-FFF2-40B4-BE49-F238E27FC236}">
                <a16:creationId xmlns="" xmlns:a16="http://schemas.microsoft.com/office/drawing/2014/main" id="{4293556D-2927-4054-9046-348FE1CBD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1350" y="385763"/>
            <a:ext cx="792163" cy="541337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endParaRPr lang="pt-BR" altLang="pt-BR"/>
          </a:p>
        </p:txBody>
      </p:sp>
      <p:sp>
        <p:nvSpPr>
          <p:cNvPr id="1032" name="Holder 2">
            <a:extLst>
              <a:ext uri="{FF2B5EF4-FFF2-40B4-BE49-F238E27FC236}">
                <a16:creationId xmlns="" xmlns:a16="http://schemas.microsoft.com/office/drawing/2014/main" id="{F7404834-67DD-4A96-9900-569A8E208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2738" y="439738"/>
            <a:ext cx="368458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pt-BR" altLang="pt-BR"/>
          </a:p>
        </p:txBody>
      </p:sp>
      <p:sp>
        <p:nvSpPr>
          <p:cNvPr id="1033" name="Holder 3">
            <a:extLst>
              <a:ext uri="{FF2B5EF4-FFF2-40B4-BE49-F238E27FC236}">
                <a16:creationId xmlns="" xmlns:a16="http://schemas.microsoft.com/office/drawing/2014/main" id="{F073BAA6-FB98-4411-9388-24C33562C9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7825" y="1084263"/>
            <a:ext cx="838835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pt-BR" altLang="pt-BR"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0188557E-8FB2-425F-AF85-D8AFECA4271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108325" y="4783138"/>
            <a:ext cx="292735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3F796761-91B2-4CB0-9A08-97FBF04630B8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457200" y="4783138"/>
            <a:ext cx="2103438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6BBE9FF-2947-404F-AF3D-4297A79261AD}" type="datetimeFigureOut">
              <a:rPr lang="en-US"/>
              <a:pPr>
                <a:defRPr/>
              </a:pPr>
              <a:t>5/6/2021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6F42B093-3E53-4701-8743-AE277C24DD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363" y="4783138"/>
            <a:ext cx="2103437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9BEF263-33C9-4CD9-99DC-E8BD67D350D8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22.png"/><Relationship Id="rId4" Type="http://schemas.openxmlformats.org/officeDocument/2006/relationships/image" Target="../media/image9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98CD0485-6D60-445B-A350-1216981CAA8B}"/>
              </a:ext>
            </a:extLst>
          </p:cNvPr>
          <p:cNvSpPr txBox="1"/>
          <p:nvPr/>
        </p:nvSpPr>
        <p:spPr>
          <a:xfrm>
            <a:off x="3514725" y="735013"/>
            <a:ext cx="2124075" cy="530225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algn="ctr" eaLnBrk="1" fontAlgn="auto" hangingPunct="1">
              <a:spcBef>
                <a:spcPts val="105"/>
              </a:spcBef>
              <a:spcAft>
                <a:spcPts val="0"/>
              </a:spcAft>
              <a:defRPr/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 dirty="0">
              <a:latin typeface="Calibri"/>
              <a:cs typeface="Calibri"/>
            </a:endParaRPr>
          </a:p>
          <a:p>
            <a:pPr algn="ctr" eaLnBrk="1" fontAlgn="auto" hangingPunct="1">
              <a:spcBef>
                <a:spcPts val="5"/>
              </a:spcBef>
              <a:spcAft>
                <a:spcPts val="0"/>
              </a:spcAft>
              <a:defRPr/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 dirty="0">
              <a:latin typeface="Calibri"/>
              <a:cs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4099" name="object 3">
            <a:extLst>
              <a:ext uri="{FF2B5EF4-FFF2-40B4-BE49-F238E27FC236}">
                <a16:creationId xmlns="" xmlns:a16="http://schemas.microsoft.com/office/drawing/2014/main" id="{472A3068-D4E7-4E4D-875F-E1CF77832C71}"/>
              </a:ext>
            </a:extLst>
          </p:cNvPr>
          <p:cNvSpPr>
            <a:spLocks/>
          </p:cNvSpPr>
          <p:nvPr/>
        </p:nvSpPr>
        <p:spPr bwMode="auto">
          <a:xfrm>
            <a:off x="1081088" y="4787900"/>
            <a:ext cx="6946900" cy="193675"/>
          </a:xfrm>
          <a:custGeom>
            <a:avLst/>
            <a:gdLst>
              <a:gd name="T0" fmla="*/ 0 w 6946900"/>
              <a:gd name="T1" fmla="*/ 194568 h 192404"/>
              <a:gd name="T2" fmla="*/ 6946392 w 6946900"/>
              <a:gd name="T3" fmla="*/ 194568 h 192404"/>
              <a:gd name="T4" fmla="*/ 6946392 w 6946900"/>
              <a:gd name="T5" fmla="*/ 0 h 192404"/>
              <a:gd name="T6" fmla="*/ 0 w 6946900"/>
              <a:gd name="T7" fmla="*/ 0 h 192404"/>
              <a:gd name="T8" fmla="*/ 0 w 6946900"/>
              <a:gd name="T9" fmla="*/ 194568 h 1924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D6046DAC-E05E-4D84-8768-25F461F27880}"/>
              </a:ext>
            </a:extLst>
          </p:cNvPr>
          <p:cNvSpPr txBox="1"/>
          <p:nvPr/>
        </p:nvSpPr>
        <p:spPr>
          <a:xfrm>
            <a:off x="1081088" y="1657350"/>
            <a:ext cx="6946900" cy="12446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algn="ctr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NPM </a:t>
            </a:r>
            <a:r>
              <a:rPr lang="en-US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- PACKAGE MANAGER TOOL FOR </a:t>
            </a:r>
            <a:r>
              <a:rPr lang="en-US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JAVASCRIPT</a:t>
            </a:r>
            <a:endParaRPr lang="pt-BR" sz="4000" b="1" spc="-270" dirty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EC46C318-3AFD-4E17-BCB4-AEA2366525D8}"/>
              </a:ext>
            </a:extLst>
          </p:cNvPr>
          <p:cNvSpPr txBox="1"/>
          <p:nvPr/>
        </p:nvSpPr>
        <p:spPr>
          <a:xfrm>
            <a:off x="1081088" y="3714750"/>
            <a:ext cx="6946900" cy="579438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algn="ctr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Stahl Müller, </a:t>
            </a: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Paulo </a:t>
            </a: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Henrique </a:t>
            </a:r>
            <a:r>
              <a:rPr lang="pt-BR" spc="-130" dirty="0" err="1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Rohling</a:t>
            </a: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 </a:t>
            </a:r>
            <a:endParaRPr lang="pt-BR" spc="-130" dirty="0" smtClean="0">
              <a:solidFill>
                <a:srgbClr val="07477C"/>
              </a:solidFill>
              <a:latin typeface="Helvetica LT Std" panose="020B0504020202020204" pitchFamily="34" charset="0"/>
              <a:cs typeface="Calibri"/>
            </a:endParaRPr>
          </a:p>
          <a:p>
            <a:pPr marL="12700" algn="ctr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e </a:t>
            </a: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Vinícius Gabriel Martins.</a:t>
            </a:r>
          </a:p>
        </p:txBody>
      </p:sp>
    </p:spTree>
    <p:extLst>
      <p:ext uri="{BB962C8B-B14F-4D97-AF65-F5344CB8AC3E}">
        <p14:creationId xmlns:p14="http://schemas.microsoft.com/office/powerpoint/2010/main" val="150512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>
                <a:latin typeface="Helvetica LT Std" panose="020B0504020202020204" pitchFamily="34" charset="0"/>
              </a:rPr>
              <a:t>Sumário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18691"/>
            <a:ext cx="8640370" cy="22698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O que é NPM?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Aplicação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Arquivos </a:t>
            </a: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package.json &amp; 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package-lock.json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Aspectos positivos e 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limitações</a:t>
            </a:r>
            <a:endParaRPr lang="pt-BR" sz="2200" dirty="0">
              <a:solidFill>
                <a:srgbClr val="07477C"/>
              </a:solidFill>
              <a:latin typeface="Helvetica LT Std" panose="020B0504020202020204" pitchFamily="34" charset="0"/>
            </a:endParaRP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Referências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Texto 2">
            <a:extLst>
              <a:ext uri="{FF2B5EF4-FFF2-40B4-BE49-F238E27FC236}">
                <a16:creationId xmlns="" xmlns:a16="http://schemas.microsoft.com/office/drawing/2014/main" id="{85D60C8B-B7EA-4685-B01D-57F947BE9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7825" y="1104884"/>
            <a:ext cx="8388350" cy="1877437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600"/>
              </a:spcAft>
            </a:pPr>
            <a:r>
              <a:rPr lang="pt-BR" altLang="pt-BR" sz="1600" dirty="0">
                <a:latin typeface="Whitney"/>
                <a:cs typeface="Calibri" panose="020F0502020204030204" pitchFamily="34" charset="0"/>
              </a:rPr>
              <a:t>NPM(Node </a:t>
            </a:r>
            <a:r>
              <a:rPr lang="en-US" altLang="pt-BR" sz="1600" dirty="0">
                <a:latin typeface="Whitney"/>
                <a:cs typeface="Calibri" panose="020F0502020204030204" pitchFamily="34" charset="0"/>
              </a:rPr>
              <a:t>Package</a:t>
            </a:r>
            <a:r>
              <a:rPr lang="pt-BR" altLang="pt-BR" sz="1600" dirty="0">
                <a:latin typeface="Whitney"/>
                <a:cs typeface="Calibri" panose="020F0502020204030204" pitchFamily="34" charset="0"/>
              </a:rPr>
              <a:t> Manager) é o gerenciador de pacotes do Node e suas principais funções são:</a:t>
            </a:r>
          </a:p>
          <a:p>
            <a:pPr marL="285750" indent="-285750" algn="just"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sz="1600" dirty="0">
                <a:latin typeface="Whitney"/>
                <a:cs typeface="Calibri" panose="020F0502020204030204" pitchFamily="34" charset="0"/>
              </a:rPr>
              <a:t>Ser um repositório para a publicação de projetos Node.js de código aberto, permitindo pessoas publicarem e compartilharem ferramentas escritas em JavaScript.</a:t>
            </a:r>
          </a:p>
          <a:p>
            <a:pPr marL="285750" indent="-285750" algn="just"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sz="1600" dirty="0" smtClean="0">
                <a:latin typeface="Whitney"/>
                <a:cs typeface="Calibri" panose="020F0502020204030204" pitchFamily="34" charset="0"/>
              </a:rPr>
              <a:t>Ser uma </a:t>
            </a:r>
            <a:r>
              <a:rPr lang="pt-BR" altLang="pt-BR" sz="1600" dirty="0">
                <a:latin typeface="Whitney"/>
                <a:cs typeface="Calibri" panose="020F0502020204030204" pitchFamily="34" charset="0"/>
              </a:rPr>
              <a:t>ferramenta de linha de comando que utilizando seu repositório auxilia na instalação e desinstalação de pacotes, gerenciamento da versões e dependências para desenvolver ou somente executar projetos.</a:t>
            </a:r>
          </a:p>
        </p:txBody>
      </p:sp>
      <p:sp>
        <p:nvSpPr>
          <p:cNvPr id="5" name="object 2">
            <a:extLst>
              <a:ext uri="{FF2B5EF4-FFF2-40B4-BE49-F238E27FC236}">
                <a16:creationId xmlns="" xmlns:a16="http://schemas.microsoft.com/office/drawing/2014/main" id="{2FD898BB-00A3-414C-AFFE-C9A49BEC5234}"/>
              </a:ext>
            </a:extLst>
          </p:cNvPr>
          <p:cNvSpPr txBox="1">
            <a:spLocks/>
          </p:cNvSpPr>
          <p:nvPr/>
        </p:nvSpPr>
        <p:spPr>
          <a:xfrm>
            <a:off x="312738" y="439738"/>
            <a:ext cx="5097462" cy="566737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pt-BR" dirty="0">
                <a:latin typeface="Helvetica" pitchFamily="2" charset="0"/>
              </a:rPr>
              <a:t>O que é NPM?</a:t>
            </a:r>
            <a:endParaRPr lang="pt-BR" kern="0" spc="-285" dirty="0">
              <a:latin typeface="Helvetica" pitchFamily="2" charset="0"/>
            </a:endParaRPr>
          </a:p>
        </p:txBody>
      </p:sp>
      <p:pic>
        <p:nvPicPr>
          <p:cNvPr id="5124" name="Picture 8" descr="Isavgo Technologies">
            <a:extLst>
              <a:ext uri="{FF2B5EF4-FFF2-40B4-BE49-F238E27FC236}">
                <a16:creationId xmlns="" xmlns:a16="http://schemas.microsoft.com/office/drawing/2014/main" id="{96595278-F701-4B02-A06E-ABF0076ED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982320"/>
            <a:ext cx="3552690" cy="17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6" descr="npm (software) - Wikipedia">
            <a:extLst>
              <a:ext uri="{FF2B5EF4-FFF2-40B4-BE49-F238E27FC236}">
                <a16:creationId xmlns="" xmlns:a16="http://schemas.microsoft.com/office/drawing/2014/main" id="{DB416B90-C5B8-4799-BF0B-AFD3A0888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333750"/>
            <a:ext cx="2130655" cy="82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6662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>
                <a:latin typeface="Helvetica LT Std" panose="020B0504020202020204" pitchFamily="34" charset="0"/>
              </a:rPr>
              <a:t>Aplicação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2"/>
            <a:ext cx="8387232" cy="3180358"/>
          </a:xfrm>
        </p:spPr>
        <p:txBody>
          <a:bodyPr/>
          <a:lstStyle/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dirty="0">
                <a:latin typeface="Helvetica" pitchFamily="2" charset="0"/>
              </a:rPr>
              <a:t>NPM serve para manusear dependências (pacotes) do Node.js. 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dirty="0">
                <a:latin typeface="Helvetica" pitchFamily="2" charset="0"/>
              </a:rPr>
              <a:t>Node.js é um </a:t>
            </a:r>
            <a:r>
              <a:rPr lang="pt-BR" i="1" dirty="0">
                <a:latin typeface="Helvetica" pitchFamily="2" charset="0"/>
              </a:rPr>
              <a:t>runtime</a:t>
            </a:r>
            <a:r>
              <a:rPr lang="pt-BR" dirty="0">
                <a:latin typeface="Helvetica" pitchFamily="2" charset="0"/>
              </a:rPr>
              <a:t> de Javascript. Normalmente, Javascript é </a:t>
            </a:r>
            <a:r>
              <a:rPr lang="pt-BR" dirty="0" smtClean="0">
                <a:latin typeface="Helvetica" pitchFamily="2" charset="0"/>
              </a:rPr>
              <a:t>executado no </a:t>
            </a:r>
            <a:r>
              <a:rPr lang="pt-BR" dirty="0">
                <a:latin typeface="Helvetica" pitchFamily="2" charset="0"/>
              </a:rPr>
              <a:t>browser, mas através de Node.js, isso não é necessário.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dirty="0">
                <a:latin typeface="Helvetica" pitchFamily="2" charset="0"/>
              </a:rPr>
              <a:t>Consequentemente, pode ser usado em qualquer projeto que usa </a:t>
            </a:r>
            <a:r>
              <a:rPr lang="pt-BR" dirty="0" smtClean="0">
                <a:latin typeface="Helvetica" pitchFamily="2" charset="0"/>
              </a:rPr>
              <a:t>Node.js para </a:t>
            </a:r>
            <a:r>
              <a:rPr lang="pt-BR" dirty="0">
                <a:latin typeface="Helvetica" pitchFamily="2" charset="0"/>
              </a:rPr>
              <a:t>facilitar a gerência de dependências.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dirty="0">
                <a:latin typeface="Helvetica" pitchFamily="2" charset="0"/>
              </a:rPr>
              <a:t>As dependências (pacotes) do projeto são mantidas em </a:t>
            </a:r>
            <a:r>
              <a:rPr lang="pt-BR" dirty="0" smtClean="0">
                <a:latin typeface="Helvetica" pitchFamily="2" charset="0"/>
              </a:rPr>
              <a:t>um arquivo </a:t>
            </a:r>
            <a:r>
              <a:rPr lang="pt-BR" dirty="0">
                <a:latin typeface="Helvetica" pitchFamily="2" charset="0"/>
              </a:rPr>
              <a:t>JSON chamado </a:t>
            </a:r>
            <a:r>
              <a:rPr lang="pt-BR" i="1" dirty="0">
                <a:latin typeface="Helvetica" pitchFamily="2" charset="0"/>
              </a:rPr>
              <a:t>package.json</a:t>
            </a:r>
            <a:r>
              <a:rPr lang="pt-BR" dirty="0">
                <a:latin typeface="Helvetica" pitchFamily="2" charset="0"/>
              </a:rPr>
              <a:t>.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dirty="0">
                <a:latin typeface="Helvetica" pitchFamily="2" charset="0"/>
              </a:rPr>
              <a:t>Instalar um pacote e todas as suas dependências é feito através do comando </a:t>
            </a:r>
            <a:r>
              <a:rPr lang="pt-BR" i="1" dirty="0">
                <a:latin typeface="Helvetica" pitchFamily="2" charset="0"/>
              </a:rPr>
              <a:t>npm </a:t>
            </a:r>
            <a:r>
              <a:rPr lang="pt-BR" i="1" dirty="0" err="1">
                <a:latin typeface="Helvetica" pitchFamily="2" charset="0"/>
              </a:rPr>
              <a:t>install</a:t>
            </a:r>
            <a:r>
              <a:rPr lang="pt-BR" dirty="0" smtClean="0">
                <a:latin typeface="Helvetica" pitchFamily="2" charset="0"/>
              </a:rPr>
              <a:t>.</a:t>
            </a:r>
            <a:endParaRPr lang="pt-BR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25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>
                <a:latin typeface="Helvetica LT Std" panose="020B0504020202020204" pitchFamily="34" charset="0"/>
              </a:rPr>
              <a:t>Comandos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14222"/>
            <a:ext cx="8387232" cy="3693319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600" i="1" u="sng" dirty="0">
                <a:latin typeface="Helvetica" pitchFamily="2" charset="0"/>
              </a:rPr>
              <a:t>npm-init</a:t>
            </a:r>
            <a:r>
              <a:rPr lang="pt-BR" sz="1600" dirty="0">
                <a:latin typeface="Helvetica" pitchFamily="2" charset="0"/>
              </a:rPr>
              <a:t>: Cria um arquivo </a:t>
            </a:r>
            <a:r>
              <a:rPr lang="pt-BR" sz="1600" i="1" dirty="0">
                <a:latin typeface="Helvetica" pitchFamily="2" charset="0"/>
              </a:rPr>
              <a:t>package.json</a:t>
            </a:r>
            <a:r>
              <a:rPr lang="pt-BR" sz="1600" dirty="0">
                <a:latin typeface="Helvetica" pitchFamily="2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600" i="1" u="sng" dirty="0">
                <a:latin typeface="Helvetica" pitchFamily="2" charset="0"/>
              </a:rPr>
              <a:t>npm-install &lt;nome&gt;</a:t>
            </a:r>
            <a:r>
              <a:rPr lang="pt-BR" sz="1600" dirty="0">
                <a:latin typeface="Helvetica" pitchFamily="2" charset="0"/>
              </a:rPr>
              <a:t>: Instala as dependências definidas no </a:t>
            </a:r>
            <a:r>
              <a:rPr lang="pt-BR" sz="1600" i="1" dirty="0">
                <a:latin typeface="Helvetica" pitchFamily="2" charset="0"/>
              </a:rPr>
              <a:t>package.json </a:t>
            </a:r>
            <a:r>
              <a:rPr lang="pt-BR" sz="1600" dirty="0">
                <a:latin typeface="Helvetica" pitchFamily="2" charset="0"/>
              </a:rPr>
              <a:t>do pacote &lt;nome&gt;. Elas serão colocadas na </a:t>
            </a:r>
            <a:r>
              <a:rPr lang="pt-BR" sz="1600" dirty="0" smtClean="0">
                <a:latin typeface="Helvetica" pitchFamily="2" charset="0"/>
              </a:rPr>
              <a:t>pasta </a:t>
            </a:r>
            <a:r>
              <a:rPr lang="pt-BR" sz="1600" i="1" dirty="0" err="1" smtClean="0">
                <a:latin typeface="Helvetica" pitchFamily="2" charset="0"/>
              </a:rPr>
              <a:t>node_modules</a:t>
            </a:r>
            <a:r>
              <a:rPr lang="pt-BR" sz="1600" dirty="0" smtClean="0">
                <a:latin typeface="Helvetica" pitchFamily="2" charset="0"/>
              </a:rPr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1600" i="1" dirty="0" smtClean="0">
                <a:latin typeface="Helvetica" pitchFamily="2" charset="0"/>
              </a:rPr>
              <a:t>-g </a:t>
            </a:r>
            <a:r>
              <a:rPr lang="pt-BR" sz="1600" dirty="0" smtClean="0">
                <a:latin typeface="Helvetica" pitchFamily="2" charset="0"/>
              </a:rPr>
              <a:t>ou </a:t>
            </a:r>
            <a:r>
              <a:rPr lang="pt-BR" sz="1600" i="1" dirty="0" smtClean="0">
                <a:latin typeface="Helvetica" pitchFamily="2" charset="0"/>
              </a:rPr>
              <a:t>–global</a:t>
            </a:r>
            <a:r>
              <a:rPr lang="pt-BR" sz="1600" dirty="0" smtClean="0">
                <a:latin typeface="Helvetica" pitchFamily="2" charset="0"/>
              </a:rPr>
              <a:t>: Binários do pacote são adicionados à variável PATH.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1600" dirty="0" smtClean="0">
                <a:latin typeface="Helvetica" pitchFamily="2" charset="0"/>
              </a:rPr>
              <a:t>--</a:t>
            </a:r>
            <a:r>
              <a:rPr lang="pt-BR" sz="1600" i="1" dirty="0">
                <a:latin typeface="Helvetica" pitchFamily="2" charset="0"/>
              </a:rPr>
              <a:t>production</a:t>
            </a:r>
            <a:r>
              <a:rPr lang="pt-BR" sz="1600" dirty="0">
                <a:latin typeface="Helvetica" pitchFamily="2" charset="0"/>
              </a:rPr>
              <a:t>: Instala somente </a:t>
            </a:r>
            <a:r>
              <a:rPr lang="pt-BR" sz="1600" i="1" dirty="0">
                <a:latin typeface="Helvetica" pitchFamily="2" charset="0"/>
              </a:rPr>
              <a:t>dependencies</a:t>
            </a:r>
            <a:r>
              <a:rPr lang="pt-BR" sz="1600" dirty="0">
                <a:latin typeface="Helvetica" pitchFamily="2" charset="0"/>
              </a:rPr>
              <a:t> do pacote, e não </a:t>
            </a:r>
            <a:r>
              <a:rPr lang="pt-BR" sz="1600" i="1" dirty="0">
                <a:latin typeface="Helvetica" pitchFamily="2" charset="0"/>
              </a:rPr>
              <a:t>devDependencies</a:t>
            </a:r>
            <a:r>
              <a:rPr lang="pt-BR" sz="1600" dirty="0">
                <a:latin typeface="Helvetica" pitchFamily="2" charset="0"/>
              </a:rPr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Helvetica" pitchFamily="2" charset="0"/>
              </a:rPr>
              <a:t>--</a:t>
            </a:r>
            <a:r>
              <a:rPr lang="pt-BR" sz="1600" i="1" dirty="0">
                <a:latin typeface="Helvetica" pitchFamily="2" charset="0"/>
              </a:rPr>
              <a:t>production=false</a:t>
            </a:r>
            <a:r>
              <a:rPr lang="pt-BR" sz="1600" dirty="0">
                <a:latin typeface="Helvetica" pitchFamily="2" charset="0"/>
              </a:rPr>
              <a:t>: Instala </a:t>
            </a:r>
            <a:r>
              <a:rPr lang="pt-BR" sz="1600" i="1" dirty="0">
                <a:latin typeface="Helvetica" pitchFamily="2" charset="0"/>
              </a:rPr>
              <a:t>dependencies </a:t>
            </a:r>
            <a:r>
              <a:rPr lang="pt-BR" sz="1600" dirty="0">
                <a:latin typeface="Helvetica" pitchFamily="2" charset="0"/>
              </a:rPr>
              <a:t>e </a:t>
            </a:r>
            <a:r>
              <a:rPr lang="pt-BR" sz="1600" i="1" dirty="0">
                <a:latin typeface="Helvetica" pitchFamily="2" charset="0"/>
              </a:rPr>
              <a:t>devDependencies </a:t>
            </a:r>
            <a:r>
              <a:rPr lang="pt-BR" sz="1600" dirty="0">
                <a:latin typeface="Helvetica" pitchFamily="2" charset="0"/>
              </a:rPr>
              <a:t>do pacote.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Helvetica" pitchFamily="2" charset="0"/>
              </a:rPr>
              <a:t>--</a:t>
            </a:r>
            <a:r>
              <a:rPr lang="pt-BR" sz="1600" i="1" dirty="0">
                <a:latin typeface="Helvetica" pitchFamily="2" charset="0"/>
              </a:rPr>
              <a:t>save</a:t>
            </a:r>
            <a:r>
              <a:rPr lang="pt-BR" sz="1600" dirty="0">
                <a:latin typeface="Helvetica" pitchFamily="2" charset="0"/>
              </a:rPr>
              <a:t>: Instala como um pacote de </a:t>
            </a:r>
            <a:r>
              <a:rPr lang="pt-BR" sz="1600" i="1" dirty="0">
                <a:latin typeface="Helvetica" pitchFamily="2" charset="0"/>
              </a:rPr>
              <a:t>dependencies</a:t>
            </a:r>
            <a:r>
              <a:rPr lang="pt-BR" sz="1600" dirty="0">
                <a:latin typeface="Helvetica" pitchFamily="2" charset="0"/>
              </a:rPr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Helvetica" pitchFamily="2" charset="0"/>
              </a:rPr>
              <a:t>--</a:t>
            </a:r>
            <a:r>
              <a:rPr lang="pt-BR" sz="1600" i="1" dirty="0">
                <a:latin typeface="Helvetica" pitchFamily="2" charset="0"/>
              </a:rPr>
              <a:t>save-dev</a:t>
            </a:r>
            <a:r>
              <a:rPr lang="pt-BR" sz="1600" dirty="0">
                <a:latin typeface="Helvetica" pitchFamily="2" charset="0"/>
              </a:rPr>
              <a:t>: Instala como um pacote de </a:t>
            </a:r>
            <a:r>
              <a:rPr lang="pt-BR" sz="1600" i="1" dirty="0">
                <a:latin typeface="Helvetica" pitchFamily="2" charset="0"/>
              </a:rPr>
              <a:t>devDependencies</a:t>
            </a:r>
            <a:r>
              <a:rPr lang="pt-BR" sz="1600" dirty="0">
                <a:latin typeface="Helvetica" pitchFamily="2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600" i="1" u="sng" dirty="0">
                <a:latin typeface="Helvetica" pitchFamily="2" charset="0"/>
              </a:rPr>
              <a:t>npm-uninstall &lt;nome&gt;</a:t>
            </a:r>
            <a:r>
              <a:rPr lang="pt-BR" sz="1600" dirty="0">
                <a:latin typeface="Helvetica" pitchFamily="2" charset="0"/>
              </a:rPr>
              <a:t>: Desinstala o pacote &lt;nome&gt; e remove ele do </a:t>
            </a:r>
            <a:r>
              <a:rPr lang="pt-BR" sz="1600" i="1" dirty="0">
                <a:latin typeface="Helvetica" pitchFamily="2" charset="0"/>
              </a:rPr>
              <a:t>package.json</a:t>
            </a:r>
            <a:r>
              <a:rPr lang="pt-BR" sz="1600" dirty="0">
                <a:latin typeface="Helvetica" pitchFamily="2" charset="0"/>
              </a:rPr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1600" i="1" dirty="0">
                <a:latin typeface="Helvetica" pitchFamily="2" charset="0"/>
              </a:rPr>
              <a:t>-g </a:t>
            </a:r>
            <a:r>
              <a:rPr lang="pt-BR" sz="1600" dirty="0">
                <a:latin typeface="Helvetica" pitchFamily="2" charset="0"/>
              </a:rPr>
              <a:t>ou </a:t>
            </a:r>
            <a:r>
              <a:rPr lang="pt-BR" sz="1600" i="1" dirty="0">
                <a:latin typeface="Helvetica" pitchFamily="2" charset="0"/>
              </a:rPr>
              <a:t>--global</a:t>
            </a:r>
            <a:r>
              <a:rPr lang="pt-BR" sz="1600" dirty="0">
                <a:latin typeface="Helvetica" pitchFamily="2" charset="0"/>
              </a:rPr>
              <a:t>: Necessário caso o pacote esteja instalado globalmente.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600" i="1" u="sng" dirty="0">
                <a:latin typeface="Helvetica" pitchFamily="2" charset="0"/>
              </a:rPr>
              <a:t>npm-update &lt;nome&gt;</a:t>
            </a:r>
            <a:r>
              <a:rPr lang="pt-BR" sz="1600" dirty="0">
                <a:latin typeface="Helvetica" pitchFamily="2" charset="0"/>
              </a:rPr>
              <a:t>: Atualiza a versão dos pacotes definidos em </a:t>
            </a:r>
            <a:r>
              <a:rPr lang="pt-BR" sz="1600" i="1" dirty="0">
                <a:latin typeface="Helvetica" pitchFamily="2" charset="0"/>
              </a:rPr>
              <a:t>package.json</a:t>
            </a:r>
            <a:r>
              <a:rPr lang="pt-BR" sz="1600" dirty="0">
                <a:latin typeface="Helvetica" pitchFamily="2" charset="0"/>
              </a:rPr>
              <a:t> para versões de acordo com as restrições estabelecidas.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1600" i="1" dirty="0">
                <a:latin typeface="Helvetica" pitchFamily="2" charset="0"/>
              </a:rPr>
              <a:t>-g </a:t>
            </a:r>
            <a:r>
              <a:rPr lang="pt-BR" sz="1600" dirty="0">
                <a:latin typeface="Helvetica" pitchFamily="2" charset="0"/>
              </a:rPr>
              <a:t>ou </a:t>
            </a:r>
            <a:r>
              <a:rPr lang="pt-BR" sz="1600" i="1" dirty="0">
                <a:latin typeface="Helvetica" pitchFamily="2" charset="0"/>
              </a:rPr>
              <a:t>--global</a:t>
            </a:r>
            <a:r>
              <a:rPr lang="pt-BR" sz="1600" dirty="0">
                <a:latin typeface="Helvetica" pitchFamily="2" charset="0"/>
              </a:rPr>
              <a:t>: Atualiza somente pacotes globais.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Helvetica" pitchFamily="2" charset="0"/>
              </a:rPr>
              <a:t>Caso </a:t>
            </a:r>
            <a:r>
              <a:rPr lang="pt-BR" sz="1600" i="1" dirty="0">
                <a:latin typeface="Helvetica" pitchFamily="2" charset="0"/>
              </a:rPr>
              <a:t>&lt;nome&gt; </a:t>
            </a:r>
            <a:r>
              <a:rPr lang="pt-BR" sz="1600" dirty="0">
                <a:latin typeface="Helvetica" pitchFamily="2" charset="0"/>
              </a:rPr>
              <a:t>não seja especificado, </a:t>
            </a:r>
            <a:r>
              <a:rPr lang="pt-BR" sz="1600" i="1" dirty="0">
                <a:latin typeface="Helvetica" pitchFamily="2" charset="0"/>
              </a:rPr>
              <a:t>npm-update</a:t>
            </a:r>
            <a:r>
              <a:rPr lang="pt-BR" sz="1600" dirty="0">
                <a:latin typeface="Helvetica" pitchFamily="2" charset="0"/>
              </a:rPr>
              <a:t> atualizará a versão de todas as dependências do pacote onde foi chamado.</a:t>
            </a:r>
          </a:p>
        </p:txBody>
      </p:sp>
    </p:spTree>
    <p:extLst>
      <p:ext uri="{BB962C8B-B14F-4D97-AF65-F5344CB8AC3E}">
        <p14:creationId xmlns:p14="http://schemas.microsoft.com/office/powerpoint/2010/main" val="328576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554269" cy="574040"/>
          </a:xfrm>
        </p:spPr>
        <p:txBody>
          <a:bodyPr/>
          <a:lstStyle/>
          <a:p>
            <a:r>
              <a:rPr lang="pt-BR" spc="-285" dirty="0">
                <a:latin typeface="Helvetica LT Std" panose="020B0504020202020204" pitchFamily="34" charset="0"/>
              </a:rPr>
              <a:t>Arquivo </a:t>
            </a:r>
            <a:r>
              <a:rPr lang="pt-BR" i="1" spc="-285" dirty="0">
                <a:latin typeface="Helvetica LT Std" panose="020B0504020202020204" pitchFamily="34" charset="0"/>
              </a:rPr>
              <a:t>package.json</a:t>
            </a:r>
            <a:endParaRPr lang="pt-BR" i="1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184665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Helvetica" pitchFamily="2" charset="0"/>
              </a:rPr>
              <a:t>Contém metadados do pacote (título, versão, descrição, etc...).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Helvetica" pitchFamily="2" charset="0"/>
              </a:rPr>
              <a:t>Contém um atributo </a:t>
            </a:r>
            <a:r>
              <a:rPr lang="pt-BR" i="1" dirty="0">
                <a:latin typeface="Helvetica" pitchFamily="2" charset="0"/>
              </a:rPr>
              <a:t>main</a:t>
            </a:r>
            <a:r>
              <a:rPr lang="pt-BR" dirty="0">
                <a:latin typeface="Helvetica" pitchFamily="2" charset="0"/>
              </a:rPr>
              <a:t>, que indica o ponto de entrada do pacote ao ser incluído no projeto (através da função </a:t>
            </a:r>
            <a:r>
              <a:rPr lang="pt-BR" i="1" dirty="0">
                <a:latin typeface="Helvetica" pitchFamily="2" charset="0"/>
              </a:rPr>
              <a:t>require</a:t>
            </a:r>
            <a:r>
              <a:rPr lang="pt-BR" dirty="0">
                <a:latin typeface="Helvetica" pitchFamily="2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Helvetica" pitchFamily="2" charset="0"/>
              </a:rPr>
              <a:t>O arquivo </a:t>
            </a:r>
            <a:r>
              <a:rPr lang="pt-BR" i="1" dirty="0">
                <a:latin typeface="Helvetica" pitchFamily="2" charset="0"/>
              </a:rPr>
              <a:t>package.json</a:t>
            </a:r>
            <a:r>
              <a:rPr lang="pt-BR" dirty="0">
                <a:latin typeface="Helvetica" pitchFamily="2" charset="0"/>
              </a:rPr>
              <a:t> possui dois atributos que definem as </a:t>
            </a:r>
            <a:r>
              <a:rPr lang="pt-BR" dirty="0" smtClean="0">
                <a:latin typeface="Helvetica" pitchFamily="2" charset="0"/>
              </a:rPr>
              <a:t>dependências: </a:t>
            </a:r>
            <a:r>
              <a:rPr lang="pt-BR" i="1" u="sng" dirty="0" smtClean="0">
                <a:latin typeface="Helvetica" pitchFamily="2" charset="0"/>
              </a:rPr>
              <a:t>dependencies</a:t>
            </a:r>
            <a:r>
              <a:rPr lang="pt-BR" i="1" dirty="0" smtClean="0">
                <a:latin typeface="Helvetica" pitchFamily="2" charset="0"/>
              </a:rPr>
              <a:t> e </a:t>
            </a:r>
            <a:r>
              <a:rPr lang="pt-BR" i="1" u="sng" dirty="0" smtClean="0">
                <a:latin typeface="Helvetica" pitchFamily="2" charset="0"/>
              </a:rPr>
              <a:t>devDependencies</a:t>
            </a:r>
            <a:r>
              <a:rPr lang="pt-BR" i="1" dirty="0" smtClean="0">
                <a:latin typeface="Helvetica" pitchFamily="2" charset="0"/>
              </a:rPr>
              <a:t>.</a:t>
            </a:r>
            <a:endParaRPr lang="pt-BR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latin typeface="Helvetica" pitchFamily="2" charset="0"/>
            </a:endParaRPr>
          </a:p>
        </p:txBody>
      </p:sp>
      <p:pic>
        <p:nvPicPr>
          <p:cNvPr id="1030" name="Picture 6" descr="Package.Json in node js. NODE JS is an JavaScript run-time… | by Riteek  Srivastav | Mediu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724150"/>
            <a:ext cx="4000776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41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70" cy="553998"/>
          </a:xfrm>
        </p:spPr>
        <p:txBody>
          <a:bodyPr/>
          <a:lstStyle/>
          <a:p>
            <a:r>
              <a:rPr lang="pt-BR" spc="-285" dirty="0">
                <a:latin typeface="Helvetica LT Std" panose="020B0504020202020204" pitchFamily="34" charset="0"/>
              </a:rPr>
              <a:t>Arquivo </a:t>
            </a:r>
            <a:r>
              <a:rPr lang="pt-BR" i="1" spc="-285" dirty="0">
                <a:latin typeface="Helvetica LT Std" panose="020B0504020202020204" pitchFamily="34" charset="0"/>
              </a:rPr>
              <a:t>package-lock.json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2026645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latin typeface="Helvetica" pitchFamily="2" charset="0"/>
              </a:rPr>
              <a:t>É modificado toda vez que algo acontece no </a:t>
            </a:r>
            <a:r>
              <a:rPr lang="pt-BR" sz="1800" i="1" dirty="0">
                <a:latin typeface="Helvetica" pitchFamily="2" charset="0"/>
              </a:rPr>
              <a:t>package.json</a:t>
            </a:r>
            <a:r>
              <a:rPr lang="pt-BR" sz="1800" dirty="0">
                <a:latin typeface="Helvetica" pitchFamily="2" charset="0"/>
              </a:rPr>
              <a:t> ou na pasta </a:t>
            </a:r>
            <a:r>
              <a:rPr lang="pt-BR" sz="1800" i="1" dirty="0">
                <a:latin typeface="Helvetica" pitchFamily="2" charset="0"/>
              </a:rPr>
              <a:t>node_modules</a:t>
            </a:r>
            <a:r>
              <a:rPr lang="pt-BR" sz="1800" dirty="0">
                <a:latin typeface="Helvetica" pitchFamily="2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latin typeface="Helvetica" pitchFamily="2" charset="0"/>
              </a:rPr>
              <a:t>Garante que qualquer pessoa que instalar o pacote terá a exata mesma versão das dependências de quem instalou tais dependências.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latin typeface="Helvetica" pitchFamily="2" charset="0"/>
              </a:rPr>
              <a:t>Basicamente mantém progresso das dependências que são instaladas.</a:t>
            </a:r>
          </a:p>
        </p:txBody>
      </p:sp>
    </p:spTree>
    <p:extLst>
      <p:ext uri="{BB962C8B-B14F-4D97-AF65-F5344CB8AC3E}">
        <p14:creationId xmlns:p14="http://schemas.microsoft.com/office/powerpoint/2010/main" val="316007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1" y="440182"/>
            <a:ext cx="4487470" cy="553998"/>
          </a:xfrm>
        </p:spPr>
        <p:txBody>
          <a:bodyPr/>
          <a:lstStyle/>
          <a:p>
            <a:r>
              <a:rPr lang="pt-BR" spc="-285" dirty="0">
                <a:latin typeface="Helvetica LT Std" panose="020B0504020202020204" pitchFamily="34" charset="0"/>
              </a:rPr>
              <a:t>Arquivo </a:t>
            </a:r>
            <a:r>
              <a:rPr lang="pt-BR" i="1" spc="-285" dirty="0">
                <a:latin typeface="Helvetica LT Std" panose="020B0504020202020204" pitchFamily="34" charset="0"/>
              </a:rPr>
              <a:t>package-lock.json</a:t>
            </a:r>
            <a:endParaRPr lang="pt-BR" dirty="0">
              <a:latin typeface="Helvetica LT St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60335"/>
            <a:ext cx="3606744" cy="2209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23950"/>
            <a:ext cx="4350394" cy="348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1" y="440182"/>
            <a:ext cx="4487470" cy="553998"/>
          </a:xfrm>
        </p:spPr>
        <p:txBody>
          <a:bodyPr/>
          <a:lstStyle/>
          <a:p>
            <a:r>
              <a:rPr lang="pt-BR" spc="-285" dirty="0">
                <a:latin typeface="Helvetica LT Std" panose="020B0504020202020204" pitchFamily="34" charset="0"/>
              </a:rPr>
              <a:t>Arquivo </a:t>
            </a:r>
            <a:r>
              <a:rPr lang="pt-BR" i="1" spc="-285" dirty="0">
                <a:latin typeface="Helvetica LT Std" panose="020B0504020202020204" pitchFamily="34" charset="0"/>
              </a:rPr>
              <a:t>package-lock.json</a:t>
            </a:r>
            <a:endParaRPr lang="pt-BR" dirty="0">
              <a:latin typeface="Helvetica LT St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26010"/>
            <a:ext cx="3200400" cy="35031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276350"/>
            <a:ext cx="3505200" cy="321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1" y="440182"/>
            <a:ext cx="4487470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Exemplo de Uso</a:t>
            </a:r>
            <a:endParaRPr lang="pt-BR" dirty="0">
              <a:latin typeface="Helvetica LT Std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t="13889" r="1449" b="36697"/>
          <a:stretch/>
        </p:blipFill>
        <p:spPr>
          <a:xfrm>
            <a:off x="1066800" y="2038350"/>
            <a:ext cx="6544869" cy="2553699"/>
          </a:xfrm>
          <a:prstGeom prst="rect">
            <a:avLst/>
          </a:prstGeom>
        </p:spPr>
      </p:pic>
      <p:sp>
        <p:nvSpPr>
          <p:cNvPr id="6" name="object 3"/>
          <p:cNvSpPr txBox="1"/>
          <p:nvPr/>
        </p:nvSpPr>
        <p:spPr>
          <a:xfrm>
            <a:off x="351230" y="1118691"/>
            <a:ext cx="864037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É necessário ter um perfil cadastrado para fazer a publicação de pacotes.</a:t>
            </a:r>
            <a:endParaRPr lang="pt-BR" sz="2200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48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3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7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61950"/>
            <a:ext cx="3810000" cy="388344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 b="24999"/>
          <a:stretch/>
        </p:blipFill>
        <p:spPr>
          <a:xfrm>
            <a:off x="4343400" y="3902496"/>
            <a:ext cx="3781011" cy="838200"/>
          </a:xfrm>
          <a:prstGeom prst="rect">
            <a:avLst/>
          </a:prstGeom>
        </p:spPr>
      </p:pic>
      <p:sp>
        <p:nvSpPr>
          <p:cNvPr id="8" name="object 3"/>
          <p:cNvSpPr txBox="1"/>
          <p:nvPr/>
        </p:nvSpPr>
        <p:spPr>
          <a:xfrm>
            <a:off x="351230" y="1201842"/>
            <a:ext cx="8640370" cy="8309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Index.html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Index.js</a:t>
            </a:r>
            <a:endParaRPr lang="pt-BR" sz="2200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13131" y="440182"/>
            <a:ext cx="4487470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Criação de Arquivos</a:t>
            </a:r>
            <a:endParaRPr lang="pt-BR" dirty="0">
              <a:latin typeface="Helvetica LT Std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5"/>
          <a:srcRect l="8125" t="10283" r="31250"/>
          <a:stretch/>
        </p:blipFill>
        <p:spPr>
          <a:xfrm>
            <a:off x="303606" y="2706429"/>
            <a:ext cx="3843926" cy="187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1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8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t="14546" b="30909"/>
          <a:stretch/>
        </p:blipFill>
        <p:spPr>
          <a:xfrm>
            <a:off x="-19051" y="0"/>
            <a:ext cx="9241693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4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56"/>
            <a:ext cx="9144000" cy="513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4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install and configure hyper for Windows 10 | by Jørn André Myrland | 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23950"/>
            <a:ext cx="5734717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3131" y="440182"/>
            <a:ext cx="4487470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Outro Exemplo</a:t>
            </a:r>
            <a:endParaRPr lang="pt-BR" dirty="0">
              <a:latin typeface="Helvetica LT Std"/>
            </a:endParaRPr>
          </a:p>
        </p:txBody>
      </p:sp>
    </p:spTree>
    <p:extLst>
      <p:ext uri="{BB962C8B-B14F-4D97-AF65-F5344CB8AC3E}">
        <p14:creationId xmlns:p14="http://schemas.microsoft.com/office/powerpoint/2010/main" val="31181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3131" y="440182"/>
            <a:ext cx="4487470" cy="553998"/>
          </a:xfrm>
        </p:spPr>
        <p:txBody>
          <a:bodyPr/>
          <a:lstStyle/>
          <a:p>
            <a:r>
              <a:rPr lang="pt-BR" spc="-285" dirty="0" err="1" smtClean="0">
                <a:latin typeface="Helvetica LT Std" panose="020B0504020202020204" pitchFamily="34" charset="0"/>
              </a:rPr>
              <a:t>Hyper</a:t>
            </a:r>
            <a:r>
              <a:rPr lang="pt-BR" spc="-285" dirty="0" smtClean="0">
                <a:latin typeface="Helvetica LT Std" panose="020B0504020202020204" pitchFamily="34" charset="0"/>
              </a:rPr>
              <a:t> </a:t>
            </a:r>
            <a:r>
              <a:rPr lang="pt-BR" spc="-285" dirty="0" err="1" smtClean="0">
                <a:latin typeface="Helvetica LT Std" panose="020B0504020202020204" pitchFamily="34" charset="0"/>
              </a:rPr>
              <a:t>Custom</a:t>
            </a:r>
            <a:r>
              <a:rPr lang="pt-BR" spc="-285" dirty="0" smtClean="0">
                <a:latin typeface="Helvetica LT Std" panose="020B0504020202020204" pitchFamily="34" charset="0"/>
              </a:rPr>
              <a:t> </a:t>
            </a:r>
            <a:r>
              <a:rPr lang="pt-BR" spc="-285" dirty="0" err="1" smtClean="0">
                <a:latin typeface="Helvetica LT Std" panose="020B0504020202020204" pitchFamily="34" charset="0"/>
              </a:rPr>
              <a:t>Controls</a:t>
            </a:r>
            <a:endParaRPr lang="pt-BR" dirty="0">
              <a:latin typeface="Helvetica LT Std"/>
            </a:endParaRPr>
          </a:p>
        </p:txBody>
      </p:sp>
      <p:pic>
        <p:nvPicPr>
          <p:cNvPr id="2050" name="Picture 2" descr="https://raw.githubusercontent.com/guilhermerodz/hyper-custom-controls/master/media/resul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23950"/>
            <a:ext cx="6477000" cy="348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26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3131" y="440182"/>
            <a:ext cx="4487470" cy="553998"/>
          </a:xfrm>
        </p:spPr>
        <p:txBody>
          <a:bodyPr/>
          <a:lstStyle/>
          <a:p>
            <a:r>
              <a:rPr lang="pt-BR" spc="-285" dirty="0" err="1" smtClean="0">
                <a:latin typeface="Helvetica LT Std" panose="020B0504020202020204" pitchFamily="34" charset="0"/>
              </a:rPr>
              <a:t>Hyper</a:t>
            </a:r>
            <a:r>
              <a:rPr lang="pt-BR" spc="-285" dirty="0" smtClean="0">
                <a:latin typeface="Helvetica LT Std" panose="020B0504020202020204" pitchFamily="34" charset="0"/>
              </a:rPr>
              <a:t> </a:t>
            </a:r>
            <a:r>
              <a:rPr lang="pt-BR" spc="-285" dirty="0" err="1" smtClean="0">
                <a:latin typeface="Helvetica LT Std" panose="020B0504020202020204" pitchFamily="34" charset="0"/>
              </a:rPr>
              <a:t>Custom</a:t>
            </a:r>
            <a:r>
              <a:rPr lang="pt-BR" spc="-285" dirty="0" smtClean="0">
                <a:latin typeface="Helvetica LT Std" panose="020B0504020202020204" pitchFamily="34" charset="0"/>
              </a:rPr>
              <a:t> </a:t>
            </a:r>
            <a:r>
              <a:rPr lang="pt-BR" spc="-285" dirty="0" err="1" smtClean="0">
                <a:latin typeface="Helvetica LT Std" panose="020B0504020202020204" pitchFamily="34" charset="0"/>
              </a:rPr>
              <a:t>Controls</a:t>
            </a:r>
            <a:endParaRPr lang="pt-BR" dirty="0">
              <a:latin typeface="Helvetica LT Std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1190" t="7349" r="2382" b="17228"/>
          <a:stretch/>
        </p:blipFill>
        <p:spPr>
          <a:xfrm>
            <a:off x="1295400" y="1016018"/>
            <a:ext cx="6172200" cy="352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3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Texto 2">
            <a:extLst>
              <a:ext uri="{FF2B5EF4-FFF2-40B4-BE49-F238E27FC236}">
                <a16:creationId xmlns="" xmlns:a16="http://schemas.microsoft.com/office/drawing/2014/main" id="{B587308A-B2F9-4915-8570-788121FA45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7825" y="1047750"/>
            <a:ext cx="8388350" cy="1846659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Blip>
                <a:blip r:embed="rId3">
                  <a:extLst>
                    <a:ext uri="{96DAC541-7B7A-43D3-8B79-37D633B846F1}">
                      <asvg:svgBlip xmlns:asvg="http://schemas.microsoft.com/office/drawing/2016/SVG/main" xmlns="" r:embed="rId4"/>
                    </a:ext>
                  </a:extLst>
                </a:blip>
              </a:buBlip>
            </a:pPr>
            <a:r>
              <a:rPr lang="pt-BR" altLang="pt-BR" dirty="0">
                <a:latin typeface="Whitney"/>
                <a:cs typeface="Calibri" panose="020F0502020204030204" pitchFamily="34" charset="0"/>
              </a:rPr>
              <a:t>Maior repositório de </a:t>
            </a:r>
            <a:r>
              <a:rPr lang="pt-BR" altLang="pt-BR" dirty="0" smtClean="0">
                <a:latin typeface="Whitney"/>
                <a:cs typeface="Calibri" panose="020F0502020204030204" pitchFamily="34" charset="0"/>
              </a:rPr>
              <a:t>pacotes do </a:t>
            </a:r>
            <a:r>
              <a:rPr lang="pt-BR" altLang="pt-BR" dirty="0" smtClean="0">
                <a:latin typeface="Whitney"/>
                <a:cs typeface="Calibri" panose="020F0502020204030204" pitchFamily="34" charset="0"/>
              </a:rPr>
              <a:t>mundo;</a:t>
            </a:r>
            <a:endParaRPr lang="pt-BR" altLang="pt-BR" dirty="0">
              <a:latin typeface="Whitney"/>
              <a:cs typeface="Calibri" panose="020F0502020204030204" pitchFamily="34" charset="0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Blip>
                <a:blip r:embed="rId3">
                  <a:extLst>
                    <a:ext uri="{96DAC541-7B7A-43D3-8B79-37D633B846F1}">
                      <asvg:svgBlip xmlns:asvg="http://schemas.microsoft.com/office/drawing/2016/SVG/main" xmlns="" r:embed="rId4"/>
                    </a:ext>
                  </a:extLst>
                </a:blip>
              </a:buBlip>
            </a:pPr>
            <a:r>
              <a:rPr lang="pt-BR" altLang="pt-BR" dirty="0">
                <a:latin typeface="Whitney"/>
                <a:cs typeface="Calibri" panose="020F0502020204030204" pitchFamily="34" charset="0"/>
              </a:rPr>
              <a:t>Sempre faz a instalação da última versão disponível do </a:t>
            </a:r>
            <a:r>
              <a:rPr lang="pt-BR" altLang="pt-BR" dirty="0" smtClean="0">
                <a:latin typeface="Whitney"/>
                <a:cs typeface="Calibri" panose="020F0502020204030204" pitchFamily="34" charset="0"/>
              </a:rPr>
              <a:t>pacote, quando nenhuma versão é especificada.</a:t>
            </a:r>
            <a:endParaRPr lang="pt-BR" altLang="pt-BR" dirty="0">
              <a:latin typeface="Whitney"/>
              <a:cs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pt-BR" altLang="pt-BR" dirty="0">
              <a:latin typeface="Whitney"/>
              <a:cs typeface="Calibri" panose="020F0502020204030204" pitchFamily="34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="" xmlns:a16="http://schemas.microsoft.com/office/drawing/2014/main" id="{70424034-529D-4297-A27D-2A61AF254364}"/>
              </a:ext>
            </a:extLst>
          </p:cNvPr>
          <p:cNvSpPr txBox="1">
            <a:spLocks/>
          </p:cNvSpPr>
          <p:nvPr/>
        </p:nvSpPr>
        <p:spPr>
          <a:xfrm>
            <a:off x="312738" y="439738"/>
            <a:ext cx="6392862" cy="566822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pt-BR" kern="0" spc="-285" dirty="0">
                <a:latin typeface="Helvetica LT Std" panose="020B0504020202020204" pitchFamily="34" charset="0"/>
              </a:rPr>
              <a:t>Aspectos positivos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A7E2C151-08F9-47A9-8AC3-845386599B7D}"/>
              </a:ext>
            </a:extLst>
          </p:cNvPr>
          <p:cNvSpPr txBox="1">
            <a:spLocks/>
          </p:cNvSpPr>
          <p:nvPr/>
        </p:nvSpPr>
        <p:spPr>
          <a:xfrm>
            <a:off x="312738" y="2375127"/>
            <a:ext cx="6392862" cy="566822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pt-BR" kern="0" spc="-285" dirty="0">
                <a:latin typeface="Helvetica LT Std" panose="020B0504020202020204" pitchFamily="34" charset="0"/>
              </a:rPr>
              <a:t>Limitações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="" xmlns:a16="http://schemas.microsoft.com/office/drawing/2014/main" id="{7E948B0A-C116-4BBF-8063-7CB6691E5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2935599"/>
            <a:ext cx="838835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sz="2000" b="0" i="0">
                <a:solidFill>
                  <a:srgbClr val="07477C"/>
                </a:solidFill>
                <a:latin typeface="Calibri"/>
                <a:ea typeface="+mn-ea"/>
                <a:cs typeface="Calibri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Blip>
                <a:blip r:embed="rId5">
                  <a:extLst>
                    <a:ext uri="{96DAC541-7B7A-43D3-8B79-37D633B846F1}">
                      <asvg:svgBlip xmlns:asvg="http://schemas.microsoft.com/office/drawing/2016/SVG/main" xmlns="" r:embed="rId6"/>
                    </a:ext>
                  </a:extLst>
                </a:blip>
              </a:buBlip>
            </a:pPr>
            <a:r>
              <a:rPr lang="pt-BR" kern="0" dirty="0">
                <a:latin typeface="Whitney"/>
                <a:cs typeface="Calibri" panose="020F0502020204030204" pitchFamily="34" charset="0"/>
              </a:rPr>
              <a:t>Faz download de todas as bibliotecas s</a:t>
            </a:r>
            <a:r>
              <a:rPr lang="pt-BR" altLang="pt-BR" kern="0" dirty="0">
                <a:latin typeface="Whitney"/>
                <a:cs typeface="Calibri" panose="020F0502020204030204" pitchFamily="34" charset="0"/>
              </a:rPr>
              <a:t>empre que o </a:t>
            </a:r>
            <a:r>
              <a:rPr lang="pt-BR" altLang="pt-BR" i="1" kern="0" dirty="0" err="1">
                <a:latin typeface="Whitney"/>
                <a:cs typeface="Calibri" panose="020F0502020204030204" pitchFamily="34" charset="0"/>
              </a:rPr>
              <a:t>package.json</a:t>
            </a:r>
            <a:r>
              <a:rPr lang="pt-BR" altLang="pt-BR" kern="0" dirty="0">
                <a:latin typeface="Whitney"/>
                <a:cs typeface="Calibri" panose="020F0502020204030204" pitchFamily="34" charset="0"/>
              </a:rPr>
              <a:t> é </a:t>
            </a:r>
            <a:r>
              <a:rPr lang="pt-BR" altLang="pt-BR" kern="0" dirty="0" smtClean="0">
                <a:latin typeface="Whitney"/>
                <a:cs typeface="Calibri" panose="020F0502020204030204" pitchFamily="34" charset="0"/>
              </a:rPr>
              <a:t>atualizado;</a:t>
            </a:r>
            <a:endParaRPr lang="pt-BR" altLang="pt-BR" kern="0" dirty="0">
              <a:latin typeface="Whitney"/>
              <a:cs typeface="Calibri" panose="020F0502020204030204" pitchFamily="34" charset="0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Blip>
                <a:blip r:embed="rId5">
                  <a:extLst>
                    <a:ext uri="{96DAC541-7B7A-43D3-8B79-37D633B846F1}">
                      <asvg:svgBlip xmlns:asvg="http://schemas.microsoft.com/office/drawing/2016/SVG/main" xmlns="" r:embed="rId6"/>
                    </a:ext>
                  </a:extLst>
                </a:blip>
              </a:buBlip>
            </a:pPr>
            <a:r>
              <a:rPr lang="pt-BR" altLang="pt-BR" kern="0" dirty="0">
                <a:latin typeface="Whitney"/>
                <a:cs typeface="Calibri" panose="020F0502020204030204" pitchFamily="34" charset="0"/>
              </a:rPr>
              <a:t>Lentidão no download e instalação dos pacotes.</a:t>
            </a:r>
          </a:p>
        </p:txBody>
      </p:sp>
    </p:spTree>
    <p:extLst>
      <p:ext uri="{BB962C8B-B14F-4D97-AF65-F5344CB8AC3E}">
        <p14:creationId xmlns:p14="http://schemas.microsoft.com/office/powerpoint/2010/main" val="317688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B7A9B415-DE29-413F-A749-CCF2B95042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738" y="439738"/>
            <a:ext cx="2354262" cy="566737"/>
          </a:xfrm>
        </p:spPr>
        <p:txBody>
          <a:bodyPr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pt-BR" spc="-285" dirty="0">
                <a:latin typeface="Helvetica LT Std" panose="020B0504020202020204" pitchFamily="34" charset="0"/>
              </a:rPr>
              <a:t>Referências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9219" name="object 3">
            <a:extLst>
              <a:ext uri="{FF2B5EF4-FFF2-40B4-BE49-F238E27FC236}">
                <a16:creationId xmlns="" xmlns:a16="http://schemas.microsoft.com/office/drawing/2014/main" id="{97150758-2257-4658-841C-613221FBF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9" y="1006475"/>
            <a:ext cx="8640762" cy="353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298450" indent="-285750"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300" b="1" dirty="0">
                <a:solidFill>
                  <a:srgbClr val="07477C"/>
                </a:solidFill>
                <a:latin typeface="Helvetica LT Std"/>
              </a:rPr>
              <a:t>Dê uma chance pro </a:t>
            </a:r>
            <a:r>
              <a:rPr lang="pt-BR" sz="1300" b="1" dirty="0" err="1">
                <a:solidFill>
                  <a:srgbClr val="07477C"/>
                </a:solidFill>
                <a:latin typeface="Helvetica LT Std"/>
              </a:rPr>
              <a:t>Yarn</a:t>
            </a:r>
            <a:r>
              <a:rPr lang="pt-BR" sz="1300" b="1" dirty="0">
                <a:solidFill>
                  <a:srgbClr val="07477C"/>
                </a:solidFill>
                <a:latin typeface="Helvetica LT Std"/>
              </a:rPr>
              <a:t> e pare de sofrer com a instalação de pacotes NPM</a:t>
            </a: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. 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Disponível em: &lt;https://pmarcus93.medium.com/d%C3%AA-uma-chance-pro-yarn-e-pare-de-sofrer-com-a-instala%C3%A7%C3%A3o-de-pacotes-npm-98bd78f7c43e&gt;</a:t>
            </a: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NPM para iniciante. 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Disponível em: &lt;https://www.ufsm.br/pet/sistemas-de-</a:t>
            </a:r>
            <a:r>
              <a:rPr lang="pt-BR" altLang="pt-BR" sz="1200" dirty="0" err="1">
                <a:solidFill>
                  <a:srgbClr val="07477C"/>
                </a:solidFill>
                <a:latin typeface="Helvetica LT Std"/>
              </a:rPr>
              <a:t>informacao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/2020/03/10/</a:t>
            </a:r>
            <a:r>
              <a:rPr lang="pt-BR" altLang="pt-BR" sz="1200" dirty="0" err="1">
                <a:solidFill>
                  <a:srgbClr val="07477C"/>
                </a:solidFill>
                <a:latin typeface="Helvetica LT Std"/>
              </a:rPr>
              <a:t>npm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-para-iniciantes/&gt;</a:t>
            </a: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Saiba o que é NPM (Node Package Manager) e como instalar. 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Disponível em: &lt;https://rockcontent.com/</a:t>
            </a:r>
            <a:r>
              <a:rPr lang="pt-BR" altLang="pt-BR" sz="1200" dirty="0" err="1">
                <a:solidFill>
                  <a:srgbClr val="07477C"/>
                </a:solidFill>
                <a:latin typeface="Helvetica LT Std"/>
              </a:rPr>
              <a:t>br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/blog/</a:t>
            </a:r>
            <a:r>
              <a:rPr lang="pt-BR" altLang="pt-BR" sz="1200" dirty="0" err="1">
                <a:solidFill>
                  <a:srgbClr val="07477C"/>
                </a:solidFill>
                <a:latin typeface="Helvetica LT Std"/>
              </a:rPr>
              <a:t>npm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/&gt;</a:t>
            </a: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O que é </a:t>
            </a:r>
            <a:r>
              <a:rPr lang="pt-BR" altLang="pt-BR" sz="1300" b="1" dirty="0" err="1">
                <a:solidFill>
                  <a:srgbClr val="07477C"/>
                </a:solidFill>
                <a:latin typeface="Helvetica LT Std"/>
              </a:rPr>
              <a:t>Yarn</a:t>
            </a: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 e como funciona seu gerenciamento de pacotes. 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Disponível em: &lt;https://rockcontent.com/</a:t>
            </a:r>
            <a:r>
              <a:rPr lang="pt-BR" altLang="pt-BR" sz="1200" dirty="0" err="1">
                <a:solidFill>
                  <a:srgbClr val="07477C"/>
                </a:solidFill>
                <a:latin typeface="Helvetica LT Std"/>
              </a:rPr>
              <a:t>br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/blog/</a:t>
            </a:r>
            <a:r>
              <a:rPr lang="pt-BR" altLang="pt-BR" sz="1200" dirty="0" err="1">
                <a:solidFill>
                  <a:srgbClr val="07477C"/>
                </a:solidFill>
                <a:latin typeface="Helvetica LT Std"/>
              </a:rPr>
              <a:t>yarn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/&gt;</a:t>
            </a: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Gerenciando corretamente dependências em </a:t>
            </a:r>
            <a:r>
              <a:rPr lang="pt-BR" altLang="pt-BR" sz="1300" b="1" dirty="0" err="1">
                <a:solidFill>
                  <a:srgbClr val="07477C"/>
                </a:solidFill>
                <a:latin typeface="Helvetica LT Std"/>
              </a:rPr>
              <a:t>NodeJS</a:t>
            </a: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 - </a:t>
            </a:r>
            <a:r>
              <a:rPr lang="pt-BR" altLang="pt-BR" sz="1300" b="1" dirty="0" err="1">
                <a:solidFill>
                  <a:srgbClr val="07477C"/>
                </a:solidFill>
                <a:latin typeface="Helvetica LT Std"/>
              </a:rPr>
              <a:t>save</a:t>
            </a: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 ou </a:t>
            </a:r>
            <a:r>
              <a:rPr lang="pt-BR" altLang="pt-BR" sz="1300" b="1" dirty="0" err="1">
                <a:solidFill>
                  <a:srgbClr val="07477C"/>
                </a:solidFill>
                <a:latin typeface="Helvetica LT Std"/>
              </a:rPr>
              <a:t>save-dev</a:t>
            </a: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?. 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Disponível em: &lt;https://blog.da2k.com.br/2015/03/03/gerenciando-corretamente-dependencias-em-nodejs-save-ou-save-dev-1/&gt;</a:t>
            </a: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O Que É </a:t>
            </a:r>
            <a:r>
              <a:rPr lang="pt-BR" altLang="pt-BR" sz="1300" b="1" dirty="0" err="1">
                <a:solidFill>
                  <a:srgbClr val="07477C"/>
                </a:solidFill>
                <a:latin typeface="Helvetica LT Std"/>
              </a:rPr>
              <a:t>npm</a:t>
            </a: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? Introdução Básica para Iniciantes. 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Disponível em: &lt;https://www.hostinger.com.br/tutoriais/o-que-e-</a:t>
            </a:r>
            <a:r>
              <a:rPr lang="pt-BR" altLang="pt-BR" sz="1200" dirty="0" err="1">
                <a:solidFill>
                  <a:srgbClr val="07477C"/>
                </a:solidFill>
                <a:latin typeface="Helvetica LT Std"/>
              </a:rPr>
              <a:t>npm</a:t>
            </a:r>
            <a:r>
              <a:rPr lang="pt-BR" altLang="pt-BR" sz="1200" dirty="0">
                <a:solidFill>
                  <a:srgbClr val="07477C"/>
                </a:solidFill>
                <a:latin typeface="Helvetica LT Std"/>
              </a:rPr>
              <a:t>&gt;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sz="1300" b="1" dirty="0">
                <a:solidFill>
                  <a:srgbClr val="07477C"/>
                </a:solidFill>
                <a:latin typeface="Helvetica LT Std"/>
              </a:rPr>
              <a:t>NPM Docs. </a:t>
            </a:r>
            <a:r>
              <a:rPr lang="pt-BR" sz="1200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&lt;https://docs.npmjs.com&gt;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300" b="1" dirty="0">
                <a:solidFill>
                  <a:srgbClr val="07477C"/>
                </a:solidFill>
                <a:latin typeface="Helvetica LT Std"/>
              </a:rPr>
              <a:t>NPM Docs. </a:t>
            </a:r>
            <a:r>
              <a:rPr lang="pt-BR" sz="13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Node.js.</a:t>
            </a:r>
            <a:r>
              <a:rPr lang="pt-BR" sz="1200" dirty="0">
                <a:solidFill>
                  <a:srgbClr val="07477C"/>
                </a:solidFill>
                <a:latin typeface="Helvetica LT Std" panose="020B0504020202020204" pitchFamily="34" charset="0"/>
              </a:rPr>
              <a:t> Disponível em: &lt;https://pt.wikipedia.org/wiki/Node.js&gt;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3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NPM (software). </a:t>
            </a:r>
            <a:r>
              <a:rPr lang="pt-BR" sz="1200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&lt;https://pt.wikipedia.org/wiki/</a:t>
            </a:r>
            <a:r>
              <a:rPr lang="pt-BR" sz="12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Npm</a:t>
            </a:r>
            <a:r>
              <a:rPr lang="pt-BR" sz="1200" dirty="0">
                <a:solidFill>
                  <a:srgbClr val="07477C"/>
                </a:solidFill>
                <a:latin typeface="Helvetica LT Std" panose="020B0504020202020204" pitchFamily="34" charset="0"/>
              </a:rPr>
              <a:t>_(software)&gt;</a:t>
            </a:r>
          </a:p>
        </p:txBody>
      </p:sp>
    </p:spTree>
    <p:extLst>
      <p:ext uri="{BB962C8B-B14F-4D97-AF65-F5344CB8AC3E}">
        <p14:creationId xmlns:p14="http://schemas.microsoft.com/office/powerpoint/2010/main" val="136311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758</TotalTime>
  <Words>742</Words>
  <Application>Microsoft Office PowerPoint</Application>
  <PresentationFormat>On-screen Show (16:9)</PresentationFormat>
  <Paragraphs>75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Helvetica</vt:lpstr>
      <vt:lpstr>Helvetica LT Std</vt:lpstr>
      <vt:lpstr>Roboto</vt:lpstr>
      <vt:lpstr>Whitney</vt:lpstr>
      <vt:lpstr>Office Theme</vt:lpstr>
      <vt:lpstr>Office Theme</vt:lpstr>
      <vt:lpstr>PowerPoint Presentation</vt:lpstr>
      <vt:lpstr>Sumário</vt:lpstr>
      <vt:lpstr>PowerPoint Presentation</vt:lpstr>
      <vt:lpstr>Aplicação</vt:lpstr>
      <vt:lpstr>Comandos</vt:lpstr>
      <vt:lpstr>Arquivo package.json</vt:lpstr>
      <vt:lpstr>Arquivo package-lock.json</vt:lpstr>
      <vt:lpstr>Arquivo package-lock.json</vt:lpstr>
      <vt:lpstr>Arquivo package-lock.json</vt:lpstr>
      <vt:lpstr>Exemplo de Uso</vt:lpstr>
      <vt:lpstr>PowerPoint Presentation</vt:lpstr>
      <vt:lpstr>Criação de Arquivos</vt:lpstr>
      <vt:lpstr>PowerPoint Presentation</vt:lpstr>
      <vt:lpstr>PowerPoint Presentation</vt:lpstr>
      <vt:lpstr>PowerPoint Presentation</vt:lpstr>
      <vt:lpstr>Outro Exemplo</vt:lpstr>
      <vt:lpstr>Hyper Custom Controls</vt:lpstr>
      <vt:lpstr>Hyper Custom Controls</vt:lpstr>
      <vt:lpstr>PowerPoint Presentation</vt:lpstr>
      <vt:lpstr>Referências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 Unidade 1 – Conceitos básicos de Ciência da Computação</dc:title>
  <dc:creator>Paulo Henrique</dc:creator>
  <cp:lastModifiedBy>Gustavo Stahl Müller</cp:lastModifiedBy>
  <cp:revision>292</cp:revision>
  <dcterms:created xsi:type="dcterms:W3CDTF">2019-04-07T19:13:44Z</dcterms:created>
  <dcterms:modified xsi:type="dcterms:W3CDTF">2021-05-06T23:38:24Z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